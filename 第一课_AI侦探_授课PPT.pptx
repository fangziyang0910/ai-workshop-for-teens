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0e0b4a47-a27d-7869-d7d2-85cba95f4ef5}">
          <p14:sldIdLst>
            <p14:sldId id="256"/>
            <p14:sldId id="257"/>
            <p14:sldId id="258"/>
            <p14:sldId id="259"/>
            <p14:sldId id="260"/>
          </p14:sldIdLst>
        </p14:section>
        <p14:section name="起始调查" id="{c28f3ce9-a176-85dd-85c6-ec38de614699}">
          <p14:sldIdLst>
            <p14:sldId id="261"/>
            <p14:sldId id="262"/>
          </p14:sldIdLst>
        </p14:section>
        <p14:section name="案件 01 · AI 侦探卡牌" id="{4d2f3f27-19fc-509b-13fa-def14edf7881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案件 02 · 什么是 AI" id="{cfccdcdf-9e85-51fe-4b72-1c1f21ec0482}">
          <p14:sldIdLst>
            <p14:sldId id="269"/>
            <p14:sldId id="270"/>
            <p14:sldId id="271"/>
            <p14:sldId id="272"/>
          </p14:sldIdLst>
        </p14:section>
        <p14:section name="案件 03 · 从聪明到系统" id="{4635d802-277d-6f20-d246-593626736c5b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课间休息" id="{0fbf0ce6-a051-e10a-9712-3cd962c28f47}">
          <p14:sldIdLst>
            <p14:sldId id="279"/>
          </p14:sldIdLst>
        </p14:section>
        <p14:section name="案件 04 · AI 真的懂我吗" id="{eeb54116-f4fb-0cb7-ac71-144fe0d2a016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案件 05 · 真的需要 AI 吗" id="{32c92acc-6826-10bd-9322-3d4ba63ce85b}">
          <p14:sldIdLst>
            <p14:sldId id="286"/>
            <p14:sldId id="287"/>
            <p14:sldId id="288"/>
            <p14:sldId id="289"/>
            <p14:sldId id="290"/>
          </p14:sldIdLst>
        </p14:section>
        <p14:section name="案件 06 · AI 的回答可信吗" id="{0ceb462c-6f93-ab58-5159-a0ff576dc6e3}">
          <p14:sldIdLst>
            <p14:sldId id="291"/>
            <p14:sldId id="292"/>
            <p14:sldId id="293"/>
            <p14:sldId id="294"/>
            <p14:sldId id="295"/>
          </p14:sldIdLst>
        </p14:section>
        <p14:section name="离场与预告" id="{0266511e-3a9e-f512-6e38-035e8ac4d739}">
          <p14:sldIdLst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【开课前】调试投影、网络与扬声器，提前打开 micro:bit 官方第一课页面与《What is AI?》视频。各组信封按编号放好：A3 分类底板、16 张卡牌、AI 系统解剖卡、拟人化语言练习纸；每人一份《AI 起始调查》和《离场卡》。
本课共 120 分钟，不要求编程、不使用 micro:bit，学生全程不登录任何在线 AI 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建立一条长期课程规则：未经老师明确要求，不向任何 AI 系统输入真实姓名、电话、住址、账号密码或其他隐私信息。第一课不展开隐私伦理，但从第一天开始执行。
小组角色可长期固定。需要纸质材料时，只让每组的“材料与计时员”统一领取和归还，避免全班同时起身。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第一页不出现 AI 定义，也不展示 ChatGPT。
给学生约半分钟独立思考，同桌交流一分钟，再请几位同学回答。可能出现：短视频推荐、人脸解锁、地图导航、语音助手、智能音箱、扫地机器人、自动门、智能空调……
不要急于判断对错，把典型回答写在黑板上。出现“自动门”“感应灯”“定时闹钟”时，翻到下一页追问。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追问：“它会自动工作，所以它一定是 AI 吗？”班里通常会出现分歧——有人认为“会自己动就是智能”，有人说“它只是按照程序运行”。
不必当场给结论：“很好。你们已经碰到了今天最重要的问题。一个东西会自动工作，和它使用了人工智能，是不是同一件事？今天我们就当一次 AI 侦探，尝试找出判断的证据。”
左侧示例仅作提示，可替换为本班学生实际说出的例子；此时不给任何分类。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快速介绍今天的六个“案件”，不展开内容。强调今天不是来背定义，而是学会问问题、找证据。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发放《AI 起始调查》，学生独立作答约 4 分钟。
教师参考判断（暂不公布）：1 不同意；2 同意；3 不同意；4 不同意；5 同意；6 同意；7 不同意；8 属于自我评价，无标准答案。
此调查作为整套课程前测，建议收回保存，第十课后再做一次前后对比。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只选第 1、4、7 题做快速举手统计，可把人数写在黑板上。不要逐题公布答案：
“现在班里有不少不同意见。先把这张纸留着，我们今天会不断回来回答这些问题。”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进入第一个小组活动：AI / 非 AI / 无法确定分类。各组“材料与计时员”领取活动信封。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巡视时不要逐组纠正，而是不断追问（见下一页）。提前留意两三个意见不同的小组，活动结束后集中讨论最有争议的卡牌，不让每组逐一汇报。
对信息不足的案例，能说出“仅凭这些信息无法判断”反而是更成熟的答案。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卡牌设计意图（勿向学生公布分组）：
· 1、2、3、4、12：帮助认识“自动运行不等于人工智能”；
· 5～11：较典型的现代 AI 应用；
· 13～16：故意保留信息不足——真实产品是否使用 AI，不能只看“智能”两个字。
信息学基础较好的学生可从程序规则、传感器输入和算法机制解释判断。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巡视时反复使用这四个追问，不直接说“对/错”。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先让判断不同的两个小组分别说明理由，再展示这一页。
“智能空调”可能只是按照固定温度阈值控制开关，也可能使用历史数据、人员状态和环境数据进行预测控制。卡牌信息不足时，放在“无法确定”完全合理。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这是第一课需要学生真正记住的第一个结论。可请全班读一遍。
“我们不能仅仅通过一个产品表现得聪不聪明，或者名字里有没有‘智能’两个字，判断它是不是人工智能。”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学生已经产生了困惑，此时再进入讲授。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 micro:bit Educational Foundation 配套视频《What is AI?》。若网络不稳定，使用提前下载的本地版本。
播放前只给一个观察任务：“不用记定义。你只需要注意：视频里提到了 AI 可以帮助计算机完成哪些类型的任务？”
视频结束后先让学生说，再翻到下一页整理。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把学生的回答整理成四类容易理解的能力：
· 识别——回答“这是什么”；
· 预测或判断——回答“这可能属于哪一类”“接下来可能发生什么”；
· 推荐——回答“你可能喜欢什么”；
· 生成——根据输入产生新的文字、图片、声音等。
此处不引入神经网络、Transformer、参数规模等术语。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给出一个适合中学生理解的说明，紧接着强调：“今天不是来背这个定义的。真正重要的是，以后碰到一个号称 AI 的系统，我们会知道应该问什么问题。”——自然过渡到下一环节。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用“手机人脸解锁”建立整节课最重要的分析框架：输入 → 处理 → 输出，旁边永远站着“人”。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逐个提问，不要一次全部揭示（可在 PowerPoint 中为三个问题设置逐个出现的动画）。
学生可能回答“看看是不是我”“判断是不是机主”。追问“手机真正拿到了你的什么？”——若回答“拿到了我的脸”，继续问：“计算机能直接拿到一个‘人’吗？摄像头真正得到的是什么？”逐渐引导到“图像数据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在黑板上写出：
输入：摄像头拍到的人脸图像
↓
处理：系统利用人脸识别模型分析图像中的特征
↓
输出：匹配 / 不匹配
然后在结构旁边单独写一个大字：人。追问：“谁决定用什么数据？谁决定怎样设计这个系统？谁决定识别成功以后手机应该做什么？如果识别错误，谁来处理？”
让学生意识到：AI 系统并不是一个脱离人的独立存在。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快速用“垃圾邮件过滤”再示范一次：输入是邮件内容和相关信息；处理是模型分析其中的模式；输出是“垃圾邮件”或“正常邮件”；人参与数据准备、目标设定、规则设计和误判处理。
重点是让学生从“它好像很聪明”转向“这个系统到底收到了什么、处理了什么、输出了什么”。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每组抽取一个系统，完成《AI 系统解剖卡》。巡视重点关注学生对“输入”和“处理”的理解（提示见下一页）。
完成后不需要每组展示，选一两个有代表性的例子投影或口头快速讨论即可。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错误一：把“输入”写成“用户”“我”或者“手机”。不要直接指出错误，追问：“如果让你把这个输入保存成一个文件，它可能是什么？图像？文字？声音？数字？位置？点击记录？”——帮助学生意识到 AI 系统真正处理的是数据。
常见错误二：把“处理”写成“AI 思考了一下”。追问：“如果不用‘思考’这个词，你能不能更具体地说它在做什么？”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分钟休息是教学设计的一部分。教师收回卡牌和分类底板，准备拟人化语言练习纸和后面的情境卡。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这一部分借鉴 micro:bit 官方 Lesson 1 中的 Anthropomorphism（拟人化）教学思路。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不要直接告诉学生“这样说是错的”。日常交流中人们自然会说“AI 看见了”“AI 听懂了”“AI 知道”。真正需要理解的是：当我们分析技术机制时，这些词往往把具体过程隐藏掉了。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展示改写句后问：“哪一句让我们更容易看出这个系统到底做了什么？”引导学生发现：改写句说清了输入（浏览、点击记录）和处理（推测）。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学生在《拟人化语言练习》上完成四道改写题。提示：说清楚系统收到了什么数据、做了什么处理、输出了什么。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学生的改写不必与参考完全一致，只要说清楚了数据和处理过程即可。可先请一两位同学读自己的版本，再展示参考。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不要形成“以后不许说 AI 看见、听见、理解”这样的规则。总结：“日常表达可以简化，但当我们真正分析 AI 时，要学会把这些词拆开，继续问：输入是什么？系统做了什么？输出是什么？”——把拟人化活动与前面的框架连接起来。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“我们已经看到 AI 可以完成很多事情。但是工程师还有一个更重要的问题：一件事情能用 AI，是不是就一定应该用 AI？”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每组讨论四个情境，填写《这里真的需要 AI 吗？》。先不公布参考思路。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发给完成较快的小组。挑战卡 B 适合信息学基础较好的学生：不追求全班统一答案，重点是学生能否明确自己的定义和依据。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情境 1：普通定时器已经足够。
情境 2：光照传感器加固定阈值判断即可，不一定需要 AI。
情境 3：讨论为什么“写一套固定规则”会越来越困难，而基于大量图片训练分类模型可能更合适。
情境 4：为后面 micro:bit CreateAI 埋伏笔；学生此时不用知道 CreateAI 是什么，只需思考这种任务是否适合从许多动作样本中学习规律。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“如果一个简单、可靠、成本更低的规则已经能很好地解决问题，就没有必要为了‘智能’而强行加入 AI。”
这句话在最后的 AI 智能伙伴项目设计时还会再次使用。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本环节不教提示词，也不安排全班登录生成式 AI，教师只做一次投屏实验。若当天无法访问生成式 AI，展示预先保存的 AI 回答截图和官方页面。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现场向一个生成式 AI 提问，记录 AI 的回答，然后立即打开 micro:bit 官方课程页面核实：
https://microbit.org/teach/lessons/developing-ai-literacy-with-the-microbit/
（2026-10-15 核对：官方页面写明共 8 节课，“The micro:bit is used for the first time in lesson 3.”）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 AI 恰好答对，不要只说“AI 答对了”，继续问：“既然它答对了，我们为什么还要打开官网？”学生可能说：AI 也会出错；官网更可靠；我们不知道 AI 的答案从哪里来。
如果 AI 答错了，直接讨论错误本身。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在黑板上写下这三句话。尤其是涉及学习、健康、安全、历史事实或重要决定时，不能只根据语言是否流畅、语气是否肯定来判断真假。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现场再快速问 AI：“世界上跑得最快的动物是什么？”如果 AI 直接给出“游隼”或其他答案，追问：“这个问题少了什么条件？”先让学生说，再显示下方条件卡。
到这里停止，不继续讲如何写更高级的提示词——提示词与生成式 AI 放到后面的专门课程。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独立完成，不允许小组讨论。
参考方向：
1. 能表达“计算机完成一些需要识别、判断、生成等能力的任务”，且没有简单写成“人工智能就是机器人”即可。
2. 理想答案为 C：这个功能完全可以通过传感器和预先设定的规则完成，自动运行本身不能证明它使用了 AI。
3. 通过教材、权威网站或其他可靠资料查证，而不是因为 AI 语气肯定就相信。
4. 写出合理的输入、处理、输出。
课后快速统计三个比例：能说明自动化≠AI、能区分输入和输出、知道事实性输出要验证。若第 2 题仍有大量学生选“一定使用 AI”，第二课开场先用 5 分钟重新讨论。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重新展示开场问题：“如果 AI 消失一天，你的一天会有什么变化？”
“两个小时前，我们可能主要通过一个东西看起来聪不聪明来判断它是不是 AI。现在我们已经开始学会问：它得到了什么输入？进行了什么处理？产生了什么输出？人在里面做了什么？”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重新展示“输入 → 处理 → 输出”，并把“处理”圈出来。提出新问题后不要立即回答，直接翻到最后一页。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最后一页只写下一课题目，留下悬念。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wj/.tmp/claude-1018/-home-ywj-dbh/6428f095-a19c-480e-a687-fa49ba8cc56d/scratchpad/build/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336792"/>
            <a:ext cx="1325880" cy="317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AI 侦探 · 人工智能到底是什么？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wj/.tmp/claude-1018/-home-ywj-dbh/6428f095-a19c-480e-a687-fa49ba8cc56d/scratchpad/build/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336792"/>
            <a:ext cx="1325880" cy="317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AI 侦探 · 人工智能到底是什么？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wj/.tmp/claude-1018/-home-ywj-dbh/6428f095-a19c-480e-a687-fa49ba8cc56d/scratchpad/buil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336792"/>
            <a:ext cx="1325880" cy="317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C"/>
                </a:solidFill>
              </a:rPr>
              <a:t>AI 侦探 · 人工智能到底是什么？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46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wj/.tmp/claude-1018/-home-ywj-dbh/6428f095-a19c-480e-a687-fa49ba8cc56d/scratchpad/buil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336792"/>
            <a:ext cx="1325880" cy="317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EA"/>
                </a:solidFill>
              </a:rPr>
              <a:t>AI 侦探 · 人工智能到底是什么？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bit.org/teach/classroom-resources/video-what-is-ai/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bit.org/teach/lessons/developing-ai-literacy-with-the-microbit/" TargetMode="External"/><Relationship Id="rId1" Type="http://schemas.openxmlformats.org/officeDocument/2006/relationships/image" Target="../media/image-38-1.png"/><Relationship Id="rId3" Type="http://schemas.openxmlformats.org/officeDocument/2006/relationships/image" Target="../media/image-3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wj/.tmp/claude-1018/-home-ywj-dbh/6428f095-a19c-480e-a687-fa49ba8cc56d/scratchpad/buil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651760" cy="63444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人工智能创想实践 · 第一课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AI 侦探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CE7F5"/>
                </a:solidFill>
              </a:rPr>
              <a:t>人工智能到底是什么？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6E8"/>
                </a:solidFill>
              </a:rPr>
              <a:t>佛山市南海区石门实验中学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6E8"/>
                </a:solidFill>
              </a:rPr>
              <a:t>主讲人：____________　　华南理工大学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001000" y="1234440"/>
            <a:ext cx="3291840" cy="3291840"/>
          </a:xfrm>
          <a:prstGeom prst="ellipse">
            <a:avLst/>
          </a:prstGeom>
          <a:solidFill>
            <a:schemeClr val="accent1"/>
          </a:solidFill>
          <a:ln w="1270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011680"/>
            <a:ext cx="1645920" cy="1645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744200" y="4069080"/>
            <a:ext cx="914400" cy="914400"/>
          </a:xfrm>
          <a:prstGeom prst="line">
            <a:avLst/>
          </a:prstGeom>
          <a:noFill/>
          <a:ln w="2794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037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846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开课前 · 侦探守则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成为 AI 侦探之前，先记住两件事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2300630"/>
            <a:ext cx="336499" cy="33649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守则一：保护隐私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未经老师明确要求，不向任何 AI 系统输入：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68680" y="36118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真实姓名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246120" y="36118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2461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电话号码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68680" y="42976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868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家庭住址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246120" y="42976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24612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账号密码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68680" y="4983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" y="4983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其他隐私信息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63640" y="1828800"/>
            <a:ext cx="5379415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658368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190" y="2300630"/>
            <a:ext cx="336499" cy="336499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49808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守则二：4 人小组，各有分工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583680" y="31181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5836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223760" y="30632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协调员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8823960" y="3063240"/>
            <a:ext cx="2636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组织讨论，让每个人都发言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583680" y="38313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5836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223760" y="37764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记录员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8823960" y="3776472"/>
            <a:ext cx="2636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写下小组的判断和理由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6583680" y="45445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65836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7223760" y="44897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材料与计时员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8823960" y="4489704"/>
            <a:ext cx="2636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领取、归还信封，提醒时间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6583680" y="5257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583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7223760" y="52029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发言人</a:t>
            </a:r>
            <a:endParaRPr lang="en-US" sz="1700" dirty="0"/>
          </a:p>
        </p:txBody>
      </p:sp>
      <p:sp>
        <p:nvSpPr>
          <p:cNvPr id="40" name="Text 35"/>
          <p:cNvSpPr txBox="1"/>
          <p:nvPr/>
        </p:nvSpPr>
        <p:spPr>
          <a:xfrm>
            <a:off x="8823960" y="5202936"/>
            <a:ext cx="2636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代表小组向全班分享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开场问题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DCE7F5"/>
                </a:solidFill>
              </a:rPr>
              <a:t>如果从明天早上开始，世界上的 AI 全部消失 24 小时——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你的一天会发生什么变化？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2926080" cy="777240"/>
          </a:xfrm>
          <a:prstGeom prst="roundRect">
            <a:avLst>
              <a:gd name="adj" fmla="val 49412"/>
            </a:avLst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53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4343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独立思考 30 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538728" y="4727448"/>
            <a:ext cx="37490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977640" y="4343400"/>
            <a:ext cx="2926080" cy="777240"/>
          </a:xfrm>
          <a:prstGeom prst="roundRect">
            <a:avLst>
              <a:gd name="adj" fmla="val 49412"/>
            </a:avLst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45537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4343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同桌交流 1 分钟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67728" y="4727448"/>
            <a:ext cx="37490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7406640" y="4343400"/>
            <a:ext cx="2926080" cy="777240"/>
          </a:xfrm>
          <a:prstGeom prst="roundRect">
            <a:avLst>
              <a:gd name="adj" fmla="val 49412"/>
            </a:avLst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5371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83880" y="4343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举手分享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259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导入 · 制造疑问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它会自动工作，所以它一定是 AI 吗？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同学们提到的……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423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短视频推荐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154680" y="2423160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54680" y="2423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人脸解锁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172968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172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地图导航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54680" y="3172968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54680" y="3172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语音助手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922776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9227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扫地机器人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154680" y="3922776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154680" y="39227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自动门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4672584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6725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感应灯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154680" y="4672584"/>
            <a:ext cx="2377440" cy="5669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154680" y="46725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定时闹钟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400800" y="1874520"/>
            <a:ext cx="5242255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583680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会自动工作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331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= ?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使用了人工智能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749040"/>
            <a:ext cx="4693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这两件事，是不是同一件事？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400800" y="5349240"/>
            <a:ext cx="5242255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48640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269480" y="5349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今天：当一次 AI 侦探，找出判断的证据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970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93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今日路线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今天的侦查路线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234440" y="3223260"/>
            <a:ext cx="9722815" cy="0"/>
          </a:xfrm>
          <a:prstGeom prst="line">
            <a:avLst/>
          </a:prstGeom>
          <a:noFill/>
          <a:ln w="50800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0100" y="2788920"/>
            <a:ext cx="868680" cy="86868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调查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起始调查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89074" y="2788920"/>
            <a:ext cx="868680" cy="86868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89074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937614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侦探卡牌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78047" y="2788920"/>
            <a:ext cx="868680" cy="86868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78047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326587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什么是 AI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67021" y="2788920"/>
            <a:ext cx="868680" cy="86868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67021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715561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从聪明到系统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55994" y="2788920"/>
            <a:ext cx="868680" cy="86868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994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104534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真的懂我吗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44968" y="2788920"/>
            <a:ext cx="868680" cy="86868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44968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493508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真的需要 AI 吗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133942" y="2788920"/>
            <a:ext cx="868680" cy="86868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33942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06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8882482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可信吗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522915" y="2788920"/>
            <a:ext cx="868680" cy="86868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522915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离场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271455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离场卡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547208" y="201168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8" y="2121408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976976" y="2011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休息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095848" y="2468880"/>
            <a:ext cx="0" cy="3200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35" name="Shape 31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02936"/>
            <a:ext cx="429768" cy="42976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508760" y="49834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每破一个案件，我们就会得到一条“侦探结论”。最后用离场卡检验：你的想法变了吗？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815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0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侦查之前 · 起始调查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406075" y="365760"/>
            <a:ext cx="12369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523" y="4663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835843" y="365760"/>
            <a:ext cx="779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分钟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起始调查：写下你现在的想法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48640" y="1755648"/>
            <a:ext cx="12649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48640" y="1755648"/>
            <a:ext cx="126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不是考试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996440" y="1755648"/>
            <a:ext cx="10744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996440" y="1755648"/>
            <a:ext cx="1074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不计分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253740" y="1755648"/>
            <a:ext cx="25984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253740" y="1755648"/>
            <a:ext cx="2598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“不确定”不是错误答案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799832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陈述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同意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不同意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不确定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只要一个机器能够自动工作，它就是人工智能。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现在很多人工智能会从大量数据中寻找规律。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计算器能快速完成复杂计算，所以它一定属于人工智能。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聊天机器人说“我很高兴帮助你”，说明它真的产生了高兴这种情绪。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回答得非常具体、语气非常肯定时，答案仍可能是错误的。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使用 AI 的系统背后仍然有人的设计和选择。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一个任务只要能使用 AI，使用 AI 就一定比普通程序更好。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我能够解释一个 AI 系统的输入和输出分别是什么。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□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8158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0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侦查之前 · 起始调查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快速举手：你选了什么？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15258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第 1 题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只要一个机器能够自动工作，它就是人工智能。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同意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857553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57553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不同意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92146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92146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不确定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38218" y="1828800"/>
            <a:ext cx="3515258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4612538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1253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389778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第 4 题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聊天机器人说“我很高兴帮助你”，说明它真的产生了高兴这种情绪。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612538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12538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同意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647131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47131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不同意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681724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81724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不确定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27797" y="1828800"/>
            <a:ext cx="3515258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9" name="Shape 26"/>
          <p:cNvSpPr/>
          <p:nvPr/>
        </p:nvSpPr>
        <p:spPr>
          <a:xfrm>
            <a:off x="8402117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402117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9179357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第 7 题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402117" y="29260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一个任务只要能使用 AI，使用 AI 就一定比普通程序更好。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402117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02117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同意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436710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436710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不同意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471302" y="4343400"/>
            <a:ext cx="897433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471302" y="4343400"/>
            <a:ext cx="897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不确定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68680" y="54864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先把调查纸留着——今天我们会不断回来检验自己最开始的判断。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案件 01</a:t>
            </a:r>
            <a:endParaRPr lang="en-US" sz="20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 侦探卡牌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7F5"/>
                </a:solidFill>
              </a:rPr>
              <a:t>使用了 AI？没有使用 AI？还是仅凭这些信息无法确定？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16 分钟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555480" y="868680"/>
            <a:ext cx="1645920" cy="1645920"/>
          </a:xfrm>
          <a:prstGeom prst="ellipse">
            <a:avLst/>
          </a:prstGeom>
          <a:solidFill>
            <a:schemeClr val="bg1">
              <a:alpha val="8000"/>
            </a:schemeClr>
          </a:solidFill>
          <a:ln w="762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27080" y="2286000"/>
            <a:ext cx="502920" cy="502920"/>
          </a:xfrm>
          <a:prstGeom prst="line">
            <a:avLst/>
          </a:prstGeom>
          <a:noFill/>
          <a:ln w="1524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12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01 · AI 侦探卡牌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 分钟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任务：把 16 张卡牌放进三个区域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accent1">
              <a:alpha val="12000"/>
            </a:schemeClr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822960" y="2057400"/>
            <a:ext cx="2966618" cy="594360"/>
          </a:xfrm>
          <a:prstGeom prst="roundRect">
            <a:avLst>
              <a:gd name="adj" fmla="val 49231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205740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使用了 AI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960120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903273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46426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38218" y="182880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accent5">
              <a:alpha val="12000"/>
            </a:schemeClr>
          </a:solidFill>
          <a:ln w="25400">
            <a:solidFill>
              <a:schemeClr val="accent5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612538" y="2057400"/>
            <a:ext cx="2966618" cy="594360"/>
          </a:xfrm>
          <a:prstGeom prst="roundRect">
            <a:avLst>
              <a:gd name="adj" fmla="val 49231"/>
            </a:avLst>
          </a:prstGeom>
          <a:solidFill>
            <a:schemeClr val="accent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12538" y="205740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没有使用 AI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749698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92851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36004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27797" y="1828800"/>
            <a:ext cx="3515258" cy="2148840"/>
          </a:xfrm>
          <a:prstGeom prst="roundRect">
            <a:avLst>
              <a:gd name="adj" fmla="val 5106"/>
            </a:avLst>
          </a:prstGeom>
          <a:solidFill>
            <a:schemeClr val="accent2">
              <a:alpha val="12000"/>
            </a:schemeClr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8402117" y="2057400"/>
            <a:ext cx="2966618" cy="594360"/>
          </a:xfrm>
          <a:prstGeom prst="roundRect">
            <a:avLst>
              <a:gd name="adj" fmla="val 49231"/>
            </a:avLst>
          </a:prstGeom>
          <a:solidFill>
            <a:schemeClr val="accent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02117" y="205740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仅凭这些信息无法确定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8539277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482430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425582" y="2926080"/>
            <a:ext cx="805993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48640" y="443484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620006"/>
            <a:ext cx="315468" cy="3154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17320" y="43434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材料与计时员领取信封，摊开 A3 分类底板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4338218" y="443484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384" y="4620006"/>
            <a:ext cx="315468" cy="31546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206898" y="43434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一张一张讨论：先说出证据，再放卡牌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8127797" y="4434840"/>
            <a:ext cx="685800" cy="6858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2963" y="4620006"/>
            <a:ext cx="315468" cy="31546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96477" y="434340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意见不同？把双方的理由都记下来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548640" y="5440680"/>
            <a:ext cx="11094415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68680" y="544068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不是每张卡都有唯一答案。能说清“为什么”，比放对位置更重要。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12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01 · AI 侦探卡牌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16 张侦探卡牌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61288" y="1892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普通墙壁开关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13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人按下以后电灯亮起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67964" y="1783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5124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0512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980612" y="1892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电子闹钟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50844" y="2313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每天早上 7:00 自动响铃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87288" y="1783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24448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2444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799936" y="1892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计算器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370168" y="2313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输入 368×27，立即得到答案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06611" y="1783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43771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43771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619259" y="1892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感应灯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189491" y="2313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红外传感器检测到有人就开灯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2926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58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161288" y="3035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手机人脸解锁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3456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摄像头拍人脸，判断是不是机主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367964" y="2926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505124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05124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980612" y="3035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垃圾邮件过滤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3550844" y="3456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判断收到的邮件是不是垃圾邮件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187288" y="2926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324448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32444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799936" y="3035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音乐 App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6370168" y="3456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根据收听记录推荐可能喜欢的歌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9006611" y="2926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143771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143771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619259" y="3035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语音输入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9189491" y="3456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把你说的话转换成文字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48640" y="4069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8580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85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1161288" y="4178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图片识别软件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731520" y="4599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判断照片里是猫还是狗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3367964" y="4069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3505124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3505124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3980612" y="4178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生成式 AI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3550844" y="4599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根据一句话生成一张图片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187288" y="4069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324448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632444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6799936" y="4178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聊天机器人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6370168" y="4599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根据问题生成自然语言回答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9006611" y="4069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9143771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143771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9619259" y="4178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自动浇水装置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9189491" y="4599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每隔 30 秒自动浇一次水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548640" y="5212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685800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6858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sp>
        <p:nvSpPr>
          <p:cNvPr id="69" name="Text 66"/>
          <p:cNvSpPr txBox="1"/>
          <p:nvPr/>
        </p:nvSpPr>
        <p:spPr>
          <a:xfrm>
            <a:off x="1161288" y="5321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“智能空调”</a:t>
            </a:r>
            <a:endParaRPr lang="en-US" sz="1600" dirty="0"/>
          </a:p>
        </p:txBody>
      </p:sp>
      <p:sp>
        <p:nvSpPr>
          <p:cNvPr id="70" name="Text 67"/>
          <p:cNvSpPr txBox="1"/>
          <p:nvPr/>
        </p:nvSpPr>
        <p:spPr>
          <a:xfrm>
            <a:off x="731520" y="5742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根据室内情况自动调节温度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3367964" y="5212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3505124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3505124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14</a:t>
            </a:r>
            <a:endParaRPr lang="en-US" sz="1300" dirty="0"/>
          </a:p>
        </p:txBody>
      </p:sp>
      <p:sp>
        <p:nvSpPr>
          <p:cNvPr id="74" name="Text 71"/>
          <p:cNvSpPr txBox="1"/>
          <p:nvPr/>
        </p:nvSpPr>
        <p:spPr>
          <a:xfrm>
            <a:off x="3980612" y="5321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“智能交通灯”</a:t>
            </a:r>
            <a:endParaRPr lang="en-US" sz="1600" dirty="0"/>
          </a:p>
        </p:txBody>
      </p:sp>
      <p:sp>
        <p:nvSpPr>
          <p:cNvPr id="75" name="Text 72"/>
          <p:cNvSpPr txBox="1"/>
          <p:nvPr/>
        </p:nvSpPr>
        <p:spPr>
          <a:xfrm>
            <a:off x="3550844" y="5742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根据道路情况改变红绿灯时间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6187288" y="5212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6324448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6324448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15</a:t>
            </a:r>
            <a:endParaRPr lang="en-US" sz="1300" dirty="0"/>
          </a:p>
        </p:txBody>
      </p:sp>
      <p:sp>
        <p:nvSpPr>
          <p:cNvPr id="79" name="Text 76"/>
          <p:cNvSpPr txBox="1"/>
          <p:nvPr/>
        </p:nvSpPr>
        <p:spPr>
          <a:xfrm>
            <a:off x="6799936" y="5321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“智能扫地机器人”</a:t>
            </a:r>
            <a:endParaRPr lang="en-US" sz="1600" dirty="0"/>
          </a:p>
        </p:txBody>
      </p:sp>
      <p:sp>
        <p:nvSpPr>
          <p:cNvPr id="80" name="Text 77"/>
          <p:cNvSpPr txBox="1"/>
          <p:nvPr/>
        </p:nvSpPr>
        <p:spPr>
          <a:xfrm>
            <a:off x="6370168" y="5742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能够自己在房间里清扫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9006611" y="5212080"/>
            <a:ext cx="2636444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9143771" y="5349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9143771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16</a:t>
            </a:r>
            <a:endParaRPr lang="en-US" sz="1300" dirty="0"/>
          </a:p>
        </p:txBody>
      </p:sp>
      <p:sp>
        <p:nvSpPr>
          <p:cNvPr id="84" name="Text 81"/>
          <p:cNvSpPr txBox="1"/>
          <p:nvPr/>
        </p:nvSpPr>
        <p:spPr>
          <a:xfrm>
            <a:off x="9619259" y="5321808"/>
            <a:ext cx="190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“智能美颜”</a:t>
            </a:r>
            <a:endParaRPr lang="en-US" sz="1600" dirty="0"/>
          </a:p>
        </p:txBody>
      </p:sp>
      <p:sp>
        <p:nvSpPr>
          <p:cNvPr id="85" name="Text 82"/>
          <p:cNvSpPr txBox="1"/>
          <p:nvPr/>
        </p:nvSpPr>
        <p:spPr>
          <a:xfrm>
            <a:off x="9189491" y="5742432"/>
            <a:ext cx="236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手机相机里的美颜功能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12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01 · AI 侦探卡牌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放下卡牌之前，先问自己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4003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44" y="2634844"/>
            <a:ext cx="399593" cy="3995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57400" y="2057400"/>
            <a:ext cx="3581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我的证据是什么？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78728" y="187452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44488" y="24003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031" y="2634844"/>
            <a:ext cx="399593" cy="3995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87488" y="2057400"/>
            <a:ext cx="3581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如果它只是一个 if…then… 的固定规则，我还会认为它用了 AI 吗？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548640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914400" y="45948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944" y="4829404"/>
            <a:ext cx="399593" cy="3995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57400" y="4251960"/>
            <a:ext cx="3581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产品名字里写着“智能”，能证明它使用了 AI 吗？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6278728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44488" y="45948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031" y="4829404"/>
            <a:ext cx="399593" cy="3995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87488" y="4251960"/>
            <a:ext cx="3581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我还需要知道什么信息，才能做出判断？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415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784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01 · 争议卡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争议卡：“智能空调”到底是不是 AI？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13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00200" y="2606040"/>
            <a:ext cx="1188720" cy="11887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154" y="2926994"/>
            <a:ext cx="546811" cy="54681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“智能空调”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根据室内情况自动调节温度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7345375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72000" y="2075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可能 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0" y="2075688"/>
            <a:ext cx="569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可能只是固定规则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2560320"/>
            <a:ext cx="5699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例如：温度高于设定值 → 开始制冷；低于设定值 → 停止。不需要学习，也能“自动调节”。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297680" y="3520440"/>
            <a:ext cx="7345375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72000" y="37216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可能 B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0" y="3721608"/>
            <a:ext cx="569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也可能用了 AI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669280" y="4206240"/>
            <a:ext cx="5699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例如：利用历史数据、人员状态和环境数据，预测接下来怎样调节更合适。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68680" y="534924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卡牌只告诉我们“根据室内情况自动调节”→ 放进“无法确定”，也是有依据的判断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83388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24128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4128" y="914400"/>
            <a:ext cx="142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侦探结论 01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8"/>
                </a:solidFill>
              </a:rPr>
              <a:t>不能只看一个产品表现得聪不聪明，或者名字里有没有“智能”两个字。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自动化 ≠ 人工智能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案件 02</a:t>
            </a:r>
            <a:endParaRPr lang="en-US" sz="20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什么是人工智能？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7F5"/>
                </a:solidFill>
              </a:rPr>
              <a:t>AI 可以帮助计算机完成哪些类型的任务？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 分钟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555480" y="868680"/>
            <a:ext cx="1645920" cy="1645920"/>
          </a:xfrm>
          <a:prstGeom prst="ellipse">
            <a:avLst/>
          </a:prstGeom>
          <a:solidFill>
            <a:schemeClr val="bg1">
              <a:alpha val="8000"/>
            </a:schemeClr>
          </a:solidFill>
          <a:ln w="762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27080" y="2286000"/>
            <a:ext cx="502920" cy="502920"/>
          </a:xfrm>
          <a:prstGeom prst="line">
            <a:avLst/>
          </a:prstGeom>
          <a:noFill/>
          <a:ln w="1524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349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07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02 · 什么是 AI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看视频：《What is AI?》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6035040" cy="3429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301752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17" y="328909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8"/>
                </a:solidFill>
              </a:rPr>
              <a:t>micro:bit Educational Foundation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394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microbit.org/teach/classroom-resources/video-what-is-ai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949440" y="1828800"/>
            <a:ext cx="4693615" cy="3429000"/>
          </a:xfrm>
          <a:prstGeom prst="roundRect">
            <a:avLst>
              <a:gd name="adj" fmla="val 3200"/>
            </a:avLst>
          </a:prstGeom>
          <a:solidFill>
            <a:schemeClr val="accent2">
              <a:alpha val="18000"/>
            </a:scheme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031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6384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观察任务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7269480" y="283464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不用记定义。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3291840"/>
            <a:ext cx="4053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只需要注意：视频里提到 AI 可以帮助计算机完成哪些类型的任务？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349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07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02 · 什么是 AI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常做的四类任务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1329652" y="21488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229" y="242041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33375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识别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93192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“这是什么？”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8920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识别人脸、识别语音、识别照片中的物体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390824" y="182880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4171836" y="21488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2420417"/>
            <a:ext cx="462686" cy="46268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3704" y="33375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预测 / 判断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3619424" y="393192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“这可能属于哪一类？接下来可能发生什么？”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19424" y="48920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垃圾邮件分类、动作判断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233008" y="182880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014019" y="21488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596" y="2420417"/>
            <a:ext cx="462686" cy="46268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15888" y="33375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推荐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6461608" y="393192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“你可能喜欢什么？”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48920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音乐推荐、视频推荐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075191" y="182880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9856203" y="21488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780" y="2420417"/>
            <a:ext cx="462686" cy="46268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58071" y="33375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生成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9303791" y="393192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“产生新的内容”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303791" y="48920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根据输入生成新的文字、图片、声音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349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07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02 · 什么是 AI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34440"/>
            <a:ext cx="101800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人工智能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是一类让计算机完成识别、预测、推荐、语言交流、内容生成等任务的技术。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很多现在的 AI 系统会</a:t>
            </a:r>
            <a:pPr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通过数据学习规律</a:t>
            </a:r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chemeClr val="tx2"/>
                </a:solidFill>
              </a:rPr>
              <a:t>，再根据新的输入产生结果。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4160520"/>
            <a:ext cx="11094415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14400" y="4553712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800600"/>
            <a:ext cx="420624" cy="4206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103120" y="434340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今天不是来背这个定义的。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2103120" y="4892040"/>
            <a:ext cx="9265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真正重要的是：以后碰到一个号称 AI 的系统，我们知道应该问什么问题。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案件 03</a:t>
            </a:r>
            <a:endParaRPr lang="en-US" sz="20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从“它很聪明”到“它是一个系统”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7F5"/>
                </a:solidFill>
              </a:rPr>
              <a:t>看起来很聪明的背后，系统到底做了什么？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 分钟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555480" y="868680"/>
            <a:ext cx="1645920" cy="1645920"/>
          </a:xfrm>
          <a:prstGeom prst="ellipse">
            <a:avLst/>
          </a:prstGeom>
          <a:solidFill>
            <a:schemeClr val="bg1">
              <a:alpha val="8000"/>
            </a:schemeClr>
          </a:solidFill>
          <a:ln w="762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27080" y="2286000"/>
            <a:ext cx="502920" cy="502920"/>
          </a:xfrm>
          <a:prstGeom prst="line">
            <a:avLst/>
          </a:prstGeom>
          <a:noFill/>
          <a:ln w="1524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749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3177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03 · 从聪明到系统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人脸解锁：手机真正拿到了什么？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97280" y="1783080"/>
            <a:ext cx="2377440" cy="4206240"/>
          </a:xfrm>
          <a:prstGeom prst="roundRect">
            <a:avLst>
              <a:gd name="adj" fmla="val 13462"/>
            </a:avLst>
          </a:prstGeom>
          <a:solidFill>
            <a:schemeClr val="tx2"/>
          </a:solidFill>
          <a:ln/>
        </p:spPr>
      </p:sp>
      <p:sp>
        <p:nvSpPr>
          <p:cNvPr id="7" name="Shape 4"/>
          <p:cNvSpPr/>
          <p:nvPr/>
        </p:nvSpPr>
        <p:spPr>
          <a:xfrm>
            <a:off x="1261872" y="2103120"/>
            <a:ext cx="2048256" cy="3566160"/>
          </a:xfrm>
          <a:prstGeom prst="roundRect">
            <a:avLst>
              <a:gd name="adj" fmla="val 6696"/>
            </a:avLst>
          </a:prstGeom>
          <a:solidFill>
            <a:schemeClr val="accent1"/>
          </a:solidFill>
          <a:ln/>
        </p:spPr>
      </p:sp>
      <p:sp>
        <p:nvSpPr>
          <p:cNvPr id="8" name="Shape 5"/>
          <p:cNvSpPr/>
          <p:nvPr/>
        </p:nvSpPr>
        <p:spPr>
          <a:xfrm>
            <a:off x="2212848" y="1901952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92608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54480" y="2743200"/>
            <a:ext cx="1463040" cy="1463040"/>
          </a:xfrm>
          <a:prstGeom prst="rect">
            <a:avLst/>
          </a:prstGeom>
          <a:ln w="31750">
            <a:solidFill>
              <a:schemeClr val="accent2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57200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06240" y="1874520"/>
            <a:ext cx="74368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3" name="Shape 8"/>
          <p:cNvSpPr/>
          <p:nvPr/>
        </p:nvSpPr>
        <p:spPr>
          <a:xfrm>
            <a:off x="4480560" y="2148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448056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1874520"/>
            <a:ext cx="6110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人脸解锁看起来是在做什么？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4206240" y="3246120"/>
            <a:ext cx="74368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4480560" y="3520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48056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5303520" y="3246120"/>
            <a:ext cx="6110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手机真正拿到了你的什么？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4206240" y="4617720"/>
            <a:ext cx="7436815" cy="1143000"/>
          </a:xfrm>
          <a:prstGeom prst="roundRect">
            <a:avLst>
              <a:gd name="adj" fmla="val 9600"/>
            </a:avLst>
          </a:prstGeom>
          <a:solidFill>
            <a:schemeClr val="accent6"/>
          </a:solidFill>
          <a:ln/>
        </p:spPr>
      </p:sp>
      <p:sp>
        <p:nvSpPr>
          <p:cNvPr id="21" name="Shape 16"/>
          <p:cNvSpPr/>
          <p:nvPr/>
        </p:nvSpPr>
        <p:spPr>
          <a:xfrm>
            <a:off x="4480560" y="48920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48056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4617720"/>
            <a:ext cx="6110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计算机能直接拿到一个“人”吗？摄像头真正得到的是什么？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749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3177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03 · 从聪明到系统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输入 → 处理 → 输出，旁边永远站着“人”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01752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输入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摄像头拍到的人脸图像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703320" y="2715768"/>
            <a:ext cx="746608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587088" y="1783080"/>
            <a:ext cx="301752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61408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74" y="2196846"/>
            <a:ext cx="315468" cy="3154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84368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处理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4861408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人脸识别模型分析图像中的特征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7741768" y="2715768"/>
            <a:ext cx="746608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8625535" y="1783080"/>
            <a:ext cx="301752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899855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021" y="219684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22815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输出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8899855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匹配 / 不匹配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48640" y="3931920"/>
            <a:ext cx="11094415" cy="2103120"/>
          </a:xfrm>
          <a:prstGeom prst="roundRect">
            <a:avLst>
              <a:gd name="adj" fmla="val 5217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914400" y="425196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14400" y="4251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人</a:t>
            </a:r>
            <a:endParaRPr lang="en-US" sz="5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45312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200400" y="4343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谁决定用什么数据？</a:t>
            </a:r>
            <a:endParaRPr lang="en-US" sz="1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445312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543800" y="43434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谁决定怎样设计这个系统？</a:t>
            </a:r>
            <a:endParaRPr lang="en-US" sz="18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5138928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200400" y="50292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识别成功后手机做什么，谁决定？</a:t>
            </a:r>
            <a:endParaRPr lang="en-US" sz="18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5138928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543800" y="50292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如果识别错了，谁来处理？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749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3177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03 · 从聪明到系统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再试一次：垃圾邮件过滤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533574" cy="31089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1358227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115" y="235000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315468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输入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74904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邮件内容和相关信息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082214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›</a:t>
            </a:r>
            <a:endParaRPr lang="en-US" sz="3600" dirty="0"/>
          </a:p>
        </p:txBody>
      </p:sp>
      <p:sp>
        <p:nvSpPr>
          <p:cNvPr id="12" name="Shape 8"/>
          <p:cNvSpPr/>
          <p:nvPr/>
        </p:nvSpPr>
        <p:spPr>
          <a:xfrm>
            <a:off x="3402254" y="1828800"/>
            <a:ext cx="2533574" cy="31089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4211841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729" y="23500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85134" y="315468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处理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3630854" y="374904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模型分析其中的模式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935828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›</a:t>
            </a:r>
            <a:endParaRPr lang="en-US" sz="3600" dirty="0"/>
          </a:p>
        </p:txBody>
      </p:sp>
      <p:sp>
        <p:nvSpPr>
          <p:cNvPr id="18" name="Shape 13"/>
          <p:cNvSpPr/>
          <p:nvPr/>
        </p:nvSpPr>
        <p:spPr>
          <a:xfrm>
            <a:off x="6255868" y="1828800"/>
            <a:ext cx="2533574" cy="31089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5455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343" y="235000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38748" y="315468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输出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6484468" y="374904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“垃圾邮件”或“正常邮件”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9109481" y="1828800"/>
            <a:ext cx="2533574" cy="3108960"/>
          </a:xfrm>
          <a:prstGeom prst="roundRect">
            <a:avLst>
              <a:gd name="adj" fmla="val 4331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9919068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5956" y="235000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92361" y="3154680"/>
            <a:ext cx="21678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人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9338081" y="374904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准备数据、设定目标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设计规则、处理误判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914400" y="52578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不需要知道模型内部怎样计算——先看清楚：它收到了什么、处理了什么、输出了什么。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193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962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03 · 小组活动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 分钟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系统解剖：每组拆开一个系统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抽到哪个，就解剖哪个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3230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331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手机人脸解锁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2862072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6265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8620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音乐推荐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3392424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9300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3924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语音识别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548640" y="3922776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23360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39227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图片分类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48640" y="4453128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53712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97280" y="44531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垃圾邮件过滤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548640" y="4983480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084064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97280" y="49834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聊天机器人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548640" y="5513832"/>
            <a:ext cx="3108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614416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97280" y="55138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短视频推荐</a:t>
            </a:r>
            <a:endParaRPr lang="en-US" sz="1600" dirty="0"/>
          </a:p>
        </p:txBody>
      </p:sp>
      <p:sp>
        <p:nvSpPr>
          <p:cNvPr id="31" name="Shape 20"/>
          <p:cNvSpPr/>
          <p:nvPr/>
        </p:nvSpPr>
        <p:spPr>
          <a:xfrm>
            <a:off x="4114800" y="1828800"/>
            <a:ext cx="7528255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0" y="2011680"/>
            <a:ext cx="384048" cy="38404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89204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 系统解剖卡</a:t>
            </a:r>
            <a:endParaRPr lang="en-US" sz="2000" dirty="0"/>
          </a:p>
        </p:txBody>
      </p:sp>
      <p:sp>
        <p:nvSpPr>
          <p:cNvPr id="34" name="Shape 22"/>
          <p:cNvSpPr/>
          <p:nvPr/>
        </p:nvSpPr>
        <p:spPr>
          <a:xfrm>
            <a:off x="4389120" y="274320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5" name="Text 23"/>
          <p:cNvSpPr txBox="1"/>
          <p:nvPr/>
        </p:nvSpPr>
        <p:spPr>
          <a:xfrm>
            <a:off x="43891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36" name="Text 24"/>
          <p:cNvSpPr txBox="1"/>
          <p:nvPr/>
        </p:nvSpPr>
        <p:spPr>
          <a:xfrm>
            <a:off x="4937760" y="265176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要帮人解决什么问题？</a:t>
            </a:r>
            <a:endParaRPr lang="en-US" sz="1600" dirty="0"/>
          </a:p>
        </p:txBody>
      </p:sp>
      <p:sp>
        <p:nvSpPr>
          <p:cNvPr id="37" name="Shape 25"/>
          <p:cNvSpPr/>
          <p:nvPr/>
        </p:nvSpPr>
        <p:spPr>
          <a:xfrm>
            <a:off x="4937760" y="329184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38" name="Shape 26"/>
          <p:cNvSpPr/>
          <p:nvPr/>
        </p:nvSpPr>
        <p:spPr>
          <a:xfrm>
            <a:off x="4389120" y="3566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27"/>
          <p:cNvSpPr txBox="1"/>
          <p:nvPr/>
        </p:nvSpPr>
        <p:spPr>
          <a:xfrm>
            <a:off x="43891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Text 28"/>
          <p:cNvSpPr txBox="1"/>
          <p:nvPr/>
        </p:nvSpPr>
        <p:spPr>
          <a:xfrm>
            <a:off x="4937760" y="347472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它的输入是什么？</a:t>
            </a:r>
            <a:endParaRPr lang="en-US" sz="1600" dirty="0"/>
          </a:p>
        </p:txBody>
      </p:sp>
      <p:sp>
        <p:nvSpPr>
          <p:cNvPr id="41" name="Shape 29"/>
          <p:cNvSpPr/>
          <p:nvPr/>
        </p:nvSpPr>
        <p:spPr>
          <a:xfrm>
            <a:off x="4937760" y="411480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42" name="Shape 30"/>
          <p:cNvSpPr/>
          <p:nvPr/>
        </p:nvSpPr>
        <p:spPr>
          <a:xfrm>
            <a:off x="4389120" y="43891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31"/>
          <p:cNvSpPr txBox="1"/>
          <p:nvPr/>
        </p:nvSpPr>
        <p:spPr>
          <a:xfrm>
            <a:off x="438912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4" name="Text 32"/>
          <p:cNvSpPr txBox="1"/>
          <p:nvPr/>
        </p:nvSpPr>
        <p:spPr>
          <a:xfrm>
            <a:off x="4937760" y="429768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系统进行了什么处理？</a:t>
            </a:r>
            <a:endParaRPr lang="en-US" sz="1600" dirty="0"/>
          </a:p>
        </p:txBody>
      </p:sp>
      <p:sp>
        <p:nvSpPr>
          <p:cNvPr id="45" name="Shape 33"/>
          <p:cNvSpPr/>
          <p:nvPr/>
        </p:nvSpPr>
        <p:spPr>
          <a:xfrm>
            <a:off x="4937760" y="493776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46" name="Shape 34"/>
          <p:cNvSpPr/>
          <p:nvPr/>
        </p:nvSpPr>
        <p:spPr>
          <a:xfrm>
            <a:off x="4389120" y="5212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Text 35"/>
          <p:cNvSpPr txBox="1"/>
          <p:nvPr/>
        </p:nvSpPr>
        <p:spPr>
          <a:xfrm>
            <a:off x="438912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36"/>
          <p:cNvSpPr txBox="1"/>
          <p:nvPr/>
        </p:nvSpPr>
        <p:spPr>
          <a:xfrm>
            <a:off x="4937760" y="512064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它产生什么输出？</a:t>
            </a:r>
            <a:endParaRPr lang="en-US" sz="1600" dirty="0"/>
          </a:p>
        </p:txBody>
      </p:sp>
      <p:sp>
        <p:nvSpPr>
          <p:cNvPr id="49" name="Shape 37"/>
          <p:cNvSpPr/>
          <p:nvPr/>
        </p:nvSpPr>
        <p:spPr>
          <a:xfrm>
            <a:off x="4937760" y="576072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50" name="Shape 38"/>
          <p:cNvSpPr/>
          <p:nvPr/>
        </p:nvSpPr>
        <p:spPr>
          <a:xfrm>
            <a:off x="8016088" y="27432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1" name="Text 39"/>
          <p:cNvSpPr txBox="1"/>
          <p:nvPr/>
        </p:nvSpPr>
        <p:spPr>
          <a:xfrm>
            <a:off x="801608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2" name="Text 40"/>
          <p:cNvSpPr txBox="1"/>
          <p:nvPr/>
        </p:nvSpPr>
        <p:spPr>
          <a:xfrm>
            <a:off x="8564728" y="265176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人在系统中做了什么？</a:t>
            </a:r>
            <a:endParaRPr lang="en-US" sz="1600" dirty="0"/>
          </a:p>
        </p:txBody>
      </p:sp>
      <p:sp>
        <p:nvSpPr>
          <p:cNvPr id="53" name="Shape 41"/>
          <p:cNvSpPr/>
          <p:nvPr/>
        </p:nvSpPr>
        <p:spPr>
          <a:xfrm>
            <a:off x="8564728" y="329184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54" name="Shape 42"/>
          <p:cNvSpPr/>
          <p:nvPr/>
        </p:nvSpPr>
        <p:spPr>
          <a:xfrm>
            <a:off x="8016088" y="356616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5" name="Text 43"/>
          <p:cNvSpPr txBox="1"/>
          <p:nvPr/>
        </p:nvSpPr>
        <p:spPr>
          <a:xfrm>
            <a:off x="8016088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56" name="Text 44"/>
          <p:cNvSpPr txBox="1"/>
          <p:nvPr/>
        </p:nvSpPr>
        <p:spPr>
          <a:xfrm>
            <a:off x="8564728" y="347472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可能发生什么错误？</a:t>
            </a:r>
            <a:endParaRPr lang="en-US" sz="1600" dirty="0"/>
          </a:p>
        </p:txBody>
      </p:sp>
      <p:sp>
        <p:nvSpPr>
          <p:cNvPr id="57" name="Shape 45"/>
          <p:cNvSpPr/>
          <p:nvPr/>
        </p:nvSpPr>
        <p:spPr>
          <a:xfrm>
            <a:off x="8564728" y="411480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58" name="Shape 46"/>
          <p:cNvSpPr/>
          <p:nvPr/>
        </p:nvSpPr>
        <p:spPr>
          <a:xfrm>
            <a:off x="8016088" y="438912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9" name="Text 47"/>
          <p:cNvSpPr txBox="1"/>
          <p:nvPr/>
        </p:nvSpPr>
        <p:spPr>
          <a:xfrm>
            <a:off x="8016088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</p:txBody>
      </p:sp>
      <p:sp>
        <p:nvSpPr>
          <p:cNvPr id="60" name="Text 48"/>
          <p:cNvSpPr txBox="1"/>
          <p:nvPr/>
        </p:nvSpPr>
        <p:spPr>
          <a:xfrm>
            <a:off x="8564728" y="429768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出错可能带来什么影响？</a:t>
            </a:r>
            <a:endParaRPr lang="en-US" sz="1600" dirty="0"/>
          </a:p>
        </p:txBody>
      </p:sp>
      <p:sp>
        <p:nvSpPr>
          <p:cNvPr id="61" name="Shape 49"/>
          <p:cNvSpPr/>
          <p:nvPr/>
        </p:nvSpPr>
        <p:spPr>
          <a:xfrm>
            <a:off x="8564728" y="493776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62" name="Shape 50"/>
          <p:cNvSpPr/>
          <p:nvPr/>
        </p:nvSpPr>
        <p:spPr>
          <a:xfrm>
            <a:off x="8016088" y="5212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3" name="Text 51"/>
          <p:cNvSpPr txBox="1"/>
          <p:nvPr/>
        </p:nvSpPr>
        <p:spPr>
          <a:xfrm>
            <a:off x="8016088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</p:txBody>
      </p:sp>
      <p:sp>
        <p:nvSpPr>
          <p:cNvPr id="64" name="Text 52"/>
          <p:cNvSpPr txBox="1"/>
          <p:nvPr/>
        </p:nvSpPr>
        <p:spPr>
          <a:xfrm>
            <a:off x="8564728" y="5120640"/>
            <a:ext cx="2804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挑战：这个任务真的需要 AI 吗？</a:t>
            </a:r>
            <a:endParaRPr lang="en-US" sz="1600" dirty="0"/>
          </a:p>
        </p:txBody>
      </p:sp>
      <p:sp>
        <p:nvSpPr>
          <p:cNvPr id="65" name="Shape 53"/>
          <p:cNvSpPr/>
          <p:nvPr/>
        </p:nvSpPr>
        <p:spPr>
          <a:xfrm>
            <a:off x="8564728" y="5760720"/>
            <a:ext cx="271256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193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962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03 · 小组活动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卡住了？试试这两个侦探提问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64328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20574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写“输入”时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6032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如果把输入保存成一个文件，它可能是什么？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14400" y="3749040"/>
            <a:ext cx="1422349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977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749040"/>
            <a:ext cx="873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图像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519629" y="3749040"/>
            <a:ext cx="1422349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789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22549" y="3749040"/>
            <a:ext cx="873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文字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124858" y="3749040"/>
            <a:ext cx="1422349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018" y="39776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27778" y="3749040"/>
            <a:ext cx="873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声音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914400" y="4663440"/>
            <a:ext cx="1422349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9204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17320" y="4663440"/>
            <a:ext cx="873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数字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2519629" y="4663440"/>
            <a:ext cx="1422349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6789" y="489204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022549" y="4663440"/>
            <a:ext cx="873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位置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4124858" y="4663440"/>
            <a:ext cx="1422349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2018" y="489204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27778" y="4663440"/>
            <a:ext cx="8737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点击记录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6278728" y="1828800"/>
            <a:ext cx="5364328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6644488" y="20574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写“处理”时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6644488" y="256032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如果不用“思考”这个词，它具体在做什么？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644488" y="3749040"/>
            <a:ext cx="4632808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6827368" y="374904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✗ </a:t>
            </a:r>
            <a:pPr indent="0" marL="0">
              <a:buNone/>
            </a:pPr>
            <a:r>
              <a:rPr lang="en-US" sz="1700" strike="sngStrike" dirty="0">
                <a:solidFill>
                  <a:schemeClr val="accent3"/>
                </a:solidFill>
              </a:rPr>
              <a:t>AI 思考了一下</a:t>
            </a:r>
            <a:endParaRPr lang="en-US" sz="1700" dirty="0"/>
          </a:p>
        </p:txBody>
      </p:sp>
      <p:sp>
        <p:nvSpPr>
          <p:cNvPr id="32" name="Text 23"/>
          <p:cNvSpPr txBox="1"/>
          <p:nvPr/>
        </p:nvSpPr>
        <p:spPr>
          <a:xfrm>
            <a:off x="6827368" y="44348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✓  比较图像特征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6827368" y="493776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✓  分析文字中的模式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6827368" y="54406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✓  根据过去记录计算可能喜欢的内容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10972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9348" y="1492301"/>
            <a:ext cx="672998" cy="6729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889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课间休息 5 分钟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6E8"/>
                </a:solidFill>
              </a:rPr>
              <a:t>材料与计时员：请把卡牌和分类底板装回信封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下半场 · AI 真的“懂”我吗？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案件 04</a:t>
            </a:r>
            <a:endParaRPr lang="en-US" sz="20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 真的“懂”我吗？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7F5"/>
                </a:solidFill>
              </a:rPr>
              <a:t>“看懂”“知道”“听懂”……这些词背后，系统实际做了什么？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 分钟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555480" y="868680"/>
            <a:ext cx="1645920" cy="1645920"/>
          </a:xfrm>
          <a:prstGeom prst="ellipse">
            <a:avLst/>
          </a:prstGeom>
          <a:solidFill>
            <a:schemeClr val="bg1">
              <a:alpha val="8000"/>
            </a:schemeClr>
          </a:solidFill>
          <a:ln w="762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27080" y="2286000"/>
            <a:ext cx="502920" cy="502920"/>
          </a:xfrm>
          <a:prstGeom prst="line">
            <a:avLst/>
          </a:prstGeom>
          <a:noFill/>
          <a:ln w="1524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8905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43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04 · AI 真的懂我吗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8" y="1188720"/>
            <a:ext cx="1097280" cy="1097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5603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“推荐系统知道我喜欢篮球。”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我们平时这么说，有问题吗？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8905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43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04 · AI 真的懂我吗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同一件事，两种说法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090008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日常说法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51760"/>
            <a:ext cx="43584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推荐系统知道我喜欢篮球。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775808" y="3429000"/>
            <a:ext cx="64008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553048" y="1828800"/>
            <a:ext cx="5090008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18808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技术描述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918808" y="2651760"/>
            <a:ext cx="43584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推荐系统根据我的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浏览、观看、点击或收藏记录</a:t>
            </a:r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，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推测</a:t>
            </a:r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我可能喜欢篮球。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534924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哪一句让我们更容易看出这个系统到底做了什么？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637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6065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04 · 练习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406075" y="365760"/>
            <a:ext cx="12369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523" y="4663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835843" y="365760"/>
            <a:ext cx="779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分钟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轮到你：改写成“机器实际在做什么”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213055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029968"/>
            <a:ext cx="358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 看懂了照片里的小狗。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改写：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645920" y="3383280"/>
            <a:ext cx="3947008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6278728" y="182880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6553048" y="2103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5304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13055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38848" y="2029968"/>
            <a:ext cx="358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音乐软件知道我喜欢某位歌手。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6598768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改写：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76008" y="3383280"/>
            <a:ext cx="3947008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548640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168" y="43708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270248"/>
            <a:ext cx="358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语音助手听懂了我说的话。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868680" y="5166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改写：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1645920" y="5623560"/>
            <a:ext cx="3947008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6278728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6553048" y="4343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553048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7255" y="4370832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38848" y="4270248"/>
            <a:ext cx="358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聊天机器人知道我很难过，所以想安慰我。</a:t>
            </a:r>
            <a:endParaRPr lang="en-US" sz="2000" dirty="0"/>
          </a:p>
        </p:txBody>
      </p:sp>
      <p:sp>
        <p:nvSpPr>
          <p:cNvPr id="35" name="Text 27"/>
          <p:cNvSpPr txBox="1"/>
          <p:nvPr/>
        </p:nvSpPr>
        <p:spPr>
          <a:xfrm>
            <a:off x="6598768" y="5166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改写：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7376008" y="5623560"/>
            <a:ext cx="3947008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193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962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04 · 参考改写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参考改写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AI 看懂了照片里的小狗。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09160" y="2286000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303520" y="1828800"/>
            <a:ext cx="6339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0" y="1828800"/>
            <a:ext cx="5882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图像模型分析图片中的特征，并把图片分类为“小狗”。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898648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986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音乐软件知道我喜欢某位歌手。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709160" y="3355848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303520" y="2898648"/>
            <a:ext cx="6339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77840" y="2898648"/>
            <a:ext cx="5882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推荐系统根据播放、收藏等记录，推测我可能喜欢相关歌曲。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968496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396849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语音助手听懂了我说的话。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709160" y="4425696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303520" y="3968496"/>
            <a:ext cx="6339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0" y="3968496"/>
            <a:ext cx="5882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语音识别系统把声音信号转换成文字或指令。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038344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503834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聊天机器人知道我很难过，所以想安慰我。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709160" y="5495544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303520" y="5038344"/>
            <a:ext cx="6339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77840" y="5038344"/>
            <a:ext cx="5882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系统根据输入的文字，生成符合安慰语境的回复。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214884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24128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4128" y="9144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侦探结论 02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日常表达可以简化；真正分析 AI 时，要学会把这些词拆开。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188720" cy="68580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12700">
            <a:solidFill>
              <a:srgbClr val="9FB3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7F5"/>
                </a:solidFill>
              </a:rPr>
              <a:t>“看懂”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874520" y="3520440"/>
            <a:ext cx="1188720" cy="68580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12700">
            <a:solidFill>
              <a:srgbClr val="9FB3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7452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7F5"/>
                </a:solidFill>
              </a:rPr>
              <a:t>“知道”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200400" y="3520440"/>
            <a:ext cx="1188720" cy="68580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12700">
            <a:solidFill>
              <a:srgbClr val="9FB3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7F5"/>
                </a:solidFill>
              </a:rPr>
              <a:t>“听懂”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526280" y="3520440"/>
            <a:ext cx="1188720" cy="68580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12700">
            <a:solidFill>
              <a:srgbClr val="9FB3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7F5"/>
                </a:solidFill>
              </a:rPr>
              <a:t>“想”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989320" y="3858768"/>
            <a:ext cx="82296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040880" y="2926080"/>
            <a:ext cx="4572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输入是什么？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040880" y="3584448"/>
            <a:ext cx="4572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0" y="35844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系统做了什么？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040880" y="4242816"/>
            <a:ext cx="4572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42428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输出是什么？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案件 05</a:t>
            </a:r>
            <a:endParaRPr lang="en-US" sz="20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这里真的需要 AI 吗？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7F5"/>
                </a:solidFill>
              </a:rPr>
              <a:t>一件事情能用 AI，是不是就一定应该用 AI？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 分钟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555480" y="868680"/>
            <a:ext cx="1645920" cy="1645920"/>
          </a:xfrm>
          <a:prstGeom prst="ellipse">
            <a:avLst/>
          </a:prstGeom>
          <a:solidFill>
            <a:schemeClr val="bg1">
              <a:alpha val="8000"/>
            </a:schemeClr>
          </a:solidFill>
          <a:ln w="762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27080" y="2286000"/>
            <a:ext cx="502920" cy="502920"/>
          </a:xfrm>
          <a:prstGeom prst="line">
            <a:avLst/>
          </a:prstGeom>
          <a:noFill/>
          <a:ln w="1524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8831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531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05 · 真的需要 AI 吗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406075" y="365760"/>
            <a:ext cx="12369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523" y="4663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835843" y="365760"/>
            <a:ext cx="779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分钟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四个情境：你会用 AI 吗？为什么？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536432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312975"/>
            <a:ext cx="357530" cy="35753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情境 1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783080" y="242316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每天晚上 21:00 提醒小明整理书包。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78728" y="1828800"/>
            <a:ext cx="536432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6553048" y="21031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2" y="2312975"/>
            <a:ext cx="357530" cy="35753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13168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情境 2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13168" y="242316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教室光线低于某个亮度时，自动开灯。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536432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5" y="4187495"/>
            <a:ext cx="357530" cy="3575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7830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情境 3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783080" y="429768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摄像头需要在不同角度、距离和背景下，区分足球、篮球和排球。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6278728" y="3703320"/>
            <a:ext cx="536432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5" name="Shape 18"/>
          <p:cNvSpPr/>
          <p:nvPr/>
        </p:nvSpPr>
        <p:spPr>
          <a:xfrm>
            <a:off x="6553048" y="3977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02" y="4187495"/>
            <a:ext cx="357530" cy="35753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13168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情境 4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513168" y="429768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根据佩戴设备产生的运动数据，判断当前动作是“静止”“挥手”还是“跳跃”。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548640" y="5577840"/>
            <a:ext cx="11094415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868680" y="55778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每个情境写下：我们会使用 AI / 我们不一定使用 AI，以及理由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2415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784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05 · 挑战卡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提前完成？试试挑战卡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64328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1488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77" y="242041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48840" y="2148840"/>
            <a:ext cx="3535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挑战卡 A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474720"/>
            <a:ext cx="4632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设计一个看起来很聪明、但完全不需要机器学习的系统，画出它的输入、规则和输出。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6278728" y="1828800"/>
            <a:ext cx="5364328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44488" y="21488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064" y="2420417"/>
            <a:ext cx="462686" cy="462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878928" y="2148840"/>
            <a:ext cx="3535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挑战卡 B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6644488" y="3474720"/>
            <a:ext cx="4632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用最短路径算法让程序自动走出迷宫——这算不算人工智能？说出你的定义和依据。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8831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25311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05 · 真的需要 AI 吗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一起来看：规则就够了，还是需要学习？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1968246"/>
            <a:ext cx="315468" cy="315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783080"/>
            <a:ext cx="444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规则就够了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36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28803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情境 1 · 定时提醒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3375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普通定时器已经足够。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4389120"/>
            <a:ext cx="536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57200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情境 2 · 自动开灯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5029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光照传感器 + 固定亮度阈值，并不一定需要 AI。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78728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894" y="196824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47408" y="1783080"/>
            <a:ext cx="444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适合从样本中学习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278728" y="2697480"/>
            <a:ext cx="536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98768" y="288036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情境 3 · 区分三种球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598768" y="333756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角度、距离、背景变化太多，固定规则越写越难；用大量图片训练分类模型可能更合适。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278728" y="4389120"/>
            <a:ext cx="536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598768" y="457200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情境 4 · 判断动作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598768" y="5029200"/>
            <a:ext cx="472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适合从许多动作样本中学习规律——后面的课上，我们会亲手试一试。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83388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24128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4128" y="914400"/>
            <a:ext cx="142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侦探结论 03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如果一个</a:t>
            </a:r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chemeClr val="accent2"/>
                </a:solidFill>
              </a:rPr>
              <a:t>简单、可靠、成本更低</a:t>
            </a:r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的规则已经能很好地解决问题，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就没有必要为了“智能”而强行加入 AI。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9202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案件 06</a:t>
            </a:r>
            <a:endParaRPr lang="en-US" sz="20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 的回答可信吗？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CE7F5"/>
                </a:solidFill>
              </a:rPr>
              <a:t>说得很流畅、很具体，就一定是对的吗？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308285" y="365760"/>
            <a:ext cx="133477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bg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733" y="466344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738053" y="365760"/>
            <a:ext cx="877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 分钟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555480" y="868680"/>
            <a:ext cx="1645920" cy="1645920"/>
          </a:xfrm>
          <a:prstGeom prst="ellipse">
            <a:avLst/>
          </a:prstGeom>
          <a:solidFill>
            <a:schemeClr val="bg1">
              <a:alpha val="8000"/>
            </a:schemeClr>
          </a:solidFill>
          <a:ln w="762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927080" y="2286000"/>
            <a:ext cx="502920" cy="502920"/>
          </a:xfrm>
          <a:prstGeom prst="line">
            <a:avLst/>
          </a:prstGeom>
          <a:noFill/>
          <a:ln w="1524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BF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193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962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06 · 现场实验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现场实验：问 AI 一个可以核实的问题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20240" y="1828800"/>
            <a:ext cx="93570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micro:bit Educational Foundation 的 Developing AI literacy with the micro:bit 一共有多少节课？第一次在第几节课中使用 micro:bit？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548640" y="3703320"/>
            <a:ext cx="536432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" y="4117086"/>
            <a:ext cx="315468" cy="3154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93192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的回答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48463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（记录在黑板上）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78728" y="3703320"/>
            <a:ext cx="536432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6598768" y="3931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4117086"/>
            <a:ext cx="315468" cy="3154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67448" y="393192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官方网站怎么说？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6598768" y="48463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（马上打开核实）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193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962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06 · 核实结果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打开官网核实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6432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196596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8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 节课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832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整个单元共 8 节课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36432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44488" y="196596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第 3 节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44488" y="33832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micro:bit 第一次被使用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来源：microbit.org · Developing AI literacy with the micro:bit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538490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91640" y="5029200"/>
            <a:ext cx="9631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如果 AI 答对了——我们为什么还要打开官网？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214884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24128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24128" y="9144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侦探结论 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1828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流畅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8288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≠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2880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正确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具体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31546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≠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315468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有证据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重要信息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44805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→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448056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找可靠来源验证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9FB3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1935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9621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案件 06 · 再问一个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世界上跑得最快的动物是什么？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这个问题少了什么条件？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5678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1421092" y="2834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91" y="3056839"/>
            <a:ext cx="378562" cy="3785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74904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在陆地上？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3390824" y="2606040"/>
            <a:ext cx="25678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263276" y="2834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475" y="3056839"/>
            <a:ext cx="378562" cy="3785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73704" y="374904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在飞行时？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6233008" y="2606040"/>
            <a:ext cx="25678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7105460" y="2834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659" y="305683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15888" y="374904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在游泳时？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9075191" y="2606040"/>
            <a:ext cx="25678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9947643" y="2834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9843" y="3056839"/>
            <a:ext cx="378562" cy="37856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58071" y="374904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瞬时速度，还是持续速度？</a:t>
            </a:r>
            <a:endParaRPr lang="en-US" sz="1900" dirty="0"/>
          </a:p>
        </p:txBody>
      </p:sp>
      <p:sp>
        <p:nvSpPr>
          <p:cNvPr id="23" name="Shape 16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20000"/>
            </a:scheme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6636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37360" y="48463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有时 AI 给出了一个非常确定的答案，但真正的问题可能是：我们一开始就问得不够清楚。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192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76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离场卡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321495" y="365760"/>
            <a:ext cx="232156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943" y="4663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751263" y="365760"/>
            <a:ext cx="186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分钟 · 独立完成</a:t>
            </a:r>
            <a:endParaRPr lang="en-US" sz="1400" dirty="0"/>
          </a:p>
        </p:txBody>
      </p:sp>
      <p:sp>
        <p:nvSpPr>
          <p:cNvPr id="8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侦探离场卡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210312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请用你自己的话完成：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2697480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“人工智能是……”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278728" y="182880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553048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530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284568" y="210312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装置检测到温度超过 30℃ 就打开风扇。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284568" y="2697480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一定使用了 AI　B 一定没有使用 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 仅凭这些信息不能证明它使用了 AI　——为什么？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554480" y="43434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某个 AI 很肯定地告诉你：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554480" y="4937760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“某历史事件发生于 1923 年。”你接下来最应该做什么？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278728" y="4069080"/>
            <a:ext cx="536432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5" name="Shape 21"/>
          <p:cNvSpPr/>
          <p:nvPr/>
        </p:nvSpPr>
        <p:spPr>
          <a:xfrm>
            <a:off x="6553048" y="4343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55304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7284568" y="43434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任选一个 AI 系统，写出它的：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7284568" y="4937760"/>
            <a:ext cx="408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输入 · 处理 · 输出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970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93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回到开头</a:t>
            </a:r>
            <a:endParaRPr lang="en-US" sz="14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两个小时，我们的眼光变了吗？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090008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057400"/>
            <a:ext cx="435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两个小时前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3584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5"/>
                </a:solidFill>
              </a:rPr>
              <a:t>它看起来聪不聪明？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5"/>
                </a:solidFill>
              </a:rPr>
              <a:t>名字里有没有“智能”？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accent5"/>
                </a:solidFill>
              </a:rPr>
              <a:t>它会不会自己动？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775808" y="3657600"/>
            <a:ext cx="640080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553048" y="1828800"/>
            <a:ext cx="5090008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18808" y="2057400"/>
            <a:ext cx="435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现在，我们会问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918808" y="27980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18808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513168" y="2743200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它得到了什么输入？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918808" y="34381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18808" y="3438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513168" y="3383280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进行了什么处理？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918808" y="40782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18808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513168" y="4023360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产生了什么输出？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918808" y="47183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18808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513168" y="4663440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人在里面做了什么？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开场问题：如果 AI 消失一天，你的一天会有什么变化？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5260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6634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78408" y="365760"/>
            <a:ext cx="129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下一课的线索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7432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输入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429000" y="1965960"/>
            <a:ext cx="1158088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724248" y="1371600"/>
            <a:ext cx="27432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508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24248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处理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604608" y="1965960"/>
            <a:ext cx="1158088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899855" y="1371600"/>
            <a:ext cx="27432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99855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输出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404208" y="1097280"/>
            <a:ext cx="3383280" cy="1737360"/>
          </a:xfrm>
          <a:prstGeom prst="ellipse">
            <a:avLst/>
          </a:prstGeom>
          <a:ln w="38100">
            <a:solidFill>
              <a:schemeClr val="accent3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如果很多 AI 会从数据中学习规律——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886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谁告诉 AI 什么是猫、什么是狗？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091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如果给它的数据很少、很乱，甚至本身就是偏的，会发生什么？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3657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下一课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AI 为什么需要数据？</a:t>
            </a:r>
            <a:endParaRPr lang="en-US" sz="6000" dirty="0"/>
          </a:p>
        </p:txBody>
      </p:sp>
      <p:pic>
        <p:nvPicPr>
          <p:cNvPr id="4" name="Image 0" descr="/home/ywj/.tmp/claude-1018/-home-ywj-dbh/6428f095-a19c-480e-a687-fa49ba8cc56d/scratchpad/buil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968" y="5120640"/>
            <a:ext cx="2651760" cy="634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Detective SCUT">
  <a:themeElements>
    <a:clrScheme name="AI Detective SCUT">
      <a:dk1>
        <a:srgbClr val="1E293B"/>
      </a:dk1>
      <a:lt1>
        <a:srgbClr val="FFFFFF"/>
      </a:lt1>
      <a:dk2>
        <a:srgbClr val="0B2545"/>
      </a:dk2>
      <a:lt2>
        <a:srgbClr val="EEF4FB"/>
      </a:lt2>
      <a:accent1>
        <a:srgbClr val="00468E"/>
      </a:accent1>
      <a:accent2>
        <a:srgbClr val="E0A526"/>
      </a:accent2>
      <a:accent3>
        <a:srgbClr val="C62828"/>
      </a:accent3>
      <a:accent4>
        <a:srgbClr val="2E7D5B"/>
      </a:accent4>
      <a:accent5>
        <a:srgbClr val="64748B"/>
      </a:accent5>
      <a:accent6>
        <a:srgbClr val="D6E4F3"/>
      </a:accent6>
      <a:hlink>
        <a:srgbClr val="00468E"/>
      </a:hlink>
      <a:folHlink>
        <a:srgbClr val="6B4E9B"/>
      </a:folHlink>
    </a:clrScheme>
    <a:fontScheme name="AI Detective SCU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侦探——人工智能到底是什么？</dc:title>
  <dc:subject>人工智能创想实践 第一课</dc:subject>
  <dc:creator>华南理工大学</dc:creator>
  <cp:lastModifiedBy>华南理工大学</cp:lastModifiedBy>
  <cp:revision>1</cp:revision>
  <dcterms:created xsi:type="dcterms:W3CDTF">2026-10-15T06:28:08Z</dcterms:created>
  <dcterms:modified xsi:type="dcterms:W3CDTF">2026-10-15T06:28:08Z</dcterms:modified>
</cp:coreProperties>
</file>