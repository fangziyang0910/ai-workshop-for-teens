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Default Extension="mp4" ContentType="video/mp4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a0873b26db4bd3" /><Relationship Type="http://schemas.openxmlformats.org/officeDocument/2006/relationships/extended-properties" Target="/docProps/app.xml" Id="R0af631649b70421f" /><Relationship Type="http://schemas.openxmlformats.org/officeDocument/2006/relationships/officeDocument" Target="/ppt/presentation.xml" Id="Reeb08f3a6bf240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9a61fb8dcb4335"/>
  </p:sldMasterIdLst>
  <p:notesMasterIdLst>
    <p:notesMasterId xmlns:r="http://schemas.openxmlformats.org/officeDocument/2006/relationships" r:id="R1b6b7e96d88a4a56"/>
  </p:notesMasterIdLst>
  <p:sldIdLst>
    <p:sldId xmlns:r="http://schemas.openxmlformats.org/officeDocument/2006/relationships" id="256" r:id="R62815de046124107"/>
    <p:sldId xmlns:r="http://schemas.openxmlformats.org/officeDocument/2006/relationships" id="257" r:id="Rd2ea2cf332ca44f3"/>
    <p:sldId xmlns:r="http://schemas.openxmlformats.org/officeDocument/2006/relationships" id="258" r:id="R23a764f222bb44f5"/>
    <p:sldId xmlns:r="http://schemas.openxmlformats.org/officeDocument/2006/relationships" id="259" r:id="R59a1895f27bb4943"/>
    <p:sldId xmlns:r="http://schemas.openxmlformats.org/officeDocument/2006/relationships" id="260" r:id="Ra6245b4bfe0f4f3c"/>
    <p:sldId xmlns:r="http://schemas.openxmlformats.org/officeDocument/2006/relationships" id="261" r:id="Rfa70a53602bc41f4"/>
    <p:sldId xmlns:r="http://schemas.openxmlformats.org/officeDocument/2006/relationships" id="262" r:id="Rd6ca1d96627046f9"/>
    <p:sldId xmlns:r="http://schemas.openxmlformats.org/officeDocument/2006/relationships" id="263" r:id="R1f574f19943943e1"/>
    <p:sldId xmlns:r="http://schemas.openxmlformats.org/officeDocument/2006/relationships" id="264" r:id="R81c4d3641fba4461"/>
    <p:sldId xmlns:r="http://schemas.openxmlformats.org/officeDocument/2006/relationships" id="265" r:id="R8e21e8ec0e2949a2"/>
    <p:sldId xmlns:r="http://schemas.openxmlformats.org/officeDocument/2006/relationships" id="266" r:id="R62d5fefe52ed415b"/>
    <p:sldId xmlns:r="http://schemas.openxmlformats.org/officeDocument/2006/relationships" id="267" r:id="Rcbcbccea0ca04e45"/>
    <p:sldId xmlns:r="http://schemas.openxmlformats.org/officeDocument/2006/relationships" id="268" r:id="Ra6bf024c9caa4a25"/>
    <p:sldId xmlns:r="http://schemas.openxmlformats.org/officeDocument/2006/relationships" id="269" r:id="R61011ff5841b4ef0"/>
    <p:sldId xmlns:r="http://schemas.openxmlformats.org/officeDocument/2006/relationships" id="270" r:id="R3ebe22fb26694416"/>
    <p:sldId xmlns:r="http://schemas.openxmlformats.org/officeDocument/2006/relationships" id="271" r:id="Re5a5b001f432433c"/>
    <p:sldId xmlns:r="http://schemas.openxmlformats.org/officeDocument/2006/relationships" id="272" r:id="Rae4060fb66eb4ccf"/>
    <p:sldId xmlns:r="http://schemas.openxmlformats.org/officeDocument/2006/relationships" id="273" r:id="R48c6dbb181704f38"/>
    <p:sldId xmlns:r="http://schemas.openxmlformats.org/officeDocument/2006/relationships" id="274" r:id="R1b66fc1761b14a21"/>
    <p:sldId xmlns:r="http://schemas.openxmlformats.org/officeDocument/2006/relationships" id="275" r:id="R7498f95ec21141e5"/>
    <p:sldId xmlns:r="http://schemas.openxmlformats.org/officeDocument/2006/relationships" id="276" r:id="Rd45a8ce2ce3140e0"/>
    <p:sldId xmlns:r="http://schemas.openxmlformats.org/officeDocument/2006/relationships" id="277" r:id="Reef3447f3419431c"/>
    <p:sldId xmlns:r="http://schemas.openxmlformats.org/officeDocument/2006/relationships" id="278" r:id="Rc04164e57d4b40e5"/>
    <p:sldId xmlns:r="http://schemas.openxmlformats.org/officeDocument/2006/relationships" id="279" r:id="Rfc1928e34af04ee1"/>
    <p:sldId xmlns:r="http://schemas.openxmlformats.org/officeDocument/2006/relationships" id="280" r:id="Ra153e41b4db74be7"/>
    <p:sldId xmlns:r="http://schemas.openxmlformats.org/officeDocument/2006/relationships" id="281" r:id="Re3f95f9be1e841cb"/>
    <p:sldId xmlns:r="http://schemas.openxmlformats.org/officeDocument/2006/relationships" id="282" r:id="Rc700e556d26c4960"/>
    <p:sldId xmlns:r="http://schemas.openxmlformats.org/officeDocument/2006/relationships" id="283" r:id="Reacee1d9d2a84017"/>
    <p:sldId xmlns:r="http://schemas.openxmlformats.org/officeDocument/2006/relationships" id="284" r:id="Rc37a6bea9b0849be"/>
    <p:sldId xmlns:r="http://schemas.openxmlformats.org/officeDocument/2006/relationships" id="285" r:id="Rfbc65505b25b44ae"/>
    <p:sldId xmlns:r="http://schemas.openxmlformats.org/officeDocument/2006/relationships" id="286" r:id="Rf383b590da0546e4"/>
    <p:sldId xmlns:r="http://schemas.openxmlformats.org/officeDocument/2006/relationships" id="287" r:id="R565cf56280434a00"/>
    <p:sldId xmlns:r="http://schemas.openxmlformats.org/officeDocument/2006/relationships" id="288" r:id="Rcb551d3e1a68449c"/>
    <p:sldId xmlns:r="http://schemas.openxmlformats.org/officeDocument/2006/relationships" id="289" r:id="R4ed70d489aec45ed"/>
    <p:sldId xmlns:r="http://schemas.openxmlformats.org/officeDocument/2006/relationships" id="290" r:id="R75295210933d4b1d"/>
    <p:sldId xmlns:r="http://schemas.openxmlformats.org/officeDocument/2006/relationships" id="291" r:id="Rc0178f983deb4d54"/>
    <p:sldId xmlns:r="http://schemas.openxmlformats.org/officeDocument/2006/relationships" id="292" r:id="Rc965a808879a4aca"/>
    <p:sldId xmlns:r="http://schemas.openxmlformats.org/officeDocument/2006/relationships" id="293" r:id="Rb03a0b256b6c45ab"/>
    <p:sldId xmlns:r="http://schemas.openxmlformats.org/officeDocument/2006/relationships" id="294" r:id="Rf0963d87fda3457d"/>
    <p:sldId xmlns:r="http://schemas.openxmlformats.org/officeDocument/2006/relationships" id="295" r:id="Rfb54e4f3f0b144d8"/>
    <p:sldId xmlns:r="http://schemas.openxmlformats.org/officeDocument/2006/relationships" id="296" r:id="R91d61a82db6c4231"/>
    <p:sldId xmlns:r="http://schemas.openxmlformats.org/officeDocument/2006/relationships" id="297" r:id="R3baa9cc063db4c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b350f0c61e4f61" /><Relationship Type="http://schemas.openxmlformats.org/officeDocument/2006/relationships/slideMaster" Target="/ppt/slideMasters/slideMaster1.xml" Id="R4b9a61fb8dcb4335" /><Relationship Type="http://schemas.openxmlformats.org/officeDocument/2006/relationships/notesMaster" Target="/ppt/notesMasters/notesMaster1.xml" Id="R1b6b7e96d88a4a56" /><Relationship Type="http://schemas.openxmlformats.org/officeDocument/2006/relationships/presProps" Target="/ppt/presProps.xml" Id="Rb41bebd344a74774" /><Relationship Type="http://schemas.openxmlformats.org/officeDocument/2006/relationships/tableStyles" Target="/ppt/tableStyles.xml" Id="R1adeb72ccb4647e5" /><Relationship Type="http://schemas.openxmlformats.org/officeDocument/2006/relationships/slide" Target="/ppt/slides/slide1.xml" Id="R62815de046124107" /><Relationship Type="http://schemas.openxmlformats.org/officeDocument/2006/relationships/slide" Target="/ppt/slides/slide2.xml" Id="Rd2ea2cf332ca44f3" /><Relationship Type="http://schemas.openxmlformats.org/officeDocument/2006/relationships/slide" Target="/ppt/slides/slide3.xml" Id="R23a764f222bb44f5" /><Relationship Type="http://schemas.openxmlformats.org/officeDocument/2006/relationships/slide" Target="/ppt/slides/slide4.xml" Id="R59a1895f27bb4943" /><Relationship Type="http://schemas.openxmlformats.org/officeDocument/2006/relationships/slide" Target="/ppt/slides/slide5.xml" Id="Ra6245b4bfe0f4f3c" /><Relationship Type="http://schemas.openxmlformats.org/officeDocument/2006/relationships/slide" Target="/ppt/slides/slide6.xml" Id="Rfa70a53602bc41f4" /><Relationship Type="http://schemas.openxmlformats.org/officeDocument/2006/relationships/slide" Target="/ppt/slides/slide7.xml" Id="Rd6ca1d96627046f9" /><Relationship Type="http://schemas.openxmlformats.org/officeDocument/2006/relationships/slide" Target="/ppt/slides/slide8.xml" Id="R1f574f19943943e1" /><Relationship Type="http://schemas.openxmlformats.org/officeDocument/2006/relationships/slide" Target="/ppt/slides/slide9.xml" Id="R81c4d3641fba4461" /><Relationship Type="http://schemas.openxmlformats.org/officeDocument/2006/relationships/slide" Target="/ppt/slides/slide10.xml" Id="R8e21e8ec0e2949a2" /><Relationship Type="http://schemas.openxmlformats.org/officeDocument/2006/relationships/slide" Target="/ppt/slides/slide11.xml" Id="R62d5fefe52ed415b" /><Relationship Type="http://schemas.openxmlformats.org/officeDocument/2006/relationships/slide" Target="/ppt/slides/slide12.xml" Id="Rcbcbccea0ca04e45" /><Relationship Type="http://schemas.openxmlformats.org/officeDocument/2006/relationships/slide" Target="/ppt/slides/slide13.xml" Id="Ra6bf024c9caa4a25" /><Relationship Type="http://schemas.openxmlformats.org/officeDocument/2006/relationships/slide" Target="/ppt/slides/slide14.xml" Id="R61011ff5841b4ef0" /><Relationship Type="http://schemas.openxmlformats.org/officeDocument/2006/relationships/slide" Target="/ppt/slides/slide15.xml" Id="R3ebe22fb26694416" /><Relationship Type="http://schemas.openxmlformats.org/officeDocument/2006/relationships/slide" Target="/ppt/slides/slide16.xml" Id="Re5a5b001f432433c" /><Relationship Type="http://schemas.openxmlformats.org/officeDocument/2006/relationships/slide" Target="/ppt/slides/slide17.xml" Id="Rae4060fb66eb4ccf" /><Relationship Type="http://schemas.openxmlformats.org/officeDocument/2006/relationships/slide" Target="/ppt/slides/slide18.xml" Id="R48c6dbb181704f38" /><Relationship Type="http://schemas.openxmlformats.org/officeDocument/2006/relationships/slide" Target="/ppt/slides/slide19.xml" Id="R1b66fc1761b14a21" /><Relationship Type="http://schemas.openxmlformats.org/officeDocument/2006/relationships/slide" Target="/ppt/slides/slide20.xml" Id="R7498f95ec21141e5" /><Relationship Type="http://schemas.openxmlformats.org/officeDocument/2006/relationships/slide" Target="/ppt/slides/slide21.xml" Id="Rd45a8ce2ce3140e0" /><Relationship Type="http://schemas.openxmlformats.org/officeDocument/2006/relationships/slide" Target="/ppt/slides/slide22.xml" Id="Reef3447f3419431c" /><Relationship Type="http://schemas.openxmlformats.org/officeDocument/2006/relationships/slide" Target="/ppt/slides/slide23.xml" Id="Rc04164e57d4b40e5" /><Relationship Type="http://schemas.openxmlformats.org/officeDocument/2006/relationships/slide" Target="/ppt/slides/slide24.xml" Id="Rfc1928e34af04ee1" /><Relationship Type="http://schemas.openxmlformats.org/officeDocument/2006/relationships/slide" Target="/ppt/slides/slide25.xml" Id="Ra153e41b4db74be7" /><Relationship Type="http://schemas.openxmlformats.org/officeDocument/2006/relationships/slide" Target="/ppt/slides/slide26.xml" Id="Re3f95f9be1e841cb" /><Relationship Type="http://schemas.openxmlformats.org/officeDocument/2006/relationships/slide" Target="/ppt/slides/slide27.xml" Id="Rc700e556d26c4960" /><Relationship Type="http://schemas.openxmlformats.org/officeDocument/2006/relationships/slide" Target="/ppt/slides/slide28.xml" Id="Reacee1d9d2a84017" /><Relationship Type="http://schemas.openxmlformats.org/officeDocument/2006/relationships/slide" Target="/ppt/slides/slide29.xml" Id="Rc37a6bea9b0849be" /><Relationship Type="http://schemas.openxmlformats.org/officeDocument/2006/relationships/slide" Target="/ppt/slides/slide30.xml" Id="Rfbc65505b25b44ae" /><Relationship Type="http://schemas.openxmlformats.org/officeDocument/2006/relationships/slide" Target="/ppt/slides/slide31.xml" Id="Rf383b590da0546e4" /><Relationship Type="http://schemas.openxmlformats.org/officeDocument/2006/relationships/slide" Target="/ppt/slides/slide32.xml" Id="R565cf56280434a00" /><Relationship Type="http://schemas.openxmlformats.org/officeDocument/2006/relationships/slide" Target="/ppt/slides/slide33.xml" Id="Rcb551d3e1a68449c" /><Relationship Type="http://schemas.openxmlformats.org/officeDocument/2006/relationships/slide" Target="/ppt/slides/slide34.xml" Id="R4ed70d489aec45ed" /><Relationship Type="http://schemas.openxmlformats.org/officeDocument/2006/relationships/slide" Target="/ppt/slides/slide35.xml" Id="R75295210933d4b1d" /><Relationship Type="http://schemas.openxmlformats.org/officeDocument/2006/relationships/slide" Target="/ppt/slides/slide36.xml" Id="Rc0178f983deb4d54" /><Relationship Type="http://schemas.openxmlformats.org/officeDocument/2006/relationships/slide" Target="/ppt/slides/slide37.xml" Id="Rc965a808879a4aca" /><Relationship Type="http://schemas.openxmlformats.org/officeDocument/2006/relationships/slide" Target="/ppt/slides/slide38.xml" Id="Rb03a0b256b6c45ab" /><Relationship Type="http://schemas.openxmlformats.org/officeDocument/2006/relationships/slide" Target="/ppt/slides/slide39.xml" Id="Rf0963d87fda3457d" /><Relationship Type="http://schemas.openxmlformats.org/officeDocument/2006/relationships/slide" Target="/ppt/slides/slide40.xml" Id="Rfb54e4f3f0b144d8" /><Relationship Type="http://schemas.openxmlformats.org/officeDocument/2006/relationships/slide" Target="/ppt/slides/slide41.xml" Id="R91d61a82db6c4231" /><Relationship Type="http://schemas.openxmlformats.org/officeDocument/2006/relationships/slide" Target="/ppt/slides/slide42.xml" Id="R3baa9cc063db4c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62a199c4a749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1ab6cce16249ef" /><Relationship Type="http://schemas.openxmlformats.org/officeDocument/2006/relationships/notesMaster" Target="/ppt/notesMasters/notesMaster1.xml" Id="Rf33ea6a11fbd49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ba7fab66b64685" /><Relationship Type="http://schemas.openxmlformats.org/officeDocument/2006/relationships/notesMaster" Target="/ppt/notesMasters/notesMaster1.xml" Id="R6dc3a4893fe942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96c37c156340ac" /><Relationship Type="http://schemas.openxmlformats.org/officeDocument/2006/relationships/notesMaster" Target="/ppt/notesMasters/notesMaster1.xml" Id="R3a1c5f80525a43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a3fcb9b4b04bd4" /><Relationship Type="http://schemas.openxmlformats.org/officeDocument/2006/relationships/notesMaster" Target="/ppt/notesMasters/notesMaster1.xml" Id="Rbde93eb3bb324f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cd390d817a4dd2" /><Relationship Type="http://schemas.openxmlformats.org/officeDocument/2006/relationships/notesMaster" Target="/ppt/notesMasters/notesMaster1.xml" Id="R1965cff34b2749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b239e27b994288" /><Relationship Type="http://schemas.openxmlformats.org/officeDocument/2006/relationships/notesMaster" Target="/ppt/notesMasters/notesMaster1.xml" Id="R4d6d097f44564d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baea6cd6ac4b5e" /><Relationship Type="http://schemas.openxmlformats.org/officeDocument/2006/relationships/notesMaster" Target="/ppt/notesMasters/notesMaster1.xml" Id="R29068cebb94d46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b987cd72a74754" /><Relationship Type="http://schemas.openxmlformats.org/officeDocument/2006/relationships/notesMaster" Target="/ppt/notesMasters/notesMaster1.xml" Id="Rbc261cb096884c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0bc66fe46645f8" /><Relationship Type="http://schemas.openxmlformats.org/officeDocument/2006/relationships/notesMaster" Target="/ppt/notesMasters/notesMaster1.xml" Id="Rd83d727b37ec42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b2e821ee2a4583" /><Relationship Type="http://schemas.openxmlformats.org/officeDocument/2006/relationships/notesMaster" Target="/ppt/notesMasters/notesMaster1.xml" Id="R2aa85c8dc70c49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5f99409b39f4813" /><Relationship Type="http://schemas.openxmlformats.org/officeDocument/2006/relationships/notesMaster" Target="/ppt/notesMasters/notesMaster1.xml" Id="R1991bbf68bb64f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3b481a350254c2b" /><Relationship Type="http://schemas.openxmlformats.org/officeDocument/2006/relationships/notesMaster" Target="/ppt/notesMasters/notesMaster1.xml" Id="Rdff761603c96450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7ec5cf030d041c1" /><Relationship Type="http://schemas.openxmlformats.org/officeDocument/2006/relationships/notesMaster" Target="/ppt/notesMasters/notesMaster1.xml" Id="R15167769970b42c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7012a4ffbea49a0" /><Relationship Type="http://schemas.openxmlformats.org/officeDocument/2006/relationships/notesMaster" Target="/ppt/notesMasters/notesMaster1.xml" Id="Rae465c11b2ea4a9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4f913768bc4b1d" /><Relationship Type="http://schemas.openxmlformats.org/officeDocument/2006/relationships/notesMaster" Target="/ppt/notesMasters/notesMaster1.xml" Id="R8b7028a698c9468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10c3b9c865d4519" /><Relationship Type="http://schemas.openxmlformats.org/officeDocument/2006/relationships/notesMaster" Target="/ppt/notesMasters/notesMaster1.xml" Id="R30b7273468b2473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7db185edd9f4795" /><Relationship Type="http://schemas.openxmlformats.org/officeDocument/2006/relationships/notesMaster" Target="/ppt/notesMasters/notesMaster1.xml" Id="R185e9f12cb7b4e8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2ecd20712dd47b3" /><Relationship Type="http://schemas.openxmlformats.org/officeDocument/2006/relationships/notesMaster" Target="/ppt/notesMasters/notesMaster1.xml" Id="R722e8b876e0c482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433a07157b64d4e" /><Relationship Type="http://schemas.openxmlformats.org/officeDocument/2006/relationships/notesMaster" Target="/ppt/notesMasters/notesMaster1.xml" Id="Rba57ee9eef76495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eae3de5b6d043a7" /><Relationship Type="http://schemas.openxmlformats.org/officeDocument/2006/relationships/notesMaster" Target="/ppt/notesMasters/notesMaster1.xml" Id="Rcff8047204e0492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ea0641dd35b424f" /><Relationship Type="http://schemas.openxmlformats.org/officeDocument/2006/relationships/notesMaster" Target="/ppt/notesMasters/notesMaster1.xml" Id="Re219c3b082514cc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37f155a5f74416f" /><Relationship Type="http://schemas.openxmlformats.org/officeDocument/2006/relationships/notesMaster" Target="/ppt/notesMasters/notesMaster1.xml" Id="R8fff994df53a485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eb6b9cb24164521" /><Relationship Type="http://schemas.openxmlformats.org/officeDocument/2006/relationships/notesMaster" Target="/ppt/notesMasters/notesMaster1.xml" Id="R4b71f073f6274a0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efadcbac7d04f84" /><Relationship Type="http://schemas.openxmlformats.org/officeDocument/2006/relationships/notesMaster" Target="/ppt/notesMasters/notesMaster1.xml" Id="R20fd3806262e454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e09f6161a854cd5" /><Relationship Type="http://schemas.openxmlformats.org/officeDocument/2006/relationships/notesMaster" Target="/ppt/notesMasters/notesMaster1.xml" Id="R128145404d57463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a182187a7924166" /><Relationship Type="http://schemas.openxmlformats.org/officeDocument/2006/relationships/notesMaster" Target="/ppt/notesMasters/notesMaster1.xml" Id="R5995673b09404df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6c6bccb30464b9b" /><Relationship Type="http://schemas.openxmlformats.org/officeDocument/2006/relationships/notesMaster" Target="/ppt/notesMasters/notesMaster1.xml" Id="R84c8c265b620498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c83741e0fe8498c" /><Relationship Type="http://schemas.openxmlformats.org/officeDocument/2006/relationships/notesMaster" Target="/ppt/notesMasters/notesMaster1.xml" Id="R766ed6da6b404d3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4b1766daf2c4108" /><Relationship Type="http://schemas.openxmlformats.org/officeDocument/2006/relationships/notesMaster" Target="/ppt/notesMasters/notesMaster1.xml" Id="R9459928abe724ef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a8eb27670e146b9" /><Relationship Type="http://schemas.openxmlformats.org/officeDocument/2006/relationships/notesMaster" Target="/ppt/notesMasters/notesMaster1.xml" Id="Rb5de2f24e6e941b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3a1b912df524a38" /><Relationship Type="http://schemas.openxmlformats.org/officeDocument/2006/relationships/notesMaster" Target="/ppt/notesMasters/notesMaster1.xml" Id="Ra08c3b193e6b4a1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b3bac44bd4343e1" /><Relationship Type="http://schemas.openxmlformats.org/officeDocument/2006/relationships/notesMaster" Target="/ppt/notesMasters/notesMaster1.xml" Id="R057aa9169214447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7a1a8e1c2d64742" /><Relationship Type="http://schemas.openxmlformats.org/officeDocument/2006/relationships/notesMaster" Target="/ppt/notesMasters/notesMaster1.xml" Id="R6db63c9fdff244e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22e321f87d44b8f" /><Relationship Type="http://schemas.openxmlformats.org/officeDocument/2006/relationships/notesMaster" Target="/ppt/notesMasters/notesMaster1.xml" Id="Rb3565fd5df8c418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629b47a90094e28" /><Relationship Type="http://schemas.openxmlformats.org/officeDocument/2006/relationships/notesMaster" Target="/ppt/notesMasters/notesMaster1.xml" Id="R2a2e48f0308c4da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2791169433d4b47" /><Relationship Type="http://schemas.openxmlformats.org/officeDocument/2006/relationships/notesMaster" Target="/ppt/notesMasters/notesMaster1.xml" Id="R765b83e89e0941e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8b6359952064924" /><Relationship Type="http://schemas.openxmlformats.org/officeDocument/2006/relationships/notesMaster" Target="/ppt/notesMasters/notesMaster1.xml" Id="R3d6f4a1a7aa64ff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1b1aa772965420f" /><Relationship Type="http://schemas.openxmlformats.org/officeDocument/2006/relationships/notesMaster" Target="/ppt/notesMasters/notesMaster1.xml" Id="R8b2a7e76517249c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0672a8dec10c4cb0" /><Relationship Type="http://schemas.openxmlformats.org/officeDocument/2006/relationships/notesMaster" Target="/ppt/notesMasters/notesMaster1.xml" Id="R688200635c7549c1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40f73aa7c9d44e7" /><Relationship Type="http://schemas.openxmlformats.org/officeDocument/2006/relationships/notesMaster" Target="/ppt/notesMasters/notesMaster1.xml" Id="R53716ad4cfba47a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81d0a1abfed40f0" /><Relationship Type="http://schemas.openxmlformats.org/officeDocument/2006/relationships/notesMaster" Target="/ppt/notesMasters/notesMaster1.xml" Id="Ra89f121743304b1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a491d803e684e01" /><Relationship Type="http://schemas.openxmlformats.org/officeDocument/2006/relationships/notesMaster" Target="/ppt/notesMasters/notesMaster1.xml" Id="R653b101050774e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教学目的：说明本课主题，建立观看和讨论的共同目标。</a:t>
            </a:r>
          </a:p>
          <a:p xmlns:a="http://schemas.openxmlformats.org/drawingml/2006/main">
            <a:r>
              <a:t>讲解：今天先看近期AI作品，再用几个简单例子解释工作过程。最后亲手测试分类器，提出自己的作品想法。</a:t>
            </a:r>
          </a:p>
          <a:p xmlns:a="http://schemas.openxmlformats.org/drawingml/2006/main">
            <a:r>
              <a:t>课堂提问：你平时使用过哪种AI功能？</a:t>
            </a:r>
          </a:p>
          <a:p xmlns:a="http://schemas.openxmlformats.org/drawingml/2006/main">
            <a:r>
              <a:t>衔接：先看这些能力具体表现在哪里。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https://www.kimi.ai/blog/kimi-k3</a:t>
            </a:r>
          </a:p>
          <a:p xmlns:a="http://schemas.openxmlformats.org/drawingml/2006/main">
            <a:r>
              <a:t>https://seed.bytedance.com/en/seedance2_5</a:t>
            </a:r>
          </a:p>
          <a:p xmlns:a="http://schemas.openxmlformats.org/drawingml/2006/main">
            <a:r>
              <a:t>https://qwen.ai/blog?id=qwen3.8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教学目的：先给学生一张能力概览，避免把AI等同于聊天或生成视频。</a:t>
            </a:r>
          </a:p>
          <a:p xmlns:a="http://schemas.openxmlformats.org/drawingml/2006/main">
            <a:r>
              <a:t>讲解：这四类能力并不互相排斥。一个作品可能同时理解图像、生成程序，并调用其他工具。演示展示的是具体成功案例，后面还要测试条件变化后的表现。</a:t>
            </a:r>
          </a:p>
          <a:p xmlns:a="http://schemas.openxmlformats.org/drawingml/2006/main">
            <a:r>
              <a:t>课堂提问：哪一类与你已经用过的功能相近？</a:t>
            </a:r>
          </a:p>
          <a:p xmlns:a="http://schemas.openxmlformats.org/drawingml/2006/main">
            <a:r>
              <a:t>衔接：先看一个把解释变成可操作界面的例子。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教学目的：展示近期OpenAI交互式解释能力，联系学生熟悉的自行车。</a:t>
            </a:r>
          </a:p>
          <a:p xmlns:a="http://schemas.openxmlformats.org/drawingml/2006/main">
            <a:r>
              <a:t>讲解：此页是官方案例的中文说明，不是生成结果截图。联网时打开发布页，切换自行车部件，让学生观察说明如何随选择变化。不能把不同部件的固定交互动作都说成重新调用模型。无法访问时按本页讲清输入、结果与交互作用。</a:t>
            </a:r>
          </a:p>
          <a:p xmlns:a="http://schemas.openxmlformats.org/drawingml/2006/main">
            <a:r>
              <a:t>课堂提问：如果解释串并联电路，你希望能改变哪个条件？</a:t>
            </a:r>
          </a:p>
          <a:p xmlns:a="http://schemas.openxmlformats.org/drawingml/2006/main">
            <a:r>
              <a:t>衔接：同样可以把要求变成能操作的游戏。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https://openai.com/index/gpt-6-for-everyone/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教学目的：让学生看到生成程序的可见结果，并为后面的程序修改建立例子。</a:t>
            </a:r>
          </a:p>
          <a:p xmlns:a="http://schemas.openxmlformats.org/drawingml/2006/main">
            <a:r>
              <a:t>讲解：播放26秒官方游戏录屏。它展示作品运行，不包含完整生成过程，也不能据此判断所有功能一次生成就成功。教师用中文说明创作要求和实际操作。</a:t>
            </a:r>
          </a:p>
          <a:p xmlns:a="http://schemas.openxmlformats.org/drawingml/2006/main">
            <a:r>
              <a:t>课堂提问：角色怎样移动？</a:t>
            </a:r>
          </a:p>
          <a:p xmlns:a="http://schemas.openxmlformats.org/drawingml/2006/main">
            <a:r>
              <a:t>天气或光照能否改变？</a:t>
            </a:r>
          </a:p>
          <a:p xmlns:a="http://schemas.openxmlformats.org/drawingml/2006/main">
            <a:r>
              <a:t>衔接：除了生成作品，模型也能结合眼前画面进行交流。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https://www.kimi.ai/blog/kimi-k3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教学目的：展示图像、语音和上下文共同参与回答，连接后续展品讲解助手。</a:t>
            </a:r>
          </a:p>
          <a:p xmlns:a="http://schemas.openxmlformats.org/drawingml/2006/main">
            <a:r>
              <a:t>讲解：播放38秒官方展馆片段。请学生注意镜头中的展品和回答内容的联系。官方演示同时涉及视觉理解与语音交互，不能由这段录屏推断展品事实均已核实。课程后续先做文字版讲解助手，不承诺复现所有实时功能。</a:t>
            </a:r>
          </a:p>
          <a:p xmlns:a="http://schemas.openxmlformats.org/drawingml/2006/main">
            <a:r>
              <a:t>课堂提问：镜头换到新展品时，</a:t>
            </a:r>
          </a:p>
          <a:p xmlns:a="http://schemas.openxmlformats.org/drawingml/2006/main">
            <a:r>
              <a:t>回答是否跟着改变？</a:t>
            </a:r>
          </a:p>
          <a:p xmlns:a="http://schemas.openxmlformats.org/drawingml/2006/main">
            <a:r>
              <a:t>衔接：模型还可以根据要求生成画面和声音。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https://seed.bytedance.com/en/seedrealtime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教学目的：通过古诗意境说明画面、人物和声音的生成。</a:t>
            </a:r>
          </a:p>
          <a:p xmlns:a="http://schemas.openxmlformats.org/drawingml/2006/main">
            <a:r>
              <a:t>讲解：播放30秒官方古诗意境示例。说明这是AI生成的艺术创作，不能当作南宋历史影像，也不能把镜头细节当成史实。可问学生若给校园科技节做开场，会怎样改主题、场景或声音。</a:t>
            </a:r>
          </a:p>
          <a:p xmlns:a="http://schemas.openxmlformats.org/drawingml/2006/main">
            <a:r>
              <a:t>课堂提问：场景怎样转换？</a:t>
            </a:r>
          </a:p>
          <a:p xmlns:a="http://schemas.openxmlformats.org/drawingml/2006/main">
            <a:r>
              <a:t>人物和声音是否连贯？</a:t>
            </a:r>
          </a:p>
          <a:p xmlns:a="http://schemas.openxmlformats.org/drawingml/2006/main">
            <a:r>
              <a:t>衔接：生成结果还可以是能旋转、观察和修改的三维模型。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https://seed.bytedance.com/en/blog/one-take-creation-flexible-referencing-introducing-seedance-2-5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教学目的：补充三维设计与视觉信息处理，拓宽展示范围。</a:t>
            </a:r>
          </a:p>
          <a:p xmlns:a="http://schemas.openxmlformats.org/drawingml/2006/main">
            <a:r>
              <a:t>讲解：播放38秒官方多模态示例节选。原片对部分过程采用可视化呈现，最终三维模型由Qwen3.8-Max生成；不把全部画面当作逐步实时操作录屏。可联系教室或社团活动室的布局设计，不讨论工程软件细节。</a:t>
            </a:r>
          </a:p>
          <a:p xmlns:a="http://schemas.openxmlformats.org/drawingml/2006/main">
            <a:r>
              <a:t>课堂提问：怎样安排家具？</a:t>
            </a:r>
          </a:p>
          <a:p xmlns:a="http://schemas.openxmlformats.org/drawingml/2006/main">
            <a:r>
              <a:t>能否从不同角度查看？</a:t>
            </a:r>
          </a:p>
          <a:p xmlns:a="http://schemas.openxmlformats.org/drawingml/2006/main">
            <a:r>
              <a:t>衔接：这些模型也开始操作软件完成多步任务。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https://qwen.ai/blog?id=qwen3.8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教学目的：展示当前OpenAI的工具使用能力，将“能回答”扩展到“能操作和交付作品”。</a:t>
            </a:r>
          </a:p>
          <a:p xmlns:a="http://schemas.openxmlformats.org/drawingml/2006/main">
            <a:r>
              <a:t>讲解：此页链接到OpenAI官方视频，需联网播放，文件未内嵌该视频。选择其中能看清软件操作和输出的约30秒，不讲专业指标。若无法访问，结合官方发布页列出的制作游戏、分析数据和前端检查案例，解释多步任务。不要把模型描述为任何任务都能独立完成。</a:t>
            </a:r>
          </a:p>
          <a:p xmlns:a="http://schemas.openxmlformats.org/drawingml/2006/main">
            <a:r>
              <a:t>课堂提问：它做了哪些操作？</a:t>
            </a:r>
          </a:p>
          <a:p xmlns:a="http://schemas.openxmlformats.org/drawingml/2006/main">
            <a:r>
              <a:t>怎样查看和修改结果？</a:t>
            </a:r>
          </a:p>
          <a:p xmlns:a="http://schemas.openxmlformats.org/drawingml/2006/main">
            <a:r>
              <a:t>衔接：把这些能力连接到学生自己能完成的两项课程作品。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https://openai.com/index/gpt-6-astra/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教学目的：让兴趣落到具体任务，结束能力展示并连接课程目标。</a:t>
            </a:r>
          </a:p>
          <a:p xmlns:a="http://schemas.openxmlformats.org/drawingml/2006/main">
            <a:r>
              <a:t>讲解：请学生快速选择一个方向，两人各提一项修改。无需现场生成。把“更酷”“更智能”追问成能看见的变化，如速度、讲解顺序或场景。</a:t>
            </a:r>
          </a:p>
          <a:p xmlns:a="http://schemas.openxmlformats.org/drawingml/2006/main">
            <a:r>
              <a:t>课堂提问：你会改哪一处，怎样检查？</a:t>
            </a:r>
          </a:p>
          <a:p xmlns:a="http://schemas.openxmlformats.org/drawingml/2006/main">
            <a:r>
              <a:t>衔接：这十次课将用两项作品练习这些工作。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教学目的：明确学生能在课程中完成的作品及自己的工作。</a:t>
            </a:r>
          </a:p>
          <a:p xmlns:a="http://schemas.openxmlformats.org/drawingml/2006/main">
            <a:r>
              <a:t>讲解：这两项是课程作品要求，不是前沿演示的全部功能复现。视觉项目由电脑分类、micro:bit显示；语言项目先完成基于资料的文字讲解，再增加检索和分支。本课不进行主板编程。</a:t>
            </a:r>
          </a:p>
          <a:p xmlns:a="http://schemas.openxmlformats.org/drawingml/2006/main">
            <a:r>
              <a:t>课堂提问：你想先让哪一位同学来用作品？</a:t>
            </a:r>
          </a:p>
          <a:p xmlns:a="http://schemas.openxmlformats.org/drawingml/2006/main">
            <a:r>
              <a:t>衔接：查看十次课怎样分配这些任务。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教学目的：让学生知道课程进程和实践内容，形成继续学习的具体期待。</a:t>
            </a:r>
          </a:p>
          <a:p xmlns:a="http://schemas.openxmlformats.org/drawingml/2006/main">
            <a:r>
              <a:t>讲解：逐段介绍四个学习阶段，强调每次课的工作有先后关系。先学会分类，再连接显示；先有可靠资料，再做检索和挑战。</a:t>
            </a:r>
          </a:p>
          <a:p xmlns:a="http://schemas.openxmlformats.org/drawingml/2006/main">
            <a:r>
              <a:t>课堂提问：第4课为什么安排在第一次建模之后？</a:t>
            </a:r>
          </a:p>
          <a:p xmlns:a="http://schemas.openxmlformats.org/drawingml/2006/main">
            <a:r>
              <a:t>衔接：今天先练习解释工作过程和检查结果。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教学目的：说明每项活动要完成什么、练习什么。</a:t>
            </a:r>
          </a:p>
          <a:p xmlns:a="http://schemas.openxmlformats.org/drawingml/2006/main">
            <a:r>
              <a:t>讲解：这一页连接目标和任务。卡牌练习判断依据；分类器让每个人测试；资料核对检查回答；课末把想法写具体。</a:t>
            </a:r>
          </a:p>
          <a:p xmlns:a="http://schemas.openxmlformats.org/drawingml/2006/main">
            <a:r>
              <a:t>课堂提问：你最想先弄清哪一个过程？</a:t>
            </a:r>
          </a:p>
          <a:p xmlns:a="http://schemas.openxmlformats.org/drawingml/2006/main">
            <a:r>
              <a:t>衔接：先用同一种功能的两种做法说明判断依据。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教学目的：区分可见功能和实现方法，给卡牌活动一个清楚的起点。</a:t>
            </a:r>
          </a:p>
          <a:p xmlns:a="http://schemas.openxmlformats.org/drawingml/2006/main">
            <a:r>
              <a:t>讲解：先读两种做法，再归纳判断需要技术线索。这里比较的是两种具体答疑页，不把所有规则推理排除在AI之外。</a:t>
            </a:r>
          </a:p>
          <a:p xmlns:a="http://schemas.openxmlformats.org/drawingml/2006/main">
            <a:r>
              <a:t>课堂提问：如果只知道它“会回答”，还缺什么信息？</a:t>
            </a:r>
          </a:p>
          <a:p xmlns:a="http://schemas.openxmlformats.org/drawingml/2006/main">
            <a:r>
              <a:t>衔接：用八张卡练习根据说明判断。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教学目的：通过分类和解释练习证据判断，允许信息不足或分阶段回答。</a:t>
            </a:r>
          </a:p>
          <a:p xmlns:a="http://schemas.openxmlformats.org/drawingml/2006/main">
            <a:r>
              <a:t>讲解：使用学生活动材料第1～3页。固定提醒和关键词答疑只用普通规则；文具分类、从记录学习的视频推荐和短片生成明确用AI；手表与未说明做法的音乐推荐信息不足。AI写的游戏需分别说明创作与运行。90分钟版重点讨论四张，但仍让每人解释一张。</a:t>
            </a:r>
          </a:p>
          <a:p xmlns:a="http://schemas.openxmlformats.org/drawingml/2006/main">
            <a:r>
              <a:t>课堂提问：哪张卡最有分歧？卡片哪句话支持你的判断？</a:t>
            </a:r>
          </a:p>
          <a:p xmlns:a="http://schemas.openxmlformats.org/drawingml/2006/main">
            <a:r>
              <a:t>衔接：先讨论缺少做法说明的手表。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教学目的：用两个可能实现解释“信息不足”为何是合理答案。</a:t>
            </a:r>
          </a:p>
          <a:p xmlns:a="http://schemas.openxmlformats.org/drawingml/2006/main">
            <a:r>
              <a:t>讲解：两种做法都能产生建议，但实现方式不同。真实手表可能混合多个模块；本题需要补足方法说明。</a:t>
            </a:r>
          </a:p>
          <a:p xmlns:a="http://schemas.openxmlformats.org/drawingml/2006/main">
            <a:r>
              <a:t>课堂提问：你会向产品说明书寻找哪类信息？</a:t>
            </a:r>
          </a:p>
          <a:p xmlns:a="http://schemas.openxmlformats.org/drawingml/2006/main">
            <a:r>
              <a:t>衔接：再看需要按阶段区分的游戏卡片。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教学目的：区分创作与运行，避免把作品所有行为都归给AI模型。</a:t>
            </a:r>
          </a:p>
          <a:p xmlns:a="http://schemas.openxmlformats.org/drawingml/2006/main">
            <a:r>
              <a:t>讲解：请学生说出两个阶段的输入与输出。其他游戏可以在运行时调用AI，本例只按卡片信息判断。</a:t>
            </a:r>
          </a:p>
          <a:p xmlns:a="http://schemas.openxmlformats.org/drawingml/2006/main">
            <a:r>
              <a:t>课堂提问：按键控制角色移动时，输入和输出各是什么？</a:t>
            </a:r>
          </a:p>
          <a:p xmlns:a="http://schemas.openxmlformats.org/drawingml/2006/main">
            <a:r>
              <a:t>衔接：将前面案例归纳为AI的基本含义。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教学目的：建立准确且可理解的定义，并连接已经看过的案例。</a:t>
            </a:r>
          </a:p>
          <a:p xmlns:a="http://schemas.openxmlformats.org/drawingml/2006/main">
            <a:r>
              <a:t>讲解：不要求背定义。指出自动化是现象，AI涉及的具体方法还要看模型或知识推理等说明。不要把“从样本学习”当成唯一AI形式，也不要把简单提醒拔高成知识推理系统。</a:t>
            </a:r>
          </a:p>
          <a:p xmlns:a="http://schemas.openxmlformats.org/drawingml/2006/main">
            <a:r>
              <a:t>课堂提问：从今天的案例中选一项，说出它的输入和任务。</a:t>
            </a:r>
          </a:p>
          <a:p xmlns:a="http://schemas.openxmlformats.org/drawingml/2006/main">
            <a:r>
              <a:t>衔接：用手写数字说明为什么需要从例子学习。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https://www.oecd.org/en/publications/explanatory-memorandum-on-the-updated-oecd-definition-of-an-ai-system_623da898-en.html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教学目的：用熟悉的分类问题解释学习样本的作用。</a:t>
            </a:r>
          </a:p>
          <a:p xmlns:a="http://schemas.openxmlformats.org/drawingml/2006/main">
            <a:r>
              <a:t>讲解：先让学生认出三个3，再尝试描述通用规则。保留“写规则难”这一经验，不宣称任何规则方法都不可行。图片来自经典科普，用于解释原理，不作为2026年能力展示。</a:t>
            </a:r>
          </a:p>
          <a:p xmlns:a="http://schemas.openxmlformats.org/drawingml/2006/main">
            <a:r>
              <a:t>课堂提问：你写的规则能覆盖另一位同学的写法吗？</a:t>
            </a:r>
          </a:p>
          <a:p xmlns:a="http://schemas.openxmlformats.org/drawingml/2006/main">
            <a:r>
              <a:t>衔接：看已有模型怎样根据图片给出预测。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https://www.3blue1brown.com/lessons/neural-networks/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教学目的：用可视化解释预测过程，和下一页训练过程分开。</a:t>
            </a:r>
          </a:p>
          <a:p xmlns:a="http://schemas.openxmlformats.org/drawingml/2006/main">
            <a:r>
              <a:t>讲解：内嵌为约7秒无讲解动画，可重复一次并用中文讲解约1分钟：图片转换成数值，已有模型经过计算给出预测。动画中的网络和结果属于原示例，不是本课文具分类器。不讲矩阵与微积分。</a:t>
            </a:r>
          </a:p>
          <a:p xmlns:a="http://schemas.openxmlformats.org/drawingml/2006/main">
            <a:r>
              <a:t>课堂提问：图片进入模型后，</a:t>
            </a:r>
          </a:p>
          <a:p xmlns:a="http://schemas.openxmlformats.org/drawingml/2006/main">
            <a:r>
              <a:t>输出怎样表示类别？</a:t>
            </a:r>
          </a:p>
          <a:p xmlns:a="http://schemas.openxmlformats.org/drawingml/2006/main">
            <a:r>
              <a:t>衔接：回到文具分类器，先看模型的学习阶段。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https://www.3blue1brown.com/lessons/neural-networks/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教学目的：解释样本、类别和模型的关系。</a:t>
            </a:r>
          </a:p>
          <a:p xmlns:a="http://schemas.openxmlformats.org/drawingml/2006/main">
            <a:r>
              <a:t>讲解：展示教师实际准备的样本。课堂工具可使用已有视觉特征能力，再用标注样本建立或调整分类部分；不是从零训练完整视觉大模型。第一课用笔和橡皮演示，第2课起按项目手册采集胶棒、橡皮和空背景，也可选择自己的类别。</a:t>
            </a:r>
          </a:p>
          <a:p xmlns:a="http://schemas.openxmlformats.org/drawingml/2006/main">
            <a:r>
              <a:t>课堂提问：如果样本全部来自同一张白桌面，可能遗漏什么情况？</a:t>
            </a:r>
          </a:p>
          <a:p xmlns:a="http://schemas.openxmlformats.org/drawingml/2006/main">
            <a:r>
              <a:t>衔接：再看保存模型后的使用阶段。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教学目的：区分学习和使用，为后面的换条件测试建立解释。</a:t>
            </a:r>
          </a:p>
          <a:p xmlns:a="http://schemas.openxmlformats.org/drawingml/2006/main">
            <a:r>
              <a:t>讲解：教师展示一张未用于建模的新图片，实际结果以分类器为准。常规推理不自动更新模型参数；如工具另有在线学习机制，应单独说明。</a:t>
            </a:r>
          </a:p>
          <a:p xmlns:a="http://schemas.openxmlformats.org/drawingml/2006/main">
            <a:r>
              <a:t>课堂提问：现在换一张图片，改变的是输入还是模型？</a:t>
            </a:r>
          </a:p>
          <a:p xmlns:a="http://schemas.openxmlformats.org/drawingml/2006/main">
            <a:r>
              <a:t>衔接：文字模型也需要区分训练和当前输入。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教学目的：解释语言模型的基本工作逻辑，不引入不必要的术语。</a:t>
            </a:r>
          </a:p>
          <a:p xmlns:a="http://schemas.openxmlformats.org/drawingml/2006/main">
            <a:r>
              <a:t>讲解：此处省去token等名词，保留逐步生成和上下文两个概念。不是每次都从数据库复制一条现成答案。资料能约束回答，但回答通顺不保证每条事实都有依据。</a:t>
            </a:r>
          </a:p>
          <a:p xmlns:a="http://schemas.openxmlformats.org/drawingml/2006/main">
            <a:r>
              <a:t>课堂提问：它为什么可能写出资料中没有的内容？</a:t>
            </a:r>
          </a:p>
          <a:p xmlns:a="http://schemas.openxmlformats.org/drawingml/2006/main">
            <a:r>
              <a:t>衔接：查看模型在完整应用中还与哪些程序配合。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https://www.3blue1brown.com/lessons/mini-llm/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教学目的：说明模型、程序和设备怎样配合完成任务。</a:t>
            </a:r>
          </a:p>
          <a:p xmlns:a="http://schemas.openxmlformats.org/drawingml/2006/main">
            <a:r>
              <a:t>讲解：用课程两个项目说明模型负责的工作和普通程序、设备或工具的工作。工具使用不是模型凭空获得新知识；程序把工具结果作为信息交给模型继续处理。</a:t>
            </a:r>
          </a:p>
          <a:p xmlns:a="http://schemas.openxmlformats.org/drawingml/2006/main">
            <a:r>
              <a:t>课堂提问：物品识别提示器中，micro:bit需要自己训练分类模型吗？</a:t>
            </a:r>
          </a:p>
          <a:p xmlns:a="http://schemas.openxmlformats.org/drawingml/2006/main">
            <a:r>
              <a:t>衔接：接下来只改变图片输入，测试已有分类器。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教学目的：休息并完成测试设备准备。</a:t>
            </a:r>
          </a:p>
          <a:p xmlns:a="http://schemas.openxmlformats.org/drawingml/2006/main">
            <a:r>
              <a:t>讲解：120分钟版57～62分钟，90分钟版40～45分钟。教师检查分类器、摄像头和两种背景，准备小组测试记录。不要提前宣布预测结果。</a:t>
            </a:r>
          </a:p>
          <a:p xmlns:a="http://schemas.openxmlformats.org/drawingml/2006/main">
            <a:r>
              <a:t>课堂提问：先保留你的猜想。</a:t>
            </a:r>
          </a:p>
          <a:p xmlns:a="http://schemas.openxmlformats.org/drawingml/2006/main">
            <a:r>
              <a:t>衔接：每个人轮流测试一次。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教学目的：让每位学生实际体验输入条件与预测表现的关系。</a:t>
            </a:r>
          </a:p>
          <a:p xmlns:a="http://schemas.openxmlformats.org/drawingml/2006/main">
            <a:r>
              <a:t>讲解：每组共享一台电脑，每人轮流操作。先换背景，再按时间选择角度、距离或同类物品，一次只改一项。图片为AI生成物品示意，不是预测截图。若模型不能运行，使用预先保存的真实输入和预测结果，并说明未实时运行。</a:t>
            </a:r>
          </a:p>
          <a:p xmlns:a="http://schemas.openxmlformats.org/drawingml/2006/main">
            <a:r>
              <a:t>课堂提问：你认为结果会怎样？依据是什么？</a:t>
            </a:r>
          </a:p>
          <a:p xmlns:a="http://schemas.openxmlformats.org/drawingml/2006/main">
            <a:r>
              <a:t>衔接：把两次有代表性的测试写到记录表。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教学目的：让学生把预测、观察和解释分开记录。</a:t>
            </a:r>
          </a:p>
          <a:p xmlns:a="http://schemas.openxmlformats.org/drawingml/2006/main">
            <a:r>
              <a:t>讲解：对应学生活动材料第4页的两行测试记录。不要预先填入成功、失败、类别或置信度。发现或疑问可以在小组讨论后填写。</a:t>
            </a:r>
          </a:p>
          <a:p xmlns:a="http://schemas.openxmlformats.org/drawingml/2006/main">
            <a:r>
              <a:t>课堂提问：你记录的是实际现象，还是你对原因的猜测？</a:t>
            </a:r>
          </a:p>
          <a:p xmlns:a="http://schemas.openxmlformats.org/drawingml/2006/main">
            <a:r>
              <a:t>衔接：用记录说明可能原因，再决定下一次测试。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教学目的：避免把一次出错直接当成原因已经证明。</a:t>
            </a:r>
          </a:p>
          <a:p xmlns:a="http://schemas.openxmlformats.org/drawingml/2006/main">
            <a:r>
              <a:t>讲解：请两组各描述一个真实现象。若预测改变，先检查是否同时改变光照或物品位置。若预测不变，也可以继续测试另一件同类物品。接受多种结果，不为了制造失败而预设答案。</a:t>
            </a:r>
          </a:p>
          <a:p xmlns:a="http://schemas.openxmlformats.org/drawingml/2006/main">
            <a:r>
              <a:t>课堂提问：哪一次测试最能帮助你区分两种解释？</a:t>
            </a:r>
          </a:p>
          <a:p xmlns:a="http://schemas.openxmlformats.org/drawingml/2006/main">
            <a:r>
              <a:t>衔接：根据发现选择需要补充的样本。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教学目的：把测试与改进连接起来，为第2～4课的数据工作作准备。</a:t>
            </a:r>
          </a:p>
          <a:p xmlns:a="http://schemas.openxmlformats.org/drawingml/2006/main">
            <a:r>
              <a:t>讲解：不宣布补充样本后必然成功。选择一个实际失败条件，补充与问题相关的样本，再用相同测试集比较。第一课只需提出改进计划，后续再自己训练。</a:t>
            </a:r>
          </a:p>
          <a:p xmlns:a="http://schemas.openxmlformats.org/drawingml/2006/main">
            <a:r>
              <a:t>课堂提问：哪种样本对应你们刚才遇到的问题？</a:t>
            </a:r>
          </a:p>
          <a:p xmlns:a="http://schemas.openxmlformats.org/drawingml/2006/main">
            <a:r>
              <a:t>衔接：除了改模型，还可以给AI生成的程序提出修改要求。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教学目的：用收集星星小游戏练习描述操作和结果。</a:t>
            </a:r>
          </a:p>
          <a:p xmlns:a="http://schemas.openxmlformats.org/drawingml/2006/main">
            <a:r>
              <a:t>讲解：此处开始的是独立的课堂小游戏，不冒充前面Kimi官方作品。教师课前准备能运行的版本，运行时仅用固定规则。生成式AI由教师投屏，不要求学生注册账号。</a:t>
            </a:r>
          </a:p>
          <a:p xmlns:a="http://schemas.openxmlformats.org/drawingml/2006/main">
            <a:r>
              <a:t>课堂提问：哪句话说明了操作，哪句话说明了结果？</a:t>
            </a:r>
          </a:p>
          <a:p xmlns:a="http://schemas.openxmlformats.org/drawingml/2006/main">
            <a:r>
              <a:t>衔接：选择一项小改动，并先约定怎样检查。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教学目的：让学生理解明确要求与验证方法之间的关系。</a:t>
            </a:r>
          </a:p>
          <a:p xmlns:a="http://schemas.openxmlformats.org/drawingml/2006/main">
            <a:r>
              <a:t>讲解：教师接受一个学生建议，优先选择速度、分数或一个可见元素。此页给出降速示例，不把未知现场建议事先说成已经实现。避免同时改很多功能而看不清原因。</a:t>
            </a:r>
          </a:p>
          <a:p xmlns:a="http://schemas.openxmlformats.org/drawingml/2006/main">
            <a:r>
              <a:t>课堂提问：如果要改成“加倍计分”，检查方法应怎样变？</a:t>
            </a:r>
          </a:p>
          <a:p xmlns:a="http://schemas.openxmlformats.org/drawingml/2006/main">
            <a:r>
              <a:t>衔接：运行两个版本，判断是否符合要求。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教学目的：使程序修改形成可观察的验证活动。</a:t>
            </a:r>
          </a:p>
          <a:p xmlns:a="http://schemas.openxmlformats.org/drawingml/2006/main">
            <a:r>
              <a:t>讲解：两个课堂程序及其实际画面已配套。教师分别打开原版和修改版，使用“向右移动2秒”按钮，再检查计分和重新开始。截图来自相同起点的实际测试，不是模拟结果。若链接被软件拦截，可在课堂演示文件夹中用浏览器打开。</a:t>
            </a:r>
          </a:p>
          <a:p xmlns:a="http://schemas.openxmlformats.org/drawingml/2006/main">
            <a:r>
              <a:t>课堂提问：修改实现了吗？原有功能还正常吗？</a:t>
            </a:r>
          </a:p>
          <a:p xmlns:a="http://schemas.openxmlformats.org/drawingml/2006/main">
            <a:r>
              <a:t>衔接：归纳人在AI辅助制作中承担的工作。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教学目的：连接能力展示、课程项目和实际操作，避免只强调提示词。</a:t>
            </a:r>
          </a:p>
          <a:p xmlns:a="http://schemas.openxmlformats.org/drawingml/2006/main">
            <a:r>
              <a:t>讲解：请学生从今天已做的操作中找出自己的工作。模型能协助生成和检查，但学生需要理解用途、提供信息，并对最终版本作判断。</a:t>
            </a:r>
          </a:p>
          <a:p xmlns:a="http://schemas.openxmlformats.org/drawingml/2006/main">
            <a:r>
              <a:t>课堂提问：刚才哪一步需要你们自己作决定？</a:t>
            </a:r>
          </a:p>
          <a:p xmlns:a="http://schemas.openxmlformats.org/drawingml/2006/main">
            <a:r>
              <a:t>衔接：接下来检查一段看起来很完整的回答。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教学目的：把来源和回答放在同一页，方便学生逐条比较。</a:t>
            </a:r>
          </a:p>
          <a:p xmlns:a="http://schemas.openxmlformats.org/drawingml/2006/main">
            <a:r>
              <a:t>讲解：给约30秒阅读，再请学生分别核对两条说法。社团为虚构课堂案例，回答由教师编写，不冒充真实模型输出。</a:t>
            </a:r>
          </a:p>
          <a:p xmlns:a="http://schemas.openxmlformats.org/drawingml/2006/main">
            <a:r>
              <a:t>课堂提问：哪句话有依据？还要查什么？</a:t>
            </a:r>
          </a:p>
          <a:p xmlns:a="http://schemas.openxmlformats.org/drawingml/2006/main">
            <a:r>
              <a:t>衔接：区分“缺少依据”和“已经证实错误”。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教学目的：给出检查依据的明确结论和下一步动作。</a:t>
            </a:r>
          </a:p>
          <a:p xmlns:a="http://schemas.openxmlformats.org/drawingml/2006/main">
            <a:r>
              <a:t>讲解：费用可能真实，也可能错误；本页证据只能支持“当前没有依据”。学生要说出与这个社团有关的可靠核实渠道，不能只答“再问一次AI”。</a:t>
            </a:r>
          </a:p>
          <a:p xmlns:a="http://schemas.openxmlformats.org/drawingml/2006/main">
            <a:r>
              <a:t>课堂提问：如果第二次AI给出同样的50元，依据增加了吗？</a:t>
            </a:r>
          </a:p>
          <a:p xmlns:a="http://schemas.openxmlformats.org/drawingml/2006/main">
            <a:r>
              <a:t>衔接：再比较两个具体任务怎样选工具。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教学目的：按任务需要选工具，不以是否使用AI评价方案高低。</a:t>
            </a:r>
          </a:p>
          <a:p xmlns:a="http://schemas.openxmlformats.org/drawingml/2006/main">
            <a:r>
              <a:t>讲解：请学生比较两种任务所需的信息和处理方法。对答案固定且资料很少的场景，也接受整理好的问答页。学生需说明为什么选它，以及怎样检查效果。</a:t>
            </a:r>
          </a:p>
          <a:p xmlns:a="http://schemas.openxmlformats.org/drawingml/2006/main">
            <a:r>
              <a:t>课堂提问：什么情况下直接看活动通知更方便？</a:t>
            </a:r>
          </a:p>
          <a:p xmlns:a="http://schemas.openxmlformats.org/drawingml/2006/main">
            <a:r>
              <a:t>衔接：最后检查我们怎样理解AI的语言表现。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教学目的：区分礼貌表达与情绪体验，理解语言模型怎样产生回答。</a:t>
            </a:r>
          </a:p>
          <a:p xmlns:a="http://schemas.openxmlformats.org/drawingml/2006/main">
            <a:r>
              <a:t>讲解：允许学生使用日常礼貌语。重点是仅凭一句话不能证明人的情绪或经历，不展开没有必要的哲学争论。</a:t>
            </a:r>
          </a:p>
          <a:p xmlns:a="http://schemas.openxmlformats.org/drawingml/2006/main">
            <a:r>
              <a:t>课堂提问：你会怎样解释这句话是怎样产生的？</a:t>
            </a:r>
          </a:p>
          <a:p xmlns:a="http://schemas.openxmlformats.org/drawingml/2006/main">
            <a:r>
              <a:t>衔接：把今天的经验整理成具体的使用做法。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教学目的：把合理使用落到学生能执行的动作。</a:t>
            </a:r>
          </a:p>
          <a:p xmlns:a="http://schemas.openxmlformats.org/drawingml/2006/main">
            <a:r>
              <a:t>讲解：联系今天保护私人信息、核对社团费用和比较程序版本的操作，分别说明检查方法。生成式AI由教师操作，学生本课无须注册账号。</a:t>
            </a:r>
          </a:p>
          <a:p xmlns:a="http://schemas.openxmlformats.org/drawingml/2006/main">
            <a:r>
              <a:t>课堂提问：你今天已经做了其中哪项检查？</a:t>
            </a:r>
          </a:p>
          <a:p xmlns:a="http://schemas.openxmlformats.org/drawingml/2006/main">
            <a:r>
              <a:t>衔接：为自己的工具明确使用者和一项任务。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教学目的：提供一个完整示例，帮助学生写出可实践的想法。</a:t>
            </a:r>
          </a:p>
          <a:p xmlns:a="http://schemas.openxmlformats.org/drawingml/2006/main">
            <a:r>
              <a:t>讲解：这是构思方法示例，不是限定所有小组都做同一主题。学生可以选择社团物品整理、兴趣知识讲解等，但要先缩小为一个使用者的一项任务。</a:t>
            </a:r>
          </a:p>
          <a:p xmlns:a="http://schemas.openxmlformats.org/drawingml/2006/main">
            <a:r>
              <a:t>课堂提问：你愿意先帮助哪一位同学？</a:t>
            </a:r>
          </a:p>
          <a:p xmlns:a="http://schemas.openxmlformats.org/drawingml/2006/main">
            <a:r>
              <a:t>衔接：把想法和今天的理解写到个人记录。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教学目的：收集个人理解和后续兴趣，不用小组结果替代个人表达。</a:t>
            </a:r>
          </a:p>
          <a:p xmlns:a="http://schemas.openxmlformats.org/drawingml/2006/main">
            <a:r>
              <a:t>讲解：对应学生活动材料第5页。独立填写，不要求长段文字。第2题需要区分模型或程序的工作，第3题需要具体来源，第4题写使用者和任务。</a:t>
            </a:r>
          </a:p>
          <a:p xmlns:a="http://schemas.openxmlformats.org/drawingml/2006/main">
            <a:r>
              <a:t>课堂提问：如有不明白的词，先用你自己的话说明例子。</a:t>
            </a:r>
          </a:p>
          <a:p xmlns:a="http://schemas.openxmlformats.org/drawingml/2006/main">
            <a:r>
              <a:t>衔接：用一个完整例子收束全课。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教学目的：用分类器说明任务、样本、预测和测试之间的关系。</a:t>
            </a:r>
          </a:p>
          <a:p xmlns:a="http://schemas.openxmlformats.org/drawingml/2006/main">
            <a:r>
              <a:t>讲解：让学生补充一句自己真实观察到的结果。回顾能力、学习、使用和测试之间的关系，不重复背定义。</a:t>
            </a:r>
          </a:p>
          <a:p xmlns:a="http://schemas.openxmlformats.org/drawingml/2006/main">
            <a:r>
              <a:t>课堂提问：你们的测试为这个例子补充了哪条信息？</a:t>
            </a:r>
          </a:p>
          <a:p xmlns:a="http://schemas.openxmlformats.org/drawingml/2006/main">
            <a:r>
              <a:t>衔接：预告下一课亲手采样和建模。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教学目的：给学生清楚、可完成的课前准备和课后观察。</a:t>
            </a:r>
          </a:p>
          <a:p xmlns:a="http://schemas.openxmlformats.org/drawingml/2006/main">
            <a:r>
              <a:t>讲解：下一课主题与课程大纲保持一致：采样、建模和保存。没有家庭电脑的学生可以先做观察与物品准备，不注册新的平台账号。</a:t>
            </a:r>
          </a:p>
          <a:p xmlns:a="http://schemas.openxmlformats.org/drawingml/2006/main">
            <a:r>
              <a:t>课堂提问：你准备选哪两类物品？</a:t>
            </a:r>
          </a:p>
          <a:p xmlns:a="http://schemas.openxmlformats.org/drawingml/2006/main">
            <a:r>
              <a:t>衔接：第42页为来源与延伸阅读，可按需要展示。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教学目的：提供可追溯的官方来源与延伸阅读，不承担新知识讲解。</a:t>
            </a:r>
          </a:p>
          <a:p xmlns:a="http://schemas.openxmlformats.org/drawingml/2006/main">
            <a:r>
              <a:t>讲解：演示按各页日期标注，不把经典原理视频称为最新能力。OpenAI视频和交互案例需联网；四段国内模型展示与一段原理动画已内嵌。教师课前检查视频、音量和网络。</a:t>
            </a:r>
          </a:p>
          <a:p xmlns:a="http://schemas.openxmlformats.org/drawingml/2006/main">
            <a:r>
              <a:t>课堂提问：有兴趣的同学可由老师或家长陪同查看资料。</a:t>
            </a:r>
          </a:p>
          <a:p xmlns:a="http://schemas.openxmlformats.org/drawingml/2006/main">
            <a:r>
              <a:t>衔接：课程结束。</a:t>
            </a:r>
          </a:p>
          <a:p xmlns:a="http://schemas.openxmlformats.org/drawingml/2006/main">
            <a:r>
              <a:t>资料来源：</a:t>
            </a:r>
          </a:p>
          <a:p xmlns:a="http://schemas.openxmlformats.org/drawingml/2006/main">
            <a:r>
              <a:t>https://openai.com/index/gpt-6-for-everyone/</a:t>
            </a:r>
          </a:p>
          <a:p xmlns:a="http://schemas.openxmlformats.org/drawingml/2006/main">
            <a:r>
              <a:t>https://openai.com/index/gpt-6-astra/</a:t>
            </a:r>
          </a:p>
          <a:p xmlns:a="http://schemas.openxmlformats.org/drawingml/2006/main">
            <a:r>
              <a:t>https://www.kimi.ai/blog/kimi-k3</a:t>
            </a:r>
          </a:p>
          <a:p xmlns:a="http://schemas.openxmlformats.org/drawingml/2006/main">
            <a:r>
              <a:t>https://seed.bytedance.com/en/seedrealtime</a:t>
            </a:r>
          </a:p>
          <a:p xmlns:a="http://schemas.openxmlformats.org/drawingml/2006/main">
            <a:r>
              <a:t>https://seed.bytedance.com/en/seedance2_5</a:t>
            </a:r>
          </a:p>
          <a:p xmlns:a="http://schemas.openxmlformats.org/drawingml/2006/main">
            <a:r>
              <a:t>https://qwen.ai/blog?id=qwen3.8</a:t>
            </a:r>
          </a:p>
          <a:p xmlns:a="http://schemas.openxmlformats.org/drawingml/2006/main">
            <a:r>
              <a:t>https://www.3blue1brown.com/lessons/neural-networks/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73094010dc43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a86dc24f3846df" /><Relationship Type="http://schemas.openxmlformats.org/officeDocument/2006/relationships/slideLayout" Target="/ppt/slideLayouts/slideLayout1.xml" Id="Rdbe1453724cf4e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e1453724cf4e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7a57c94754e20" /><Relationship Type="http://schemas.openxmlformats.org/officeDocument/2006/relationships/image" Target="/ppt/media/image.png" Id="Ra1964911e754446e" /><Relationship Type="http://schemas.openxmlformats.org/officeDocument/2006/relationships/image" Target="/ppt/media/image.jpeg" Id="Rc875695f20c04b25" /><Relationship Type="http://schemas.openxmlformats.org/officeDocument/2006/relationships/image" Target="/ppt/media/image2.jpeg" Id="R9ea8fde1869143c5" /><Relationship Type="http://schemas.openxmlformats.org/officeDocument/2006/relationships/image" Target="/ppt/media/image3.jpeg" Id="Ra2cdf4a624ca465f" /><Relationship Type="http://schemas.openxmlformats.org/officeDocument/2006/relationships/notesSlide" Target="/ppt/notesSlides/notesSlide1.xml" Id="Rfbab74da9ac546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3ce72423d4bc4" /><Relationship Type="http://schemas.openxmlformats.org/officeDocument/2006/relationships/notesSlide" Target="/ppt/notesSlides/notesSlide2.xml" Id="R2a9ec951db6e43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658cfd7fc243c5" /><Relationship Type="http://schemas.openxmlformats.org/officeDocument/2006/relationships/hyperlink" Target="https://openai.com/index/gpt-6-for-everyone/" TargetMode="External" Id="Rec2657dd7c2a4e1d" /><Relationship Type="http://schemas.openxmlformats.org/officeDocument/2006/relationships/notesSlide" Target="/ppt/notesSlides/notesSlide3.xml" Id="R47a84c0a39d0463e" /></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f5e3038bf4353" /><ns0:Relationship Type="http://schemas.openxmlformats.org/officeDocument/2006/relationships/image" Target="/ppt/media/image4.jpeg" Id="R4846ac0817f94449" /><ns0:Relationship Type="http://schemas.openxmlformats.org/officeDocument/2006/relationships/notesSlide" Target="/ppt/notesSlides/notesSlide4.xml" Id="R0a1b6111dc1448fa" /><ns0:Relationship Id="rIdEmbeddedVideo" Type="http://schemas.openxmlformats.org/officeDocument/2006/relationships/video" Target="../media/lesson-video-4.mp4" /><ns0:Relationship Id="rIdEmbeddedMedia" Type="http://schemas.microsoft.com/office/2007/relationships/media" Target="../media/lesson-video-4.mp4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2c3ab7f1344e64" /><ns0:Relationship Type="http://schemas.openxmlformats.org/officeDocument/2006/relationships/image" Target="/ppt/media/image5.jpeg" Id="R58c12c0efeaf43b9" /><ns0:Relationship Type="http://schemas.openxmlformats.org/officeDocument/2006/relationships/notesSlide" Target="/ppt/notesSlides/notesSlide5.xml" Id="R3bba60b0371d4cd2" /><ns0:Relationship Id="rIdEmbeddedVideo" Type="http://schemas.openxmlformats.org/officeDocument/2006/relationships/video" Target="../media/lesson-video-5.mp4" /><ns0:Relationship Id="rIdEmbeddedMedia" Type="http://schemas.microsoft.com/office/2007/relationships/media" Target="../media/lesson-video-5.mp4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f0eddc6ec44c2c" /><ns0:Relationship Type="http://schemas.openxmlformats.org/officeDocument/2006/relationships/image" Target="/ppt/media/image6.jpeg" Id="R985132c1a8184310" /><ns0:Relationship Type="http://schemas.openxmlformats.org/officeDocument/2006/relationships/notesSlide" Target="/ppt/notesSlides/notesSlide6.xml" Id="R8935ee75df0f48d2" /><ns0:Relationship Id="rIdEmbeddedVideo" Type="http://schemas.openxmlformats.org/officeDocument/2006/relationships/video" Target="../media/lesson-video-6.mp4" /><ns0:Relationship Id="rIdEmbeddedMedia" Type="http://schemas.microsoft.com/office/2007/relationships/media" Target="../media/lesson-video-6.mp4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ee06663e164a26" /><ns0:Relationship Type="http://schemas.openxmlformats.org/officeDocument/2006/relationships/image" Target="/ppt/media/image7.jpeg" Id="R86e7ed0d99304a72" /><ns0:Relationship Type="http://schemas.openxmlformats.org/officeDocument/2006/relationships/notesSlide" Target="/ppt/notesSlides/notesSlide7.xml" Id="R91d0a31e8ecb4944" /><ns0:Relationship Id="rIdEmbeddedVideo" Type="http://schemas.openxmlformats.org/officeDocument/2006/relationships/video" Target="../media/lesson-video-7.mp4" /><ns0:Relationship Id="rIdEmbeddedMedia" Type="http://schemas.microsoft.com/office/2007/relationships/media" Target="../media/lesson-video-7.mp4" /></ns0: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7ba73e7be4ae3" /><Relationship Type="http://schemas.openxmlformats.org/officeDocument/2006/relationships/image" Target="/ppt/media/image8.jpeg" Id="R5ca98d139db7490a" /><Relationship Type="http://schemas.openxmlformats.org/officeDocument/2006/relationships/hyperlink" Target="https://www.youtube.com/watch?v=1QNsdr-Qx_I" TargetMode="External" Id="R30eb0a2637af4bb5" /><Relationship Type="http://schemas.openxmlformats.org/officeDocument/2006/relationships/notesSlide" Target="/ppt/notesSlides/notesSlide8.xml" Id="R37318f21a05444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4c9ab3f314cfa" /><Relationship Type="http://schemas.openxmlformats.org/officeDocument/2006/relationships/notesSlide" Target="/ppt/notesSlides/notesSlide9.xml" Id="Rde4af64438aa49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9273870564d56" /><Relationship Type="http://schemas.openxmlformats.org/officeDocument/2006/relationships/notesSlide" Target="/ppt/notesSlides/notesSlide10.xml" Id="Raef28f69d36a46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b1f04c88440bb" /><Relationship Type="http://schemas.openxmlformats.org/officeDocument/2006/relationships/notesSlide" Target="/ppt/notesSlides/notesSlide11.xml" Id="Raba7967b88ba4c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f1033f0ee4f27" /><Relationship Type="http://schemas.openxmlformats.org/officeDocument/2006/relationships/notesSlide" Target="/ppt/notesSlides/notesSlide12.xml" Id="Rdd0a51fe0ec44f6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ef987571049e4" /><Relationship Type="http://schemas.openxmlformats.org/officeDocument/2006/relationships/notesSlide" Target="/ppt/notesSlides/notesSlide13.xml" Id="R801834574e684da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dc05a6b1641cd" /><Relationship Type="http://schemas.openxmlformats.org/officeDocument/2006/relationships/notesSlide" Target="/ppt/notesSlides/notesSlide14.xml" Id="R5dfc917dc2f342a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2980b90484cad" /><Relationship Type="http://schemas.openxmlformats.org/officeDocument/2006/relationships/notesSlide" Target="/ppt/notesSlides/notesSlide15.xml" Id="Rd380a1abaa1e441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cb0fab3b64fa8" /><Relationship Type="http://schemas.openxmlformats.org/officeDocument/2006/relationships/notesSlide" Target="/ppt/notesSlides/notesSlide16.xml" Id="Ra709ee228ebf45a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6f35c34104a66" /><Relationship Type="http://schemas.openxmlformats.org/officeDocument/2006/relationships/notesSlide" Target="/ppt/notesSlides/notesSlide17.xml" Id="Ra303f469eab6488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f0e57375a49f8" /><Relationship Type="http://schemas.openxmlformats.org/officeDocument/2006/relationships/image" Target="/ppt/media/image9.jpeg" Id="R2bb50a69340e4b02" /><Relationship Type="http://schemas.openxmlformats.org/officeDocument/2006/relationships/notesSlide" Target="/ppt/notesSlides/notesSlide18.xml" Id="R65229ac0f0ad4737" /></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f85e2aa215469d" /><ns0:Relationship Type="http://schemas.openxmlformats.org/officeDocument/2006/relationships/image" Target="/ppt/media/image10.jpeg" Id="Raf42b2a5f0794963" /><ns0:Relationship Type="http://schemas.openxmlformats.org/officeDocument/2006/relationships/notesSlide" Target="/ppt/notesSlides/notesSlide19.xml" Id="Re0092ae33ff14483" /><ns0:Relationship Id="rIdEmbeddedVideo" Type="http://schemas.openxmlformats.org/officeDocument/2006/relationships/video" Target="../media/lesson-video-19.mp4" /><ns0:Relationship Id="rIdEmbeddedMedia" Type="http://schemas.microsoft.com/office/2007/relationships/media" Target="../media/lesson-video-19.mp4" /></ns0: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afd11b58a7447e" /><Relationship Type="http://schemas.openxmlformats.org/officeDocument/2006/relationships/notesSlide" Target="/ppt/notesSlides/notesSlide20.xml" Id="R5a017d37dc334e6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cf21a6b5a479b" /><Relationship Type="http://schemas.openxmlformats.org/officeDocument/2006/relationships/notesSlide" Target="/ppt/notesSlides/notesSlide21.xml" Id="R8fde6ebd26c9459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3f135dcb64320" /><Relationship Type="http://schemas.openxmlformats.org/officeDocument/2006/relationships/notesSlide" Target="/ppt/notesSlides/notesSlide22.xml" Id="R87cbcde65d26443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daeab7f344b17" /><Relationship Type="http://schemas.openxmlformats.org/officeDocument/2006/relationships/notesSlide" Target="/ppt/notesSlides/notesSlide23.xml" Id="Rd802a6b3e60b452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1cb8dde6e4c79" /><Relationship Type="http://schemas.openxmlformats.org/officeDocument/2006/relationships/notesSlide" Target="/ppt/notesSlides/notesSlide24.xml" Id="R0b43ac0ee58f4bf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81ec1725d54b86" /><Relationship Type="http://schemas.openxmlformats.org/officeDocument/2006/relationships/image" Target="/ppt/media/image2.png" Id="R93b17254c832487f" /><Relationship Type="http://schemas.openxmlformats.org/officeDocument/2006/relationships/image" Target="/ppt/media/image3.png" Id="R38fcff46ef6b4814" /><Relationship Type="http://schemas.openxmlformats.org/officeDocument/2006/relationships/notesSlide" Target="/ppt/notesSlides/notesSlide25.xml" Id="Rcef59b5a8ad547f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a330d4e324473" /><Relationship Type="http://schemas.openxmlformats.org/officeDocument/2006/relationships/notesSlide" Target="/ppt/notesSlides/notesSlide26.xml" Id="R3f892d1a6a6c46a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ad1be471e44b3" /><Relationship Type="http://schemas.openxmlformats.org/officeDocument/2006/relationships/notesSlide" Target="/ppt/notesSlides/notesSlide27.xml" Id="R6335938cb0df4d6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4657daba94c60" /><Relationship Type="http://schemas.openxmlformats.org/officeDocument/2006/relationships/notesSlide" Target="/ppt/notesSlides/notesSlide28.xml" Id="Rdfd88a170876411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5f5f01648459a" /><Relationship Type="http://schemas.openxmlformats.org/officeDocument/2006/relationships/notesSlide" Target="/ppt/notesSlides/notesSlide29.xml" Id="R9673329a15c44d9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5f8b27177440a" /><Relationship Type="http://schemas.openxmlformats.org/officeDocument/2006/relationships/notesSlide" Target="/ppt/notesSlides/notesSlide30.xml" Id="Rd72caf11bc4b43b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787ffb11b4304" /><Relationship Type="http://schemas.openxmlformats.org/officeDocument/2006/relationships/image" Target="/ppt/media/image4.png" Id="R248230e2895c47c9" /><Relationship Type="http://schemas.openxmlformats.org/officeDocument/2006/relationships/image" Target="/ppt/media/image5.png" Id="Ra1d4bb6e796349e1" /><Relationship Type="http://schemas.openxmlformats.org/officeDocument/2006/relationships/hyperlink" Target="&#35838;&#22530;&#28436;&#31034;/&#25910;&#38598;&#26143;&#26143;_&#21407;&#29256;.html" TargetMode="External" Id="Re00de37389e445f0" /><Relationship Type="http://schemas.openxmlformats.org/officeDocument/2006/relationships/hyperlink" Target="&#35838;&#22530;&#28436;&#31034;/&#25910;&#38598;&#26143;&#26143;_&#20462;&#25913;&#29256;.html" TargetMode="External" Id="R494842285cb44816" /><Relationship Type="http://schemas.openxmlformats.org/officeDocument/2006/relationships/notesSlide" Target="/ppt/notesSlides/notesSlide31.xml" Id="R73f2503dfcac456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da768ec374be6" /><Relationship Type="http://schemas.openxmlformats.org/officeDocument/2006/relationships/notesSlide" Target="/ppt/notesSlides/notesSlide32.xml" Id="Rc712754e176345d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ea1552b274de0" /><Relationship Type="http://schemas.openxmlformats.org/officeDocument/2006/relationships/notesSlide" Target="/ppt/notesSlides/notesSlide33.xml" Id="Rb9ed2b2ad49b461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249d4c2d745da" /><Relationship Type="http://schemas.openxmlformats.org/officeDocument/2006/relationships/notesSlide" Target="/ppt/notesSlides/notesSlide34.xml" Id="R127d71de974c44b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c391eb3e5e45e3" /><Relationship Type="http://schemas.openxmlformats.org/officeDocument/2006/relationships/notesSlide" Target="/ppt/notesSlides/notesSlide35.xml" Id="R6daa001bdcb24e0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25477fe4643dd" /><Relationship Type="http://schemas.openxmlformats.org/officeDocument/2006/relationships/notesSlide" Target="/ppt/notesSlides/notesSlide36.xml" Id="Rcf78f779256f489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39a5477244318" /><Relationship Type="http://schemas.openxmlformats.org/officeDocument/2006/relationships/notesSlide" Target="/ppt/notesSlides/notesSlide37.xml" Id="Rf6e849be41a84e2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48613807e479b" /><Relationship Type="http://schemas.openxmlformats.org/officeDocument/2006/relationships/notesSlide" Target="/ppt/notesSlides/notesSlide38.xml" Id="R1f1419cf69df468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bffa9e92a4149" /><Relationship Type="http://schemas.openxmlformats.org/officeDocument/2006/relationships/notesSlide" Target="/ppt/notesSlides/notesSlide39.xml" Id="R5c4939b6476c487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ebeea1c234007" /><Relationship Type="http://schemas.openxmlformats.org/officeDocument/2006/relationships/notesSlide" Target="/ppt/notesSlides/notesSlide40.xml" Id="Rfb93d6c68a0b438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d808dce6374e39" /><Relationship Type="http://schemas.openxmlformats.org/officeDocument/2006/relationships/notesSlide" Target="/ppt/notesSlides/notesSlide41.xml" Id="R7235354984b646a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852cbd4144591" /><Relationship Type="http://schemas.openxmlformats.org/officeDocument/2006/relationships/hyperlink" Target="https://openai.com/index/gpt-6-for-everyone/" TargetMode="External" Id="Rbf08a44069cb47c1" /><Relationship Type="http://schemas.openxmlformats.org/officeDocument/2006/relationships/hyperlink" Target="https://openai.com/index/gpt-6-astra/" TargetMode="External" Id="R0655324f4bf14315" /><Relationship Type="http://schemas.openxmlformats.org/officeDocument/2006/relationships/hyperlink" Target="https://www.kimi.ai/blog/kimi-k3" TargetMode="External" Id="Reda496604643486b" /><Relationship Type="http://schemas.openxmlformats.org/officeDocument/2006/relationships/hyperlink" Target="https://seed.bytedance.com/en/seedrealtime" TargetMode="External" Id="Rb584ab33a71843af" /><Relationship Type="http://schemas.openxmlformats.org/officeDocument/2006/relationships/hyperlink" Target="https://seed.bytedance.com/en/seedance2_5" TargetMode="External" Id="R200482af5fd44647" /><Relationship Type="http://schemas.openxmlformats.org/officeDocument/2006/relationships/hyperlink" Target="https://qwen.ai/blog?id=qwen3.8" TargetMode="External" Id="R56560282f7834aed" /><Relationship Type="http://schemas.openxmlformats.org/officeDocument/2006/relationships/hyperlink" Target="https://www.3blue1brown.com/lessons/neural-networks/" TargetMode="External" Id="Ra421e4422852441e" /><Relationship Type="http://schemas.openxmlformats.org/officeDocument/2006/relationships/notesSlide" Target="/ppt/notesSlides/notesSlide42.xml" Id="R98dc15cf4f0d439f" 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1964911e754446e"/>
          <a:stretch/>
        </p:blipFill>
        <p:spPr>
          <a:xfrm>
            <a:off x="609600" y="439562"/>
            <a:ext cx="2257425" cy="540100"/>
          </a:xfrm>
          <a:prstGeom prst="rect">
            <a:avLst/>
          </a:prstGeom>
        </p:spPr>
      </p:pic>
      <p:sp>
        <p:nvSpPr>
          <p:cNvPr id="2" name="AI 创想工坊 · 第一课">
            <a:extLst>
              <a:ext uri="{FF2B5EF4-FFF2-40B4-BE49-F238E27FC236}">
                <ns3:creationId id="{EE04CF57-9854-4E69-A5BD-F00C31F9C023}"/>
              </a:ext>
            </a:extLst>
          </p:cNvPr>
          <p:cNvSpPr>
            <a:spLocks noGrp="1"/>
          </p:cNvSpPr>
          <p:nvPr/>
        </p:nvSpPr>
        <p:spPr>
          <a:xfrm>
            <a:off x="609600" y="1724025"/>
            <a:ext cx="56197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AI 创想工坊 · 第一课</a:t>
            </a:r>
          </a:p>
        </p:txBody>
      </p:sp>
      <p:sp>
        <p:nvSpPr>
          <p:cNvPr id="3" name="AI侦探">
            <a:extLst>
              <a:ext uri="{FF2B5EF4-FFF2-40B4-BE49-F238E27FC236}">
                <ns3:creationId id="{45529290-C089-41CA-99B9-20CF7902A6F7}"/>
              </a:ext>
            </a:extLst>
          </p:cNvPr>
          <p:cNvSpPr>
            <a:spLocks noGrp="1"/>
          </p:cNvSpPr>
          <p:nvPr/>
        </p:nvSpPr>
        <p:spPr>
          <a:xfrm>
            <a:off x="552450" y="2400300"/>
            <a:ext cx="5715000" cy="1381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8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AI侦探</a:t>
            </a:r>
          </a:p>
        </p:txBody>
      </p:sp>
      <p:sp>
        <p:nvSpPr>
          <p:cNvPr id="4" name="人工智能能做什么，&#10;怎样工作">
            <a:extLst>
              <a:ext uri="{FF2B5EF4-FFF2-40B4-BE49-F238E27FC236}">
                <ns3:creationId id="{DC7F34E3-23D7-450E-AE67-7CE6290ABBB9}"/>
              </a:ext>
            </a:extLst>
          </p:cNvPr>
          <p:cNvSpPr>
            <a:spLocks noGrp="1"/>
          </p:cNvSpPr>
          <p:nvPr/>
        </p:nvSpPr>
        <p:spPr>
          <a:xfrm>
            <a:off x="609600" y="4048125"/>
            <a:ext cx="5286375" cy="1257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0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人工智能能做什么，</a:t>
            </a:r>
          </a:p>
          <a:p>
            <a:pPr algn="l">
              <a:lnSpc>
                <a:spcPct val="122000"/>
              </a:lnSpc>
              <a:buNone/>
              <a:defRPr sz="30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怎样工作</a:t>
            </a:r>
          </a:p>
        </p:txBody>
      </p:sp>
      <p:sp>
        <p:nvSpPr>
          <p:cNvPr id="5" name="佛山市南海区石门实验中学">
            <a:extLst>
              <a:ext uri="{FF2B5EF4-FFF2-40B4-BE49-F238E27FC236}">
                <ns3:creationId id="{92F50757-3DCD-436D-BBCB-BF950FDFADA4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6191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佛山市南海区石门实验中学</a:t>
            </a:r>
          </a:p>
        </p:txBody>
      </p:sp>
      <p:sp>
        <p:nvSpPr>
          <p:cNvPr id="6" name="">
            <a:extLst>
              <a:ext uri="{FF2B5EF4-FFF2-40B4-BE49-F238E27FC236}">
                <ns3:creationId id="{E01EB82B-897C-4A5C-B81C-094B53ED36CC}"/>
              </a:ext>
            </a:extLst>
          </p:cNvPr>
          <p:cNvSpPr>
            <a:spLocks noGrp="1"/>
          </p:cNvSpPr>
          <p:nvPr/>
        </p:nvSpPr>
        <p:spPr>
          <a:xfrm>
            <a:off x="6400800" y="1066800"/>
            <a:ext cx="47625" cy="474345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pic>
        <p:nvPicPr>
          <p:cNvPr id="17" name=""/>
          <p:cNvPicPr>
            <a:picLocks noChangeAspect="1"/>
          </p:cNvPicPr>
          <p:nvPr/>
        </p:nvPicPr>
        <p:blipFill>
          <a:blip r:embed="Rc875695f20c04b25"/>
          <a:srcRect l="0" t="13318" r="0" b="13318"/>
          <a:stretch>
            <a:fillRect l="0" t="0" r="0" b="0"/>
          </a:stretch>
        </p:blipFill>
        <p:spPr>
          <a:xfrm>
            <a:off x="6629400" y="1066800"/>
            <a:ext cx="5562600" cy="2295525"/>
          </a:xfrm>
          <a:prstGeom prst="rect">
            <a:avLst/>
          </a:prstGeom>
        </p:spPr>
      </p:pic>
      <p:pic>
        <p:nvPicPr>
          <p:cNvPr id="18" name=""/>
          <p:cNvPicPr>
            <a:picLocks noChangeAspect="1"/>
          </p:cNvPicPr>
          <p:nvPr/>
        </p:nvPicPr>
        <p:blipFill>
          <a:blip r:embed="R9ea8fde1869143c5"/>
          <a:srcRect l="17557" t="0" r="17557" b="0"/>
          <a:stretch>
            <a:fillRect l="0" t="0" r="0" b="0"/>
          </a:stretch>
        </p:blipFill>
        <p:spPr>
          <a:xfrm>
            <a:off x="6629400" y="3514725"/>
            <a:ext cx="2647950" cy="2295525"/>
          </a:xfrm>
          <a:prstGeom prst="rect">
            <a:avLst/>
          </a:prstGeom>
        </p:spPr>
      </p:pic>
      <p:pic>
        <p:nvPicPr>
          <p:cNvPr id="19" name=""/>
          <p:cNvPicPr>
            <a:picLocks noChangeAspect="1"/>
          </p:cNvPicPr>
          <p:nvPr/>
        </p:nvPicPr>
        <p:blipFill>
          <a:blip r:embed="Ra2cdf4a624ca465f"/>
          <a:srcRect l="16157" t="0" r="16157" b="0"/>
          <a:stretch>
            <a:fillRect l="0" t="0" r="0" b="0"/>
          </a:stretch>
        </p:blipFill>
        <p:spPr>
          <a:xfrm>
            <a:off x="9429750" y="3514725"/>
            <a:ext cx="2762250" cy="2295525"/>
          </a:xfrm>
          <a:prstGeom prst="rect">
            <a:avLst/>
          </a:prstGeom>
        </p:spPr>
      </p:pic>
      <p:sp>
        <p:nvSpPr>
          <p:cNvPr id="10" name="2026 年官方演示画面">
            <a:extLst>
              <a:ext uri="{FF2B5EF4-FFF2-40B4-BE49-F238E27FC236}">
                <ns3:creationId id="{C446109A-D982-425D-84E5-F95B50D50FF5}"/>
              </a:ext>
            </a:extLst>
          </p:cNvPr>
          <p:cNvSpPr>
            <a:spLocks noGrp="1"/>
          </p:cNvSpPr>
          <p:nvPr/>
        </p:nvSpPr>
        <p:spPr>
          <a:xfrm>
            <a:off x="7734300" y="5981700"/>
            <a:ext cx="38481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27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2026 年官方演示画面</a:t>
            </a:r>
          </a:p>
        </p:txBody>
      </p:sp>
    </p:spTree>
    <p:extLst>
      <p:ext uri="{BB962C8B-B14F-4D97-AF65-F5344CB8AC3E}">
        <p14:creationId val="1808621312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4" name="">
            <a:extLst>
              <a:ext uri="{FF2B5EF4-FFF2-40B4-BE49-F238E27FC236}">
                <ns2:creationId id="{50B21A28-A895-4E6F-A00E-1A3882F7C8F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AI 的能力">
            <a:extLst>
              <a:ext uri="{FF2B5EF4-FFF2-40B4-BE49-F238E27FC236}">
                <ns2:creationId id="{5CA18867-C9F4-4002-97A7-DFE8CC9543F1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的能力</a:t>
            </a:r>
          </a:p>
        </p:txBody>
      </p:sp>
      <p:sp>
        <p:nvSpPr>
          <p:cNvPr id="3" name="AI现在能做什么">
            <a:extLst>
              <a:ext uri="{FF2B5EF4-FFF2-40B4-BE49-F238E27FC236}">
                <ns2:creationId id="{CB0381AB-102E-4B92-B19E-91BF4EF8FAC4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AI现在能做什么</a:t>
            </a:r>
          </a:p>
        </p:txBody>
      </p:sp>
      <p:sp>
        <p:nvSpPr>
          <p:cNvPr id="4" name="">
            <a:extLst>
              <a:ext uri="{FF2B5EF4-FFF2-40B4-BE49-F238E27FC236}">
                <ns2:creationId id="{6638CD14-8452-40FA-AC3F-23912AA82749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114D4E77-DF7E-4E44-9C51-56C9F0505D26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02">
            <a:extLst>
              <a:ext uri="{FF2B5EF4-FFF2-40B4-BE49-F238E27FC236}">
                <ns2:creationId id="{E10F495B-6A76-45C6-BDA3-7BC1D9BEE638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7" name="看每段演示时，留意输入的要求和实际得到的结果。">
            <a:extLst>
              <a:ext uri="{FF2B5EF4-FFF2-40B4-BE49-F238E27FC236}">
                <ns2:creationId id="{733096E7-7955-474B-88F2-B248E4A5F254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看每段演示时，留意输入的要求和实际得到的结果。</a:t>
            </a:r>
          </a:p>
        </p:txBody>
      </p:sp>
      <p:sp>
        <p:nvSpPr>
          <p:cNvPr id="8" name="01">
            <a:extLst>
              <a:ext uri="{FF2B5EF4-FFF2-40B4-BE49-F238E27FC236}">
                <ns2:creationId id="{EE961B6A-CAB1-430F-9761-FFEE63313536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52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9" name="理解与交流">
            <a:extLst>
              <a:ext uri="{FF2B5EF4-FFF2-40B4-BE49-F238E27FC236}">
                <ns2:creationId id="{35FD11AE-60C5-47CA-B01B-D06094AD191B}"/>
              </a:ext>
            </a:extLst>
          </p:cNvPr>
          <p:cNvSpPr>
            <a:spLocks noGrp="1"/>
          </p:cNvSpPr>
          <p:nvPr/>
        </p:nvSpPr>
        <p:spPr>
          <a:xfrm>
            <a:off x="1276350" y="2476500"/>
            <a:ext cx="4476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理解与交流</a:t>
            </a:r>
          </a:p>
        </p:txBody>
      </p:sp>
      <p:sp>
        <p:nvSpPr>
          <p:cNvPr id="10" name="结合画面和声音，回答眼前的问题。">
            <a:extLst>
              <a:ext uri="{FF2B5EF4-FFF2-40B4-BE49-F238E27FC236}">
                <ns2:creationId id="{FEB08604-B941-4C18-86EE-C89D23E7CA55}"/>
              </a:ext>
            </a:extLst>
          </p:cNvPr>
          <p:cNvSpPr>
            <a:spLocks noGrp="1"/>
          </p:cNvSpPr>
          <p:nvPr/>
        </p:nvSpPr>
        <p:spPr>
          <a:xfrm>
            <a:off x="1276350" y="3048000"/>
            <a:ext cx="4429125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结合画面和声音，回答眼前的问题。</a:t>
            </a:r>
          </a:p>
        </p:txBody>
      </p:sp>
      <p:sp>
        <p:nvSpPr>
          <p:cNvPr id="11" name="">
            <a:extLst>
              <a:ext uri="{FF2B5EF4-FFF2-40B4-BE49-F238E27FC236}">
                <ns2:creationId id="{2F34D182-1F8F-40E6-8C3F-E3A59BF461B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50673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2" name="02">
            <a:extLst>
              <a:ext uri="{FF2B5EF4-FFF2-40B4-BE49-F238E27FC236}">
                <ns2:creationId id="{B6022034-B95E-4D4C-87C0-A1E4BBB85A2C}"/>
              </a:ext>
            </a:extLst>
          </p:cNvPr>
          <p:cNvSpPr>
            <a:spLocks noGrp="1"/>
          </p:cNvSpPr>
          <p:nvPr/>
        </p:nvSpPr>
        <p:spPr>
          <a:xfrm>
            <a:off x="6515100" y="2524125"/>
            <a:ext cx="52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3" name="生成内容">
            <a:extLst>
              <a:ext uri="{FF2B5EF4-FFF2-40B4-BE49-F238E27FC236}">
                <ns2:creationId id="{3C1F8681-54CE-4112-B4E1-33439D3E9BAE}"/>
              </a:ext>
            </a:extLst>
          </p:cNvPr>
          <p:cNvSpPr>
            <a:spLocks noGrp="1"/>
          </p:cNvSpPr>
          <p:nvPr/>
        </p:nvSpPr>
        <p:spPr>
          <a:xfrm>
            <a:off x="7181850" y="2476500"/>
            <a:ext cx="4476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生成内容</a:t>
            </a:r>
          </a:p>
        </p:txBody>
      </p:sp>
      <p:sp>
        <p:nvSpPr>
          <p:cNvPr id="14" name="按要求生成图像、声音和连续镜头。">
            <a:extLst>
              <a:ext uri="{FF2B5EF4-FFF2-40B4-BE49-F238E27FC236}">
                <ns2:creationId id="{121753FA-6DDC-44B8-8A61-ACCBFD112E5E}"/>
              </a:ext>
            </a:extLst>
          </p:cNvPr>
          <p:cNvSpPr>
            <a:spLocks noGrp="1"/>
          </p:cNvSpPr>
          <p:nvPr/>
        </p:nvSpPr>
        <p:spPr>
          <a:xfrm>
            <a:off x="7181850" y="3048000"/>
            <a:ext cx="4429125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按要求生成图像、声音和连续镜头。</a:t>
            </a:r>
          </a:p>
        </p:txBody>
      </p:sp>
      <p:sp>
        <p:nvSpPr>
          <p:cNvPr id="15" name="">
            <a:extLst>
              <a:ext uri="{FF2B5EF4-FFF2-40B4-BE49-F238E27FC236}">
                <ns2:creationId id="{FAF7B5C0-69D6-4924-ABEB-6F20926240FF}"/>
              </a:ext>
            </a:extLst>
          </p:cNvPr>
          <p:cNvSpPr>
            <a:spLocks noGrp="1"/>
          </p:cNvSpPr>
          <p:nvPr/>
        </p:nvSpPr>
        <p:spPr>
          <a:xfrm>
            <a:off x="6515100" y="3857625"/>
            <a:ext cx="50673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6" name="03">
            <a:extLst>
              <a:ext uri="{FF2B5EF4-FFF2-40B4-BE49-F238E27FC236}">
                <ns2:creationId id="{6C522722-B7D1-40CC-A542-22BFC275C353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52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7" name="制作可交互作品">
            <a:extLst>
              <a:ext uri="{FF2B5EF4-FFF2-40B4-BE49-F238E27FC236}">
                <ns2:creationId id="{05CE5EC8-F8BF-4960-AB0C-216EA36022C7}"/>
              </a:ext>
            </a:extLst>
          </p:cNvPr>
          <p:cNvSpPr>
            <a:spLocks noGrp="1"/>
          </p:cNvSpPr>
          <p:nvPr/>
        </p:nvSpPr>
        <p:spPr>
          <a:xfrm>
            <a:off x="1276350" y="4067175"/>
            <a:ext cx="4476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制作可交互作品</a:t>
            </a:r>
          </a:p>
        </p:txBody>
      </p:sp>
      <p:sp>
        <p:nvSpPr>
          <p:cNvPr id="18" name="生成程序，做出能操作的游戏或图解。">
            <a:extLst>
              <a:ext uri="{FF2B5EF4-FFF2-40B4-BE49-F238E27FC236}">
                <ns2:creationId id="{C016B159-98D7-49EC-A935-C49D2A69CAA0}"/>
              </a:ext>
            </a:extLst>
          </p:cNvPr>
          <p:cNvSpPr>
            <a:spLocks noGrp="1"/>
          </p:cNvSpPr>
          <p:nvPr/>
        </p:nvSpPr>
        <p:spPr>
          <a:xfrm>
            <a:off x="1276350" y="4638675"/>
            <a:ext cx="4429125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生成程序，做出能操作的游戏或图解。</a:t>
            </a:r>
          </a:p>
        </p:txBody>
      </p:sp>
      <p:sp>
        <p:nvSpPr>
          <p:cNvPr id="19" name="04">
            <a:extLst>
              <a:ext uri="{FF2B5EF4-FFF2-40B4-BE49-F238E27FC236}">
                <ns2:creationId id="{AD7EC775-F2F7-4362-9FD8-8F8B5E3B1C0D}"/>
              </a:ext>
            </a:extLst>
          </p:cNvPr>
          <p:cNvSpPr>
            <a:spLocks noGrp="1"/>
          </p:cNvSpPr>
          <p:nvPr/>
        </p:nvSpPr>
        <p:spPr>
          <a:xfrm>
            <a:off x="6515100" y="4114800"/>
            <a:ext cx="52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20" name="使用软件工具">
            <a:extLst>
              <a:ext uri="{FF2B5EF4-FFF2-40B4-BE49-F238E27FC236}">
                <ns2:creationId id="{013F3E4B-8081-4055-87DF-AB03DF5E8938}"/>
              </a:ext>
            </a:extLst>
          </p:cNvPr>
          <p:cNvSpPr>
            <a:spLocks noGrp="1"/>
          </p:cNvSpPr>
          <p:nvPr/>
        </p:nvSpPr>
        <p:spPr>
          <a:xfrm>
            <a:off x="7181850" y="4067175"/>
            <a:ext cx="4476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使用软件工具</a:t>
            </a:r>
          </a:p>
        </p:txBody>
      </p:sp>
      <p:sp>
        <p:nvSpPr>
          <p:cNvPr id="21" name="查资料、操作软件，再检查和修改结果。">
            <a:extLst>
              <a:ext uri="{FF2B5EF4-FFF2-40B4-BE49-F238E27FC236}">
                <ns2:creationId id="{F7E93FAF-EC25-4A10-BB88-87B7CFC7A8C1}"/>
              </a:ext>
            </a:extLst>
          </p:cNvPr>
          <p:cNvSpPr>
            <a:spLocks noGrp="1"/>
          </p:cNvSpPr>
          <p:nvPr/>
        </p:nvSpPr>
        <p:spPr>
          <a:xfrm>
            <a:off x="7181850" y="4638675"/>
            <a:ext cx="4429125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查资料、操作软件，再检查和修改结果。</a:t>
            </a:r>
          </a:p>
        </p:txBody>
      </p:sp>
      <p:sp>
        <p:nvSpPr>
          <p:cNvPr id="22" name="">
            <a:extLst>
              <a:ext uri="{FF2B5EF4-FFF2-40B4-BE49-F238E27FC236}">
                <ns2:creationId id="{12C7E49C-2CCA-4017-A430-78B00440E26A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3" name="一个作品可以组合使用多种能力。">
            <a:extLst>
              <a:ext uri="{FF2B5EF4-FFF2-40B4-BE49-F238E27FC236}">
                <ns2:creationId id="{EEA96D7E-5B37-494D-9C30-92A5569C5A33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一个作品可以组合使用多种能力。</a:t>
            </a:r>
          </a:p>
        </p:txBody>
      </p:sp>
    </p:spTree>
    <p:extLst>
      <p:ext uri="{BB962C8B-B14F-4D97-AF65-F5344CB8AC3E}">
        <p14:creationId val="1388684410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1" name="">
            <a:extLst>
              <a:ext uri="{FF2B5EF4-FFF2-40B4-BE49-F238E27FC236}">
                <ns2:creationId id="{7DF05FE5-1ECD-4905-B990-5D97A86FE57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AI 的能力">
            <a:extLst>
              <a:ext uri="{FF2B5EF4-FFF2-40B4-BE49-F238E27FC236}">
                <ns2:creationId id="{7DDEAC2C-A1E0-43B8-88E6-9FA3175F4AC4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的能力</a:t>
            </a:r>
          </a:p>
        </p:txBody>
      </p:sp>
      <p:sp>
        <p:nvSpPr>
          <p:cNvPr id="3" name="会变化的解释界面">
            <a:extLst>
              <a:ext uri="{FF2B5EF4-FFF2-40B4-BE49-F238E27FC236}">
                <ns2:creationId id="{9AA8CEF8-8278-47C8-B4B2-5BAFF7D9F61A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会变化的解释界面</a:t>
            </a:r>
          </a:p>
        </p:txBody>
      </p:sp>
      <p:sp>
        <p:nvSpPr>
          <p:cNvPr id="4" name="">
            <a:extLst>
              <a:ext uri="{FF2B5EF4-FFF2-40B4-BE49-F238E27FC236}">
                <ns2:creationId id="{5CFC33DB-12AF-4D1A-BDCF-360EA484BCB8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08653B9D-CD1A-42CE-8D42-6C32F1B18127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03">
            <a:extLst>
              <a:ext uri="{FF2B5EF4-FFF2-40B4-BE49-F238E27FC236}">
                <ns2:creationId id="{206641F7-BEF6-4D66-BEB1-BE1515342C14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7" name="OpenAI GPT-6 Intelligent UI · 七速自行车案例 · ">
            <a:extLst>
              <a:ext uri="{FF2B5EF4-FFF2-40B4-BE49-F238E27FC236}">
                <ns2:creationId id="{844FA2C9-B78C-4088-8522-2D8EF42261AE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OpenAI GPT-6 Intelligent UI · 七速自行车案例 · 2026.10.07</a:t>
            </a:r>
          </a:p>
        </p:txBody>
      </p:sp>
      <p:sp>
        <p:nvSpPr>
          <p:cNvPr id="8" name="提出问题">
            <a:extLst>
              <a:ext uri="{FF2B5EF4-FFF2-40B4-BE49-F238E27FC236}">
                <ns2:creationId id="{480E9A61-9602-4264-A06C-26E41FE8C3CE}"/>
              </a:ext>
            </a:extLst>
          </p:cNvPr>
          <p:cNvSpPr>
            <a:spLocks noGrp="1"/>
          </p:cNvSpPr>
          <p:nvPr/>
        </p:nvSpPr>
        <p:spPr>
          <a:xfrm>
            <a:off x="609600" y="2581275"/>
            <a:ext cx="4476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提出问题</a:t>
            </a:r>
          </a:p>
        </p:txBody>
      </p:sp>
      <p:sp>
        <p:nvSpPr>
          <p:cNvPr id="9" name="“这辆自行车的&#10;各个部分怎样工作？”">
            <a:extLst>
              <a:ext uri="{FF2B5EF4-FFF2-40B4-BE49-F238E27FC236}">
                <ns2:creationId id="{66F2AA73-76F0-4C68-8C8B-3FF26BF4C50D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4905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7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“这辆自行车的</a:t>
            </a:r>
          </a:p>
          <a:p>
            <a:pPr algn="l">
              <a:lnSpc>
                <a:spcPct val="122000"/>
              </a:lnSpc>
              <a:buNone/>
              <a:defRPr sz="27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各个部分怎样工作？”</a:t>
            </a:r>
          </a:p>
        </p:txBody>
      </p:sp>
      <p:sp>
        <p:nvSpPr>
          <p:cNvPr id="10" name="官方案例的中文说明">
            <a:extLst>
              <a:ext uri="{FF2B5EF4-FFF2-40B4-BE49-F238E27FC236}">
                <ns2:creationId id="{A9D22644-9097-4B7C-BB1E-9AE86790D06E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4857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官方案例的中文说明</a:t>
            </a:r>
          </a:p>
        </p:txBody>
      </p:sp>
      <p:sp>
        <p:nvSpPr>
          <p:cNvPr id="11" name="1">
            <a:extLst>
              <a:ext uri="{FF2B5EF4-FFF2-40B4-BE49-F238E27FC236}">
                <ns2:creationId id="{A5C095F2-D92F-48A7-93D7-F643C86FA6B6}"/>
              </a:ext>
            </a:extLst>
          </p:cNvPr>
          <p:cNvSpPr>
            <a:spLocks noGrp="1"/>
          </p:cNvSpPr>
          <p:nvPr/>
        </p:nvSpPr>
        <p:spPr>
          <a:xfrm>
            <a:off x="6372225" y="2486025"/>
            <a:ext cx="4381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12" name="看图和文字">
            <a:extLst>
              <a:ext uri="{FF2B5EF4-FFF2-40B4-BE49-F238E27FC236}">
                <ns2:creationId id="{DD36B1B5-699C-436F-923E-4DCF36E3D775}"/>
              </a:ext>
            </a:extLst>
          </p:cNvPr>
          <p:cNvSpPr>
            <a:spLocks noGrp="1"/>
          </p:cNvSpPr>
          <p:nvPr/>
        </p:nvSpPr>
        <p:spPr>
          <a:xfrm>
            <a:off x="7000875" y="2486025"/>
            <a:ext cx="4572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看图和文字</a:t>
            </a:r>
          </a:p>
        </p:txBody>
      </p:sp>
      <p:sp>
        <p:nvSpPr>
          <p:cNvPr id="13" name="先了解整体结构。">
            <a:extLst>
              <a:ext uri="{FF2B5EF4-FFF2-40B4-BE49-F238E27FC236}">
                <ns2:creationId id="{0653B1BE-A3CA-4FB4-B8BE-9C1778867CA9}"/>
              </a:ext>
            </a:extLst>
          </p:cNvPr>
          <p:cNvSpPr>
            <a:spLocks noGrp="1"/>
          </p:cNvSpPr>
          <p:nvPr/>
        </p:nvSpPr>
        <p:spPr>
          <a:xfrm>
            <a:off x="7000875" y="2924175"/>
            <a:ext cx="4572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先了解整体结构。</a:t>
            </a:r>
          </a:p>
        </p:txBody>
      </p:sp>
      <p:sp>
        <p:nvSpPr>
          <p:cNvPr id="14" name="2">
            <a:extLst>
              <a:ext uri="{FF2B5EF4-FFF2-40B4-BE49-F238E27FC236}">
                <ns2:creationId id="{C8C2E429-B53A-4C58-966C-F0927DA7945A}"/>
              </a:ext>
            </a:extLst>
          </p:cNvPr>
          <p:cNvSpPr>
            <a:spLocks noGrp="1"/>
          </p:cNvSpPr>
          <p:nvPr/>
        </p:nvSpPr>
        <p:spPr>
          <a:xfrm>
            <a:off x="6372225" y="3495675"/>
            <a:ext cx="4381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15" name="选择一个部件">
            <a:extLst>
              <a:ext uri="{FF2B5EF4-FFF2-40B4-BE49-F238E27FC236}">
                <ns2:creationId id="{AA99901D-AC2E-4DF2-B14A-604914ECE865}"/>
              </a:ext>
            </a:extLst>
          </p:cNvPr>
          <p:cNvSpPr>
            <a:spLocks noGrp="1"/>
          </p:cNvSpPr>
          <p:nvPr/>
        </p:nvSpPr>
        <p:spPr>
          <a:xfrm>
            <a:off x="7000875" y="3495675"/>
            <a:ext cx="4572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选择一个部件</a:t>
            </a:r>
          </a:p>
        </p:txBody>
      </p:sp>
      <p:sp>
        <p:nvSpPr>
          <p:cNvPr id="16" name="查看车架、车轮、传动或刹车。">
            <a:extLst>
              <a:ext uri="{FF2B5EF4-FFF2-40B4-BE49-F238E27FC236}">
                <ns2:creationId id="{450E893B-7B16-4FCC-BC3C-7FF2CF223C70}"/>
              </a:ext>
            </a:extLst>
          </p:cNvPr>
          <p:cNvSpPr>
            <a:spLocks noGrp="1"/>
          </p:cNvSpPr>
          <p:nvPr/>
        </p:nvSpPr>
        <p:spPr>
          <a:xfrm>
            <a:off x="7000875" y="3933825"/>
            <a:ext cx="4572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查看车架、车轮、传动或刹车。</a:t>
            </a:r>
          </a:p>
        </p:txBody>
      </p:sp>
      <p:sp>
        <p:nvSpPr>
          <p:cNvPr id="17" name="3">
            <a:extLst>
              <a:ext uri="{FF2B5EF4-FFF2-40B4-BE49-F238E27FC236}">
                <ns2:creationId id="{D4EA7A3A-D0DD-42F7-8B63-F6EB12487CF4}"/>
              </a:ext>
            </a:extLst>
          </p:cNvPr>
          <p:cNvSpPr>
            <a:spLocks noGrp="1"/>
          </p:cNvSpPr>
          <p:nvPr/>
        </p:nvSpPr>
        <p:spPr>
          <a:xfrm>
            <a:off x="6372225" y="4505325"/>
            <a:ext cx="4381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8" name="继续探索">
            <a:extLst>
              <a:ext uri="{FF2B5EF4-FFF2-40B4-BE49-F238E27FC236}">
                <ns2:creationId id="{DFB44F85-BF5F-45F9-9671-7AE1EB9E22E6}"/>
              </a:ext>
            </a:extLst>
          </p:cNvPr>
          <p:cNvSpPr>
            <a:spLocks noGrp="1"/>
          </p:cNvSpPr>
          <p:nvPr/>
        </p:nvSpPr>
        <p:spPr>
          <a:xfrm>
            <a:off x="7000875" y="4505325"/>
            <a:ext cx="4572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继续探索</a:t>
            </a:r>
          </a:p>
        </p:txBody>
      </p:sp>
      <p:sp>
        <p:nvSpPr>
          <p:cNvPr id="19" name="部件说明随选择切换。">
            <a:extLst>
              <a:ext uri="{FF2B5EF4-FFF2-40B4-BE49-F238E27FC236}">
                <ns2:creationId id="{A33EAF5F-92AB-40D2-AF8D-D95D2CA92766}"/>
              </a:ext>
            </a:extLst>
          </p:cNvPr>
          <p:cNvSpPr>
            <a:spLocks noGrp="1"/>
          </p:cNvSpPr>
          <p:nvPr/>
        </p:nvSpPr>
        <p:spPr>
          <a:xfrm>
            <a:off x="7000875" y="4943475"/>
            <a:ext cx="4572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部件说明随选择切换。</a:t>
            </a:r>
          </a:p>
        </p:txBody>
      </p:sp>
      <p:sp>
        <p:nvSpPr>
          <p:cNvPr id="20" name="打开官方交互案例 ↗">
            <a:extLst>
              <a:ext uri="{FF2B5EF4-FFF2-40B4-BE49-F238E27FC236}">
                <ns2:creationId id="{4D3DAFB2-A1D0-4706-95E8-5008085DDCEE}"/>
              </a:ext>
            </a:extLst>
            <a:hlinkClick r:id="Rec2657dd7c2a4e1d"/>
          </p:cNvPr>
          <p:cNvSpPr>
            <a:spLocks noGrp="1"/>
          </p:cNvSpPr>
          <p:nvPr/>
        </p:nvSpPr>
        <p:spPr>
          <a:xfrm>
            <a:off x="609600" y="5876925"/>
            <a:ext cx="10934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打开官方交互案例 ↗</a:t>
            </a:r>
          </a:p>
        </p:txBody>
      </p:sp>
    </p:spTree>
    <p:extLst>
      <p:ext uri="{BB962C8B-B14F-4D97-AF65-F5344CB8AC3E}">
        <p14:creationId val="261246829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FE315BDA-DD19-4B13-804A-E269CE42FFD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AI 的能力">
            <a:extLst>
              <a:ext uri="{FF2B5EF4-FFF2-40B4-BE49-F238E27FC236}">
                <ns2:creationId id="{68B04E66-CA71-42EB-81CD-CE27E1E9FAD6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的能力</a:t>
            </a:r>
          </a:p>
        </p:txBody>
      </p:sp>
      <p:sp>
        <p:nvSpPr>
          <p:cNvPr id="3" name="按要求生成可玩的游戏">
            <a:extLst>
              <a:ext uri="{FF2B5EF4-FFF2-40B4-BE49-F238E27FC236}">
                <ns2:creationId id="{8EDB1F48-444C-4A97-A03E-B63EF57A24B1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按要求生成可玩的游戏</a:t>
            </a:r>
          </a:p>
        </p:txBody>
      </p:sp>
      <p:sp>
        <p:nvSpPr>
          <p:cNvPr id="4" name="">
            <a:extLst>
              <a:ext uri="{FF2B5EF4-FFF2-40B4-BE49-F238E27FC236}">
                <ns2:creationId id="{C6F78E35-4281-41F5-9765-D5C1B12149E3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115F9675-3C6B-48E5-88FA-CA85B5045445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04">
            <a:extLst>
              <a:ext uri="{FF2B5EF4-FFF2-40B4-BE49-F238E27FC236}">
                <ns2:creationId id="{653D7742-A992-4D7C-B7A6-3EC6C73E9DDA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" name="Kimi K3 · 创作要求 → 程序 → 运行画面">
            <a:extLst>
              <a:ext uri="{FF2B5EF4-FFF2-40B4-BE49-F238E27FC236}">
                <ns2:creationId id="{2863784B-CDC5-4DA2-8DEA-51928E55174A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Kimi K3 · 创作要求 → 程序 → 运行画面</a:t>
            </a:r>
          </a:p>
        </p:txBody>
      </p:sp>
      <p:pic>
        <p:nvPicPr>
          <p:cNvPr id="2004" name="按要求生成可玩的游戏（静态封面）" descr="按要求生成可玩的游戏的视频封面"/>
          <p:cNvPicPr>
            <a:picLocks noChangeAspect="1"/>
          </p:cNvPicPr>
          <p:nvPr/>
        </p:nvPicPr>
        <p:blipFill>
          <a:blip r:embed="R4846ac0817f94449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pic>
        <p:nvPicPr>
          <p:cNvPr id="23" name="按要求生成可玩的游戏（内嵌视频）" descr="按要求生成可玩的游戏，放映时点击播放">
            <a:hlinkClick action="ppaction://media"/>
          </p:cNvPr>
          <p:cNvPicPr>
            <a:picLocks noChangeAspect="1"/>
          </p:cNvPicPr>
          <p:nvPr>
            <a:videoFile r:link="rIdEmbeddedVideo"/>
            <p:extLst>
              <p:ext uri="{DAA4B4D4-6D71-4841-9C94-3DE7FCFB9230}">
                <p14:media r:embed="rIdEmbeddedMedia"/>
              </p:ext>
            </p:extLst>
          </p:nvPr>
        </p:nvPicPr>
        <p:blipFill>
          <a:blip r:embed="R4846ac0817f94449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sp>
        <p:nvSpPr>
          <p:cNvPr id="9" name="输入">
            <a:extLst>
              <a:ext uri="{FF2B5EF4-FFF2-40B4-BE49-F238E27FC236}">
                <ns2:creationId id="{429E3BBB-6FD9-4B19-94FE-7A2D3E2F6E85}"/>
              </a:ext>
            </a:extLst>
          </p:cNvPr>
          <p:cNvSpPr>
            <a:spLocks noGrp="1"/>
          </p:cNvSpPr>
          <p:nvPr/>
        </p:nvSpPr>
        <p:spPr>
          <a:xfrm>
            <a:off x="8686800" y="22479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输入</a:t>
            </a:r>
          </a:p>
        </p:txBody>
      </p:sp>
      <p:sp>
        <p:nvSpPr>
          <p:cNvPr id="10" name="场景、角色&#10;和操作方式等要求。">
            <a:extLst>
              <a:ext uri="{FF2B5EF4-FFF2-40B4-BE49-F238E27FC236}">
                <ns2:creationId id="{3636FECD-A6B5-4AF9-B8C6-9DD3E0280B1B}"/>
              </a:ext>
            </a:extLst>
          </p:cNvPr>
          <p:cNvSpPr>
            <a:spLocks noGrp="1"/>
          </p:cNvSpPr>
          <p:nvPr/>
        </p:nvSpPr>
        <p:spPr>
          <a:xfrm>
            <a:off x="8686800" y="26765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场景、角色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和操作方式等要求。</a:t>
            </a:r>
          </a:p>
        </p:txBody>
      </p:sp>
      <p:sp>
        <p:nvSpPr>
          <p:cNvPr id="11" name="观看重点">
            <a:extLst>
              <a:ext uri="{FF2B5EF4-FFF2-40B4-BE49-F238E27FC236}">
                <ns2:creationId id="{4F064E25-BF78-45EB-93AD-B79083596E12}"/>
              </a:ext>
            </a:extLst>
          </p:cNvPr>
          <p:cNvSpPr>
            <a:spLocks noGrp="1"/>
          </p:cNvSpPr>
          <p:nvPr/>
        </p:nvSpPr>
        <p:spPr>
          <a:xfrm>
            <a:off x="8686800" y="38100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观看重点</a:t>
            </a:r>
          </a:p>
        </p:txBody>
      </p:sp>
      <p:sp>
        <p:nvSpPr>
          <p:cNvPr id="12" name="角色怎样移动？&#10;天气或光照能否改变？">
            <a:extLst>
              <a:ext uri="{FF2B5EF4-FFF2-40B4-BE49-F238E27FC236}">
                <ns2:creationId id="{A80B857A-11D6-4501-A1B3-70660E463320}"/>
              </a:ext>
            </a:extLst>
          </p:cNvPr>
          <p:cNvSpPr>
            <a:spLocks noGrp="1"/>
          </p:cNvSpPr>
          <p:nvPr/>
        </p:nvSpPr>
        <p:spPr>
          <a:xfrm>
            <a:off x="8686800" y="42386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角色怎样移动？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天气或光照能否改变？</a:t>
            </a:r>
          </a:p>
        </p:txBody>
      </p:sp>
      <p:sp>
        <p:nvSpPr>
          <p:cNvPr id="13" name="官方示例 · 2026 年 7 月">
            <a:extLst>
              <a:ext uri="{FF2B5EF4-FFF2-40B4-BE49-F238E27FC236}">
                <ns2:creationId id="{8A3A0DCE-E1E9-4879-9DE9-0A24546DE4D9}"/>
              </a:ext>
            </a:extLst>
          </p:cNvPr>
          <p:cNvSpPr>
            <a:spLocks noGrp="1"/>
          </p:cNvSpPr>
          <p:nvPr/>
        </p:nvSpPr>
        <p:spPr>
          <a:xfrm>
            <a:off x="8686800" y="5305425"/>
            <a:ext cx="289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官方示例 · 2026 年 7 月</a:t>
            </a:r>
          </a:p>
        </p:txBody>
      </p:sp>
      <p:sp>
        <p:nvSpPr>
          <p:cNvPr id="14" name="点击画面播放">
            <a:extLst>
              <a:ext uri="{FF2B5EF4-FFF2-40B4-BE49-F238E27FC236}">
                <ns2:creationId id="{0B59618C-568E-47B4-8CF2-0E1E9E2A3F61}"/>
              </a:ext>
            </a:extLst>
          </p:cNvPr>
          <p:cNvSpPr>
            <a:spLocks noGrp="1"/>
          </p:cNvSpPr>
          <p:nvPr/>
        </p:nvSpPr>
        <p:spPr>
          <a:xfrm>
            <a:off x="8686800" y="56388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点击画面播放</a:t>
            </a:r>
          </a:p>
        </p:txBody>
      </p:sp>
      <p:sp>
        <p:nvSpPr>
          <p:cNvPr id="15" name="AI生成程序，程序运行后形成可交互作品。">
            <a:extLst>
              <a:ext uri="{FF2B5EF4-FFF2-40B4-BE49-F238E27FC236}">
                <ns2:creationId id="{7F5D8FAB-3832-481C-B92C-C52FFA3C3D15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7620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AI生成程序，程序运行后形成可交互作品。</a:t>
            </a:r>
          </a:p>
        </p:txBody>
      </p:sp>
    </p:spTree>
    <p:extLst>
      <p:ext uri="{BB962C8B-B14F-4D97-AF65-F5344CB8AC3E}">
        <p14:creationId val="1850063973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E1C67614-932C-4BC1-8E12-2D4D61426B4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AI 的能力">
            <a:extLst>
              <a:ext uri="{FF2B5EF4-FFF2-40B4-BE49-F238E27FC236}">
                <ns2:creationId id="{65D70001-C54F-44A7-9153-9038170E0C43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的能力</a:t>
            </a:r>
          </a:p>
        </p:txBody>
      </p:sp>
      <p:sp>
        <p:nvSpPr>
          <p:cNvPr id="3" name="看着展品，听你提问">
            <a:extLst>
              <a:ext uri="{FF2B5EF4-FFF2-40B4-BE49-F238E27FC236}">
                <ns2:creationId id="{E0E9BCA2-A2F3-44E7-BC47-0ABD2EDB3636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看着展品，听你提问</a:t>
            </a:r>
          </a:p>
        </p:txBody>
      </p:sp>
      <p:sp>
        <p:nvSpPr>
          <p:cNvPr id="4" name="">
            <a:extLst>
              <a:ext uri="{FF2B5EF4-FFF2-40B4-BE49-F238E27FC236}">
                <ns2:creationId id="{A749B091-2697-4DB2-8161-13C8A4CA5FBC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156EBEEA-CA1D-412D-A2A4-62D088F06A92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05">
            <a:extLst>
              <a:ext uri="{FF2B5EF4-FFF2-40B4-BE49-F238E27FC236}">
                <ns2:creationId id="{D3443157-959C-402E-8631-09AF3D9D69D9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  <p:sp>
        <p:nvSpPr>
          <p:cNvPr id="7" name="SeedRealtime · 根据连续画面和语音进行交流">
            <a:extLst>
              <a:ext uri="{FF2B5EF4-FFF2-40B4-BE49-F238E27FC236}">
                <ns2:creationId id="{52D6882F-B566-4836-8074-C7BA40AE56B2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SeedRealtime · 根据连续画面和语音进行交流</a:t>
            </a:r>
          </a:p>
        </p:txBody>
      </p:sp>
      <p:pic>
        <p:nvPicPr>
          <p:cNvPr id="2005" name="看着展品，听你提问（静态封面）" descr="看着展品，听你提问的视频封面"/>
          <p:cNvPicPr>
            <a:picLocks noChangeAspect="1"/>
          </p:cNvPicPr>
          <p:nvPr/>
        </p:nvPicPr>
        <p:blipFill>
          <a:blip r:embed="R58c12c0efeaf43b9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pic>
        <p:nvPicPr>
          <p:cNvPr id="23" name="看着展品，听你提问（内嵌视频）" descr="看着展品，听你提问，放映时点击播放">
            <a:hlinkClick action="ppaction://media"/>
          </p:cNvPr>
          <p:cNvPicPr>
            <a:picLocks noChangeAspect="1"/>
          </p:cNvPicPr>
          <p:nvPr>
            <a:videoFile r:link="rIdEmbeddedVideo"/>
            <p:extLst>
              <p:ext uri="{DAA4B4D4-6D71-4841-9C94-3DE7FCFB9230}">
                <p14:media r:embed="rIdEmbeddedMedia"/>
              </p:ext>
            </p:extLst>
          </p:nvPr>
        </p:nvPicPr>
        <p:blipFill>
          <a:blip r:embed="R58c12c0efeaf43b9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sp>
        <p:nvSpPr>
          <p:cNvPr id="9" name="输入">
            <a:extLst>
              <a:ext uri="{FF2B5EF4-FFF2-40B4-BE49-F238E27FC236}">
                <ns2:creationId id="{59054D70-0EB1-494D-BD96-ABC7B77766D4}"/>
              </a:ext>
            </a:extLst>
          </p:cNvPr>
          <p:cNvSpPr>
            <a:spLocks noGrp="1"/>
          </p:cNvSpPr>
          <p:nvPr/>
        </p:nvSpPr>
        <p:spPr>
          <a:xfrm>
            <a:off x="8686800" y="22479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输入</a:t>
            </a:r>
          </a:p>
        </p:txBody>
      </p:sp>
      <p:sp>
        <p:nvSpPr>
          <p:cNvPr id="10" name="摄像头中的展品，&#10;以及参观者的问题。">
            <a:extLst>
              <a:ext uri="{FF2B5EF4-FFF2-40B4-BE49-F238E27FC236}">
                <ns2:creationId id="{7E5D521F-E23A-41C1-9565-9C2ADE059D17}"/>
              </a:ext>
            </a:extLst>
          </p:cNvPr>
          <p:cNvSpPr>
            <a:spLocks noGrp="1"/>
          </p:cNvSpPr>
          <p:nvPr/>
        </p:nvSpPr>
        <p:spPr>
          <a:xfrm>
            <a:off x="8686800" y="26765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摄像头中的展品，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以及参观者的问题。</a:t>
            </a:r>
          </a:p>
        </p:txBody>
      </p:sp>
      <p:sp>
        <p:nvSpPr>
          <p:cNvPr id="11" name="观看重点">
            <a:extLst>
              <a:ext uri="{FF2B5EF4-FFF2-40B4-BE49-F238E27FC236}">
                <ns2:creationId id="{8A5B9B78-5C86-47D6-900F-21BA16B66615}"/>
              </a:ext>
            </a:extLst>
          </p:cNvPr>
          <p:cNvSpPr>
            <a:spLocks noGrp="1"/>
          </p:cNvSpPr>
          <p:nvPr/>
        </p:nvSpPr>
        <p:spPr>
          <a:xfrm>
            <a:off x="8686800" y="38100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观看重点</a:t>
            </a:r>
          </a:p>
        </p:txBody>
      </p:sp>
      <p:sp>
        <p:nvSpPr>
          <p:cNvPr id="12" name="镜头换到新展品时，&#10;回答是否跟着改变？">
            <a:extLst>
              <a:ext uri="{FF2B5EF4-FFF2-40B4-BE49-F238E27FC236}">
                <ns2:creationId id="{2929F2E9-1C29-4CC8-A8A2-C098EA0CC6E1}"/>
              </a:ext>
            </a:extLst>
          </p:cNvPr>
          <p:cNvSpPr>
            <a:spLocks noGrp="1"/>
          </p:cNvSpPr>
          <p:nvPr/>
        </p:nvSpPr>
        <p:spPr>
          <a:xfrm>
            <a:off x="8686800" y="42386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镜头换到新展品时，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回答是否跟着改变？</a:t>
            </a:r>
          </a:p>
        </p:txBody>
      </p:sp>
      <p:sp>
        <p:nvSpPr>
          <p:cNvPr id="13" name="官方示例 · 2026.08.05">
            <a:extLst>
              <a:ext uri="{FF2B5EF4-FFF2-40B4-BE49-F238E27FC236}">
                <ns2:creationId id="{E398B567-B328-40D4-A320-3C5176178460}"/>
              </a:ext>
            </a:extLst>
          </p:cNvPr>
          <p:cNvSpPr>
            <a:spLocks noGrp="1"/>
          </p:cNvSpPr>
          <p:nvPr/>
        </p:nvSpPr>
        <p:spPr>
          <a:xfrm>
            <a:off x="8686800" y="5305425"/>
            <a:ext cx="289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官方示例 · 2026.08.05</a:t>
            </a:r>
          </a:p>
        </p:txBody>
      </p:sp>
      <p:sp>
        <p:nvSpPr>
          <p:cNvPr id="14" name="点击画面播放">
            <a:extLst>
              <a:ext uri="{FF2B5EF4-FFF2-40B4-BE49-F238E27FC236}">
                <ns2:creationId id="{4FE5F91B-5F25-4707-B238-40F157175A03}"/>
              </a:ext>
            </a:extLst>
          </p:cNvPr>
          <p:cNvSpPr>
            <a:spLocks noGrp="1"/>
          </p:cNvSpPr>
          <p:nvPr/>
        </p:nvSpPr>
        <p:spPr>
          <a:xfrm>
            <a:off x="8686800" y="56388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点击画面播放</a:t>
            </a:r>
          </a:p>
        </p:txBody>
      </p:sp>
      <p:sp>
        <p:nvSpPr>
          <p:cNvPr id="15" name="画面和声音都能成为模型的输入。">
            <a:extLst>
              <a:ext uri="{FF2B5EF4-FFF2-40B4-BE49-F238E27FC236}">
                <ns2:creationId id="{0C55500D-74FA-4C3F-B87C-4B6658BB0DAD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7620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画面和声音都能成为模型的输入。</a:t>
            </a:r>
          </a:p>
        </p:txBody>
      </p:sp>
    </p:spTree>
    <p:extLst>
      <p:ext uri="{BB962C8B-B14F-4D97-AF65-F5344CB8AC3E}">
        <p14:creationId val="431438832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B812049A-4BE3-4D39-A635-E376F6F085F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AI 的能力">
            <a:extLst>
              <a:ext uri="{FF2B5EF4-FFF2-40B4-BE49-F238E27FC236}">
                <ns2:creationId id="{B934CD81-F2FC-422C-860B-5CDC7B127FD8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的能力</a:t>
            </a:r>
          </a:p>
        </p:txBody>
      </p:sp>
      <p:sp>
        <p:nvSpPr>
          <p:cNvPr id="3" name="让古诗变成一段短片">
            <a:extLst>
              <a:ext uri="{FF2B5EF4-FFF2-40B4-BE49-F238E27FC236}">
                <ns2:creationId id="{EB69DEB0-DD7B-4FD6-91AF-C7B8F4538707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让古诗变成一段短片</a:t>
            </a:r>
          </a:p>
        </p:txBody>
      </p:sp>
      <p:sp>
        <p:nvSpPr>
          <p:cNvPr id="4" name="">
            <a:extLst>
              <a:ext uri="{FF2B5EF4-FFF2-40B4-BE49-F238E27FC236}">
                <ns2:creationId id="{6DD5F2C9-722D-4D3B-A3B8-61D375FAABB4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75297502-356D-4DBB-9B02-CE6586A0DF6A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06">
            <a:extLst>
              <a:ext uri="{FF2B5EF4-FFF2-40B4-BE49-F238E27FC236}">
                <ns2:creationId id="{6897F7A1-EB8E-49D7-9789-B47BA3817ED3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  <p:sp>
        <p:nvSpPr>
          <p:cNvPr id="7" name="Seedance 2.5 · 《青玉案·元夕》意境创作">
            <a:extLst>
              <a:ext uri="{FF2B5EF4-FFF2-40B4-BE49-F238E27FC236}">
                <ns2:creationId id="{69D2F02B-3930-4B50-8EAA-7EB50DBD185D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Seedance 2.5 · 《青玉案·元夕》意境创作</a:t>
            </a:r>
          </a:p>
        </p:txBody>
      </p:sp>
      <p:pic>
        <p:nvPicPr>
          <p:cNvPr id="2006" name="让古诗变成一段短片（静态封面）" descr="让古诗变成一段短片的视频封面"/>
          <p:cNvPicPr>
            <a:picLocks noChangeAspect="1"/>
          </p:cNvPicPr>
          <p:nvPr/>
        </p:nvPicPr>
        <p:blipFill>
          <a:blip r:embed="R985132c1a8184310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pic>
        <p:nvPicPr>
          <p:cNvPr id="23" name="让古诗变成一段短片（内嵌视频）" descr="让古诗变成一段短片，放映时点击播放">
            <a:hlinkClick action="ppaction://media"/>
          </p:cNvPr>
          <p:cNvPicPr>
            <a:picLocks noChangeAspect="1"/>
          </p:cNvPicPr>
          <p:nvPr>
            <a:videoFile r:link="rIdEmbeddedVideo"/>
            <p:extLst>
              <p:ext uri="{DAA4B4D4-6D71-4841-9C94-3DE7FCFB9230}">
                <p14:media r:embed="rIdEmbeddedMedia"/>
              </p:ext>
            </p:extLst>
          </p:nvPr>
        </p:nvPicPr>
        <p:blipFill>
          <a:blip r:embed="R985132c1a8184310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sp>
        <p:nvSpPr>
          <p:cNvPr id="9" name="输入">
            <a:extLst>
              <a:ext uri="{FF2B5EF4-FFF2-40B4-BE49-F238E27FC236}">
                <ns2:creationId id="{838C0DCF-0C5C-48CD-B75E-EE353C2EA7E1}"/>
              </a:ext>
            </a:extLst>
          </p:cNvPr>
          <p:cNvSpPr>
            <a:spLocks noGrp="1"/>
          </p:cNvSpPr>
          <p:nvPr/>
        </p:nvSpPr>
        <p:spPr>
          <a:xfrm>
            <a:off x="8686800" y="22479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输入</a:t>
            </a:r>
          </a:p>
        </p:txBody>
      </p:sp>
      <p:sp>
        <p:nvSpPr>
          <p:cNvPr id="10" name="古诗意境、人物，&#10;以及场景和镜头要求。">
            <a:extLst>
              <a:ext uri="{FF2B5EF4-FFF2-40B4-BE49-F238E27FC236}">
                <ns2:creationId id="{6E6D476D-AB10-4A37-9D20-51899DC2085D}"/>
              </a:ext>
            </a:extLst>
          </p:cNvPr>
          <p:cNvSpPr>
            <a:spLocks noGrp="1"/>
          </p:cNvSpPr>
          <p:nvPr/>
        </p:nvSpPr>
        <p:spPr>
          <a:xfrm>
            <a:off x="8686800" y="26765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古诗意境、人物，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以及场景和镜头要求。</a:t>
            </a:r>
          </a:p>
        </p:txBody>
      </p:sp>
      <p:sp>
        <p:nvSpPr>
          <p:cNvPr id="11" name="观看重点">
            <a:extLst>
              <a:ext uri="{FF2B5EF4-FFF2-40B4-BE49-F238E27FC236}">
                <ns2:creationId id="{D7C476BE-4917-450F-9935-B3763CF85701}"/>
              </a:ext>
            </a:extLst>
          </p:cNvPr>
          <p:cNvSpPr>
            <a:spLocks noGrp="1"/>
          </p:cNvSpPr>
          <p:nvPr/>
        </p:nvSpPr>
        <p:spPr>
          <a:xfrm>
            <a:off x="8686800" y="38100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观看重点</a:t>
            </a:r>
          </a:p>
        </p:txBody>
      </p:sp>
      <p:sp>
        <p:nvSpPr>
          <p:cNvPr id="12" name="场景怎样转换？&#10;人物和声音是否连贯？">
            <a:extLst>
              <a:ext uri="{FF2B5EF4-FFF2-40B4-BE49-F238E27FC236}">
                <ns2:creationId id="{F23AC3AC-0059-4D17-A547-8ADD3C486AC9}"/>
              </a:ext>
            </a:extLst>
          </p:cNvPr>
          <p:cNvSpPr>
            <a:spLocks noGrp="1"/>
          </p:cNvSpPr>
          <p:nvPr/>
        </p:nvSpPr>
        <p:spPr>
          <a:xfrm>
            <a:off x="8686800" y="42386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场景怎样转换？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人物和声音是否连贯？</a:t>
            </a:r>
          </a:p>
        </p:txBody>
      </p:sp>
      <p:sp>
        <p:nvSpPr>
          <p:cNvPr id="13" name="官方示例 · 2026.07.31">
            <a:extLst>
              <a:ext uri="{FF2B5EF4-FFF2-40B4-BE49-F238E27FC236}">
                <ns2:creationId id="{76600A6D-9F53-4067-B4FA-5701C0AB81F8}"/>
              </a:ext>
            </a:extLst>
          </p:cNvPr>
          <p:cNvSpPr>
            <a:spLocks noGrp="1"/>
          </p:cNvSpPr>
          <p:nvPr/>
        </p:nvSpPr>
        <p:spPr>
          <a:xfrm>
            <a:off x="8686800" y="5305425"/>
            <a:ext cx="289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官方示例 · 2026.07.31</a:t>
            </a:r>
          </a:p>
        </p:txBody>
      </p:sp>
      <p:sp>
        <p:nvSpPr>
          <p:cNvPr id="14" name="点击画面播放">
            <a:extLst>
              <a:ext uri="{FF2B5EF4-FFF2-40B4-BE49-F238E27FC236}">
                <ns2:creationId id="{F00FF434-D507-4087-8D24-04770485777F}"/>
              </a:ext>
            </a:extLst>
          </p:cNvPr>
          <p:cNvSpPr>
            <a:spLocks noGrp="1"/>
          </p:cNvSpPr>
          <p:nvPr/>
        </p:nvSpPr>
        <p:spPr>
          <a:xfrm>
            <a:off x="8686800" y="56388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点击画面播放</a:t>
            </a:r>
          </a:p>
        </p:txBody>
      </p:sp>
      <p:sp>
        <p:nvSpPr>
          <p:cNvPr id="15" name="创作者决定表达什么，并检查成片。">
            <a:extLst>
              <a:ext uri="{FF2B5EF4-FFF2-40B4-BE49-F238E27FC236}">
                <ns2:creationId id="{70E73F94-09AE-4625-8443-508CCDC25522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7620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创作者决定表达什么，并检查成片。</a:t>
            </a:r>
          </a:p>
        </p:txBody>
      </p:sp>
    </p:spTree>
    <p:extLst>
      <p:ext uri="{BB962C8B-B14F-4D97-AF65-F5344CB8AC3E}">
        <p14:creationId val="790290609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B5EBE9EC-BCF3-41E5-A6D9-F59401979E5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AI 的能力">
            <a:extLst>
              <a:ext uri="{FF2B5EF4-FFF2-40B4-BE49-F238E27FC236}">
                <ns2:creationId id="{A458377E-6832-46EA-AACD-4646DA8DCBE5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的能力</a:t>
            </a:r>
          </a:p>
        </p:txBody>
      </p:sp>
      <p:sp>
        <p:nvSpPr>
          <p:cNvPr id="3" name="用图像帮助三维设计">
            <a:extLst>
              <a:ext uri="{FF2B5EF4-FFF2-40B4-BE49-F238E27FC236}">
                <ns2:creationId id="{0964FF0C-EF3E-4FB9-A722-5A62DEA9EA97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用图像帮助三维设计</a:t>
            </a:r>
          </a:p>
        </p:txBody>
      </p:sp>
      <p:sp>
        <p:nvSpPr>
          <p:cNvPr id="4" name="">
            <a:extLst>
              <a:ext uri="{FF2B5EF4-FFF2-40B4-BE49-F238E27FC236}">
                <ns2:creationId id="{B87B506A-420B-49B7-96D0-EBBEBB4C0CB6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8A72DDEA-F3E2-4310-8599-6E0BB947C071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07">
            <a:extLst>
              <a:ext uri="{FF2B5EF4-FFF2-40B4-BE49-F238E27FC236}">
                <ns2:creationId id="{7169A7AA-898B-4916-B793-B128ECA8C268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  <p:sp>
        <p:nvSpPr>
          <p:cNvPr id="7" name="Qwen3.8-Max · 结合视觉信息安排室内空间">
            <a:extLst>
              <a:ext uri="{FF2B5EF4-FFF2-40B4-BE49-F238E27FC236}">
                <ns2:creationId id="{8627A790-5EAF-414F-A404-2E1BEE6B0253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Qwen3.8-Max · 结合视觉信息安排室内空间</a:t>
            </a:r>
          </a:p>
        </p:txBody>
      </p:sp>
      <p:pic>
        <p:nvPicPr>
          <p:cNvPr id="2007" name="用图像帮助三维设计（静态封面）" descr="用图像帮助三维设计的视频封面"/>
          <p:cNvPicPr>
            <a:picLocks noChangeAspect="1"/>
          </p:cNvPicPr>
          <p:nvPr/>
        </p:nvPicPr>
        <p:blipFill>
          <a:blip r:embed="R86e7ed0d99304a72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pic>
        <p:nvPicPr>
          <p:cNvPr id="23" name="用图像帮助三维设计（内嵌视频）" descr="用图像帮助三维设计，放映时点击播放">
            <a:hlinkClick action="ppaction://media"/>
          </p:cNvPr>
          <p:cNvPicPr>
            <a:picLocks noChangeAspect="1"/>
          </p:cNvPicPr>
          <p:nvPr>
            <a:videoFile r:link="rIdEmbeddedVideo"/>
            <p:extLst>
              <p:ext uri="{DAA4B4D4-6D71-4841-9C94-3DE7FCFB9230}">
                <p14:media r:embed="rIdEmbeddedMedia"/>
              </p:ext>
            </p:extLst>
          </p:nvPr>
        </p:nvPicPr>
        <p:blipFill>
          <a:blip r:embed="R86e7ed0d99304a72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sp>
        <p:nvSpPr>
          <p:cNvPr id="9" name="输入">
            <a:extLst>
              <a:ext uri="{FF2B5EF4-FFF2-40B4-BE49-F238E27FC236}">
                <ns2:creationId id="{5B5000F7-1CA6-498E-9CBA-0CA4060EE8EC}"/>
              </a:ext>
            </a:extLst>
          </p:cNvPr>
          <p:cNvSpPr>
            <a:spLocks noGrp="1"/>
          </p:cNvSpPr>
          <p:nvPr/>
        </p:nvSpPr>
        <p:spPr>
          <a:xfrm>
            <a:off x="8686800" y="22479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输入</a:t>
            </a:r>
          </a:p>
        </p:txBody>
      </p:sp>
      <p:sp>
        <p:nvSpPr>
          <p:cNvPr id="10" name="房间、家具的图像&#10;和设计要求。">
            <a:extLst>
              <a:ext uri="{FF2B5EF4-FFF2-40B4-BE49-F238E27FC236}">
                <ns2:creationId id="{362FB7BC-A03D-41AE-A17F-49C86BB74147}"/>
              </a:ext>
            </a:extLst>
          </p:cNvPr>
          <p:cNvSpPr>
            <a:spLocks noGrp="1"/>
          </p:cNvSpPr>
          <p:nvPr/>
        </p:nvSpPr>
        <p:spPr>
          <a:xfrm>
            <a:off x="8686800" y="26765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房间、家具的图像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和设计要求。</a:t>
            </a:r>
          </a:p>
        </p:txBody>
      </p:sp>
      <p:sp>
        <p:nvSpPr>
          <p:cNvPr id="11" name="观看重点">
            <a:extLst>
              <a:ext uri="{FF2B5EF4-FFF2-40B4-BE49-F238E27FC236}">
                <ns2:creationId id="{32BF918E-65D5-469E-B00E-5024236840DB}"/>
              </a:ext>
            </a:extLst>
          </p:cNvPr>
          <p:cNvSpPr>
            <a:spLocks noGrp="1"/>
          </p:cNvSpPr>
          <p:nvPr/>
        </p:nvSpPr>
        <p:spPr>
          <a:xfrm>
            <a:off x="8686800" y="38100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观看重点</a:t>
            </a:r>
          </a:p>
        </p:txBody>
      </p:sp>
      <p:sp>
        <p:nvSpPr>
          <p:cNvPr id="12" name="怎样安排家具？&#10;能否换个角度查看？">
            <a:extLst>
              <a:ext uri="{FF2B5EF4-FFF2-40B4-BE49-F238E27FC236}">
                <ns2:creationId id="{CDFCA549-9398-4EAF-BB11-C4725216F10F}"/>
              </a:ext>
            </a:extLst>
          </p:cNvPr>
          <p:cNvSpPr>
            <a:spLocks noGrp="1"/>
          </p:cNvSpPr>
          <p:nvPr/>
        </p:nvSpPr>
        <p:spPr>
          <a:xfrm>
            <a:off x="8686800" y="42386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怎样安排家具？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能否换个角度查看？</a:t>
            </a:r>
          </a:p>
        </p:txBody>
      </p:sp>
      <p:sp>
        <p:nvSpPr>
          <p:cNvPr id="13" name="官方示例 · 2026.08.03">
            <a:extLst>
              <a:ext uri="{FF2B5EF4-FFF2-40B4-BE49-F238E27FC236}">
                <ns2:creationId id="{5CD6330C-ACCF-46FE-A0C4-801C87278FA4}"/>
              </a:ext>
            </a:extLst>
          </p:cNvPr>
          <p:cNvSpPr>
            <a:spLocks noGrp="1"/>
          </p:cNvSpPr>
          <p:nvPr/>
        </p:nvSpPr>
        <p:spPr>
          <a:xfrm>
            <a:off x="8686800" y="5305425"/>
            <a:ext cx="289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官方示例 · 2026.08.03</a:t>
            </a:r>
          </a:p>
        </p:txBody>
      </p:sp>
      <p:sp>
        <p:nvSpPr>
          <p:cNvPr id="14" name="点击画面播放">
            <a:extLst>
              <a:ext uri="{FF2B5EF4-FFF2-40B4-BE49-F238E27FC236}">
                <ns2:creationId id="{22AC325E-EE59-4EEA-B64D-5ED10C0B4EA9}"/>
              </a:ext>
            </a:extLst>
          </p:cNvPr>
          <p:cNvSpPr>
            <a:spLocks noGrp="1"/>
          </p:cNvSpPr>
          <p:nvPr/>
        </p:nvSpPr>
        <p:spPr>
          <a:xfrm>
            <a:off x="8686800" y="56388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点击画面播放</a:t>
            </a:r>
          </a:p>
        </p:txBody>
      </p:sp>
      <p:sp>
        <p:nvSpPr>
          <p:cNvPr id="15" name="图像帮助理解任务，程序和工具呈现结果。">
            <a:extLst>
              <a:ext uri="{FF2B5EF4-FFF2-40B4-BE49-F238E27FC236}">
                <ns2:creationId id="{8473EB34-36BD-42D5-A965-561A874D4095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7620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图像帮助理解任务，程序和工具呈现结果。</a:t>
            </a:r>
          </a:p>
        </p:txBody>
      </p:sp>
    </p:spTree>
    <p:extLst>
      <p:ext uri="{BB962C8B-B14F-4D97-AF65-F5344CB8AC3E}">
        <p14:creationId val="1552392147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353DAA12-D476-4801-8B46-E54BB76FA1C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AI 的能力">
            <a:extLst>
              <a:ext uri="{FF2B5EF4-FFF2-40B4-BE49-F238E27FC236}">
                <ns2:creationId id="{2D246F60-3148-4B16-A628-8660AB4B85E1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的能力</a:t>
            </a:r>
          </a:p>
        </p:txBody>
      </p:sp>
      <p:sp>
        <p:nvSpPr>
          <p:cNvPr id="3" name="让AI操作软件">
            <a:extLst>
              <a:ext uri="{FF2B5EF4-FFF2-40B4-BE49-F238E27FC236}">
                <ns2:creationId id="{879C5EF3-8AD1-463D-A5AE-B9DB780C92B1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让AI操作软件</a:t>
            </a:r>
          </a:p>
        </p:txBody>
      </p:sp>
      <p:sp>
        <p:nvSpPr>
          <p:cNvPr id="4" name="">
            <a:extLst>
              <a:ext uri="{FF2B5EF4-FFF2-40B4-BE49-F238E27FC236}">
                <ns2:creationId id="{F8BDCB2E-3859-47D2-ABD9-5DA4756797FB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255A85EC-5449-41B0-A1A8-91F45E767299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08">
            <a:extLst>
              <a:ext uri="{FF2B5EF4-FFF2-40B4-BE49-F238E27FC236}">
                <ns2:creationId id="{E92FEB73-1EA6-4DF5-9861-95F8FFAE42C4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  <p:sp>
        <p:nvSpPr>
          <p:cNvPr id="7" name="OpenAI GPT-6 Astra · 完成包含多个步骤的任务">
            <a:extLst>
              <a:ext uri="{FF2B5EF4-FFF2-40B4-BE49-F238E27FC236}">
                <ns2:creationId id="{30295D99-D0E2-410A-BB28-1ED6F352F14B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OpenAI GPT-6 Astra · 完成包含多个步骤的任务</a:t>
            </a:r>
          </a:p>
        </p:txBody>
      </p:sp>
      <p:pic>
        <p:nvPicPr>
          <p:cNvPr id="23" name=""/>
          <p:cNvPicPr>
            <a:picLocks noChangeAspect="1"/>
          </p:cNvPicPr>
          <p:nvPr/>
        </p:nvPicPr>
        <p:blipFill>
          <a:blip r:embed="R5ca98d139db7490a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sp>
        <p:nvSpPr>
          <p:cNvPr id="9" name="输入">
            <a:extLst>
              <a:ext uri="{FF2B5EF4-FFF2-40B4-BE49-F238E27FC236}">
                <ns2:creationId id="{E1DDE40E-C8A0-468A-93DB-3C0B1DB7C2E7}"/>
              </a:ext>
            </a:extLst>
          </p:cNvPr>
          <p:cNvSpPr>
            <a:spLocks noGrp="1"/>
          </p:cNvSpPr>
          <p:nvPr/>
        </p:nvSpPr>
        <p:spPr>
          <a:xfrm>
            <a:off x="8686800" y="22479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输入</a:t>
            </a:r>
          </a:p>
        </p:txBody>
      </p:sp>
      <p:sp>
        <p:nvSpPr>
          <p:cNvPr id="10" name="任务目标、相关资料&#10;和可使用的软件。">
            <a:extLst>
              <a:ext uri="{FF2B5EF4-FFF2-40B4-BE49-F238E27FC236}">
                <ns2:creationId id="{88E4FB7D-7FB6-472D-95FE-DDFE0690AB40}"/>
              </a:ext>
            </a:extLst>
          </p:cNvPr>
          <p:cNvSpPr>
            <a:spLocks noGrp="1"/>
          </p:cNvSpPr>
          <p:nvPr/>
        </p:nvSpPr>
        <p:spPr>
          <a:xfrm>
            <a:off x="8686800" y="26765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任务目标、相关资料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和可使用的软件。</a:t>
            </a:r>
          </a:p>
        </p:txBody>
      </p:sp>
      <p:sp>
        <p:nvSpPr>
          <p:cNvPr id="11" name="观看重点">
            <a:extLst>
              <a:ext uri="{FF2B5EF4-FFF2-40B4-BE49-F238E27FC236}">
                <ns2:creationId id="{FCA3CC0C-7343-4A16-ABA5-B595BADD827B}"/>
              </a:ext>
            </a:extLst>
          </p:cNvPr>
          <p:cNvSpPr>
            <a:spLocks noGrp="1"/>
          </p:cNvSpPr>
          <p:nvPr/>
        </p:nvSpPr>
        <p:spPr>
          <a:xfrm>
            <a:off x="8686800" y="38100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观看重点</a:t>
            </a:r>
          </a:p>
        </p:txBody>
      </p:sp>
      <p:sp>
        <p:nvSpPr>
          <p:cNvPr id="12" name="它做了哪些操作？&#10;怎样查看和修改结果？">
            <a:extLst>
              <a:ext uri="{FF2B5EF4-FFF2-40B4-BE49-F238E27FC236}">
                <ns2:creationId id="{6184104F-B125-40AA-A6C9-E35C8E23600D}"/>
              </a:ext>
            </a:extLst>
          </p:cNvPr>
          <p:cNvSpPr>
            <a:spLocks noGrp="1"/>
          </p:cNvSpPr>
          <p:nvPr/>
        </p:nvSpPr>
        <p:spPr>
          <a:xfrm>
            <a:off x="8686800" y="42386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它做了哪些操作？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怎样查看和修改结果？</a:t>
            </a:r>
          </a:p>
        </p:txBody>
      </p:sp>
      <p:sp>
        <p:nvSpPr>
          <p:cNvPr id="13" name="官方示例 · 2026.09.03">
            <a:extLst>
              <a:ext uri="{FF2B5EF4-FFF2-40B4-BE49-F238E27FC236}">
                <ns2:creationId id="{E9A8190A-22D8-494B-B4C4-F1181122F965}"/>
              </a:ext>
            </a:extLst>
          </p:cNvPr>
          <p:cNvSpPr>
            <a:spLocks noGrp="1"/>
          </p:cNvSpPr>
          <p:nvPr/>
        </p:nvSpPr>
        <p:spPr>
          <a:xfrm>
            <a:off x="8686800" y="5305425"/>
            <a:ext cx="289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官方示例 · 2026.09.03</a:t>
            </a:r>
          </a:p>
        </p:txBody>
      </p:sp>
      <p:sp>
        <p:nvSpPr>
          <p:cNvPr id="14" name="打开官方视频 ↗">
            <a:extLst>
              <a:ext uri="{FF2B5EF4-FFF2-40B4-BE49-F238E27FC236}">
                <ns2:creationId id="{ECB8B207-DED7-484F-B4E7-AAEE310DFCAA}"/>
              </a:ext>
            </a:extLst>
            <a:hlinkClick r:id="R30eb0a2637af4bb5"/>
          </p:cNvPr>
          <p:cNvSpPr>
            <a:spLocks noGrp="1"/>
          </p:cNvSpPr>
          <p:nvPr/>
        </p:nvSpPr>
        <p:spPr>
          <a:xfrm>
            <a:off x="8686800" y="56388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打开官方视频 ↗</a:t>
            </a:r>
          </a:p>
        </p:txBody>
      </p:sp>
      <p:sp>
        <p:nvSpPr>
          <p:cNvPr id="15" name="模型判断、软件操作和结果检查共同完成任务。">
            <a:extLst>
              <a:ext uri="{FF2B5EF4-FFF2-40B4-BE49-F238E27FC236}">
                <ns2:creationId id="{62FD00F7-E6D3-4318-BFA6-EC544EE944F3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7620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模型判断、软件操作和结果检查共同完成任务。</a:t>
            </a:r>
          </a:p>
        </p:txBody>
      </p:sp>
    </p:spTree>
    <p:extLst>
      <p:ext uri="{BB962C8B-B14F-4D97-AF65-F5344CB8AC3E}">
        <p14:creationId val="1480472918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2" name="">
            <a:extLst>
              <a:ext uri="{FF2B5EF4-FFF2-40B4-BE49-F238E27FC236}">
                <ns2:creationId id="{A1E776C7-9070-46C7-8458-9BF02248E9B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AI 的能力">
            <a:extLst>
              <a:ext uri="{FF2B5EF4-FFF2-40B4-BE49-F238E27FC236}">
                <ns2:creationId id="{0BC5B3DB-9E28-4697-87A3-CECC0E138C1C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的能力</a:t>
            </a:r>
          </a:p>
        </p:txBody>
      </p:sp>
      <p:sp>
        <p:nvSpPr>
          <p:cNvPr id="3" name="你想怎样修改这些作品？">
            <a:extLst>
              <a:ext uri="{FF2B5EF4-FFF2-40B4-BE49-F238E27FC236}">
                <ns2:creationId id="{0368AA01-BF73-4CA6-808C-7BC75F2A6CD2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你想怎样修改这些作品？</a:t>
            </a:r>
          </a:p>
        </p:txBody>
      </p:sp>
      <p:sp>
        <p:nvSpPr>
          <p:cNvPr id="4" name="">
            <a:extLst>
              <a:ext uri="{FF2B5EF4-FFF2-40B4-BE49-F238E27FC236}">
                <ns2:creationId id="{2DBF2E49-0039-460E-89C5-4DCE14A61253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0B9626FA-1BEE-4594-A346-4017E5E9C867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09">
            <a:extLst>
              <a:ext uri="{FF2B5EF4-FFF2-40B4-BE49-F238E27FC236}">
                <ns2:creationId id="{1FE122A3-536B-41B6-B0C4-A8BB45AF0AB6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  <p:sp>
        <p:nvSpPr>
          <p:cNvPr id="7" name="选一段刚才的演示，提出一个能检查的修改。">
            <a:extLst>
              <a:ext uri="{FF2B5EF4-FFF2-40B4-BE49-F238E27FC236}">
                <ns2:creationId id="{AEB6F400-E5C2-445A-ACA1-FA1BCF38A33A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选一段刚才的演示，提出一个能检查的修改。</a:t>
            </a:r>
          </a:p>
        </p:txBody>
      </p:sp>
      <p:sp>
        <p:nvSpPr>
          <p:cNvPr id="8" name="01">
            <a:extLst>
              <a:ext uri="{FF2B5EF4-FFF2-40B4-BE49-F238E27FC236}">
                <ns2:creationId id="{1D4FBD01-7433-49AC-A212-5E9943F329D5}"/>
              </a:ext>
            </a:extLst>
          </p:cNvPr>
          <p:cNvSpPr>
            <a:spLocks noGrp="1"/>
          </p:cNvSpPr>
          <p:nvPr/>
        </p:nvSpPr>
        <p:spPr>
          <a:xfrm>
            <a:off x="609600" y="2419350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9" name="">
            <a:extLst>
              <a:ext uri="{FF2B5EF4-FFF2-40B4-BE49-F238E27FC236}">
                <ns2:creationId id="{F2714773-4B9A-4828-917F-75F7AE84CCB6}"/>
              </a:ext>
            </a:extLst>
          </p:cNvPr>
          <p:cNvSpPr>
            <a:spLocks noGrp="1"/>
          </p:cNvSpPr>
          <p:nvPr/>
        </p:nvSpPr>
        <p:spPr>
          <a:xfrm>
            <a:off x="609600" y="3162300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0" name="可交互作品">
            <a:extLst>
              <a:ext uri="{FF2B5EF4-FFF2-40B4-BE49-F238E27FC236}">
                <ns2:creationId id="{B6FEC3C7-AE66-417D-9424-CF484BE1696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可交互作品</a:t>
            </a:r>
          </a:p>
        </p:txBody>
      </p:sp>
      <p:sp>
        <p:nvSpPr>
          <p:cNvPr id="11" name="开始前显示&#10;按键和对应动作。">
            <a:extLst>
              <a:ext uri="{FF2B5EF4-FFF2-40B4-BE49-F238E27FC236}">
                <ns2:creationId id="{1C2B4793-E92B-48E1-B07B-1381E5A53792}"/>
              </a:ext>
            </a:extLst>
          </p:cNvPr>
          <p:cNvSpPr>
            <a:spLocks noGrp="1"/>
          </p:cNvSpPr>
          <p:nvPr/>
        </p:nvSpPr>
        <p:spPr>
          <a:xfrm>
            <a:off x="609600" y="4048125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开始前显示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按键和对应动作。</a:t>
            </a:r>
          </a:p>
        </p:txBody>
      </p:sp>
      <p:sp>
        <p:nvSpPr>
          <p:cNvPr id="12" name="02">
            <a:extLst>
              <a:ext uri="{FF2B5EF4-FFF2-40B4-BE49-F238E27FC236}">
                <ns2:creationId id="{AF82E005-1433-4B2B-963F-37A796A45512}"/>
              </a:ext>
            </a:extLst>
          </p:cNvPr>
          <p:cNvSpPr>
            <a:spLocks noGrp="1"/>
          </p:cNvSpPr>
          <p:nvPr/>
        </p:nvSpPr>
        <p:spPr>
          <a:xfrm>
            <a:off x="4400550" y="2419350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3" name="">
            <a:extLst>
              <a:ext uri="{FF2B5EF4-FFF2-40B4-BE49-F238E27FC236}">
                <ns2:creationId id="{BDED6758-D6CE-450C-AF6A-9E7F35DA5533}"/>
              </a:ext>
            </a:extLst>
          </p:cNvPr>
          <p:cNvSpPr>
            <a:spLocks noGrp="1"/>
          </p:cNvSpPr>
          <p:nvPr/>
        </p:nvSpPr>
        <p:spPr>
          <a:xfrm>
            <a:off x="4400550" y="3162300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4" name="展品讲解">
            <a:extLst>
              <a:ext uri="{FF2B5EF4-FFF2-40B4-BE49-F238E27FC236}">
                <ns2:creationId id="{BBD0FFC3-85DC-420D-8A41-4FD2B6D7BB0A}"/>
              </a:ext>
            </a:extLst>
          </p:cNvPr>
          <p:cNvSpPr>
            <a:spLocks noGrp="1"/>
          </p:cNvSpPr>
          <p:nvPr/>
        </p:nvSpPr>
        <p:spPr>
          <a:xfrm>
            <a:off x="4400550" y="3371850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展品讲解</a:t>
            </a:r>
          </a:p>
        </p:txBody>
      </p:sp>
      <p:sp>
        <p:nvSpPr>
          <p:cNvPr id="15" name="先讲用途，&#10;再回答我的追问。">
            <a:extLst>
              <a:ext uri="{FF2B5EF4-FFF2-40B4-BE49-F238E27FC236}">
                <ns2:creationId id="{337C373D-910E-4D85-AED7-0DA4ED19EDFD}"/>
              </a:ext>
            </a:extLst>
          </p:cNvPr>
          <p:cNvSpPr>
            <a:spLocks noGrp="1"/>
          </p:cNvSpPr>
          <p:nvPr/>
        </p:nvSpPr>
        <p:spPr>
          <a:xfrm>
            <a:off x="4400550" y="4048125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先讲用途，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再回答我的追问。</a:t>
            </a:r>
          </a:p>
        </p:txBody>
      </p:sp>
      <p:sp>
        <p:nvSpPr>
          <p:cNvPr id="16" name="03">
            <a:extLst>
              <a:ext uri="{FF2B5EF4-FFF2-40B4-BE49-F238E27FC236}">
                <ns2:creationId id="{18DFBE04-01B1-458C-9314-B92E4BC1016B}"/>
              </a:ext>
            </a:extLst>
          </p:cNvPr>
          <p:cNvSpPr>
            <a:spLocks noGrp="1"/>
          </p:cNvSpPr>
          <p:nvPr/>
        </p:nvSpPr>
        <p:spPr>
          <a:xfrm>
            <a:off x="8191500" y="2419350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7" name="">
            <a:extLst>
              <a:ext uri="{FF2B5EF4-FFF2-40B4-BE49-F238E27FC236}">
                <ns2:creationId id="{4AE9BD6C-01C6-45B0-8291-2E3AFDC2544C}"/>
              </a:ext>
            </a:extLst>
          </p:cNvPr>
          <p:cNvSpPr>
            <a:spLocks noGrp="1"/>
          </p:cNvSpPr>
          <p:nvPr/>
        </p:nvSpPr>
        <p:spPr>
          <a:xfrm>
            <a:off x="8191500" y="3162300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8" name="视听创作">
            <a:extLst>
              <a:ext uri="{FF2B5EF4-FFF2-40B4-BE49-F238E27FC236}">
                <ns2:creationId id="{1BFADC38-F21E-46CE-9B1C-27E49A5DC73C}"/>
              </a:ext>
            </a:extLst>
          </p:cNvPr>
          <p:cNvSpPr>
            <a:spLocks noGrp="1"/>
          </p:cNvSpPr>
          <p:nvPr/>
        </p:nvSpPr>
        <p:spPr>
          <a:xfrm>
            <a:off x="8191500" y="3371850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视听创作</a:t>
            </a:r>
          </a:p>
        </p:txBody>
      </p:sp>
      <p:sp>
        <p:nvSpPr>
          <p:cNvPr id="19" name="保留主题，换成&#10;校园科技节的场景。">
            <a:extLst>
              <a:ext uri="{FF2B5EF4-FFF2-40B4-BE49-F238E27FC236}">
                <ns2:creationId id="{D28A80B6-AB46-43EA-8CF3-8FE02F9E4E58}"/>
              </a:ext>
            </a:extLst>
          </p:cNvPr>
          <p:cNvSpPr>
            <a:spLocks noGrp="1"/>
          </p:cNvSpPr>
          <p:nvPr/>
        </p:nvSpPr>
        <p:spPr>
          <a:xfrm>
            <a:off x="8191500" y="4048125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保留主题，换成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校园科技节的场景。</a:t>
            </a:r>
          </a:p>
        </p:txBody>
      </p:sp>
      <p:sp>
        <p:nvSpPr>
          <p:cNvPr id="20" name="">
            <a:extLst>
              <a:ext uri="{FF2B5EF4-FFF2-40B4-BE49-F238E27FC236}">
                <ns2:creationId id="{879336B6-289D-4948-86DA-C259A39489E6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1" name="把“更好”说具体：你改哪里，怎样检查？">
            <a:extLst>
              <a:ext uri="{FF2B5EF4-FFF2-40B4-BE49-F238E27FC236}">
                <ns2:creationId id="{A65BBA3C-B283-462C-AC51-29B8526D740B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把“更好”说具体：你改哪里，怎样检查？</a:t>
            </a:r>
          </a:p>
        </p:txBody>
      </p:sp>
    </p:spTree>
    <p:extLst>
      <p:ext uri="{BB962C8B-B14F-4D97-AF65-F5344CB8AC3E}">
        <p14:creationId val="1565446579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0F283276-9F05-4EB9-90DF-B2A16269EEA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十次课的学习任务">
            <a:extLst>
              <a:ext uri="{FF2B5EF4-FFF2-40B4-BE49-F238E27FC236}">
                <ns2:creationId id="{F8AD6666-F850-46CF-A1BD-5050A331F150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十次课的学习任务</a:t>
            </a:r>
          </a:p>
        </p:txBody>
      </p:sp>
      <p:sp>
        <p:nvSpPr>
          <p:cNvPr id="3" name="十次课，完成两项作品">
            <a:extLst>
              <a:ext uri="{FF2B5EF4-FFF2-40B4-BE49-F238E27FC236}">
                <ns2:creationId id="{3C83DE79-F315-482C-8EAC-669CEC5C079A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十次课，完成两项作品</a:t>
            </a:r>
          </a:p>
        </p:txBody>
      </p:sp>
      <p:sp>
        <p:nvSpPr>
          <p:cNvPr id="4" name="">
            <a:extLst>
              <a:ext uri="{FF2B5EF4-FFF2-40B4-BE49-F238E27FC236}">
                <ns2:creationId id="{0AD189C9-168D-4F3C-A5D7-AA9B506A17BF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E58D3F2B-7B81-4159-B4C9-B4B1A0488C9A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0">
            <a:extLst>
              <a:ext uri="{FF2B5EF4-FFF2-40B4-BE49-F238E27FC236}">
                <ns2:creationId id="{4B35F5EF-6B3C-4B85-B8FE-9BB155FACF87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7" name="你会加入自己的样本、资料和设计，并实际测试作品。">
            <a:extLst>
              <a:ext uri="{FF2B5EF4-FFF2-40B4-BE49-F238E27FC236}">
                <ns2:creationId id="{BA7E6646-A551-4FAF-BF1B-1D76CA435D75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你会加入自己的样本、资料和设计，并实际测试作品。</a:t>
            </a:r>
          </a:p>
        </p:txBody>
      </p:sp>
      <p:sp>
        <p:nvSpPr>
          <p:cNvPr id="8" name="">
            <a:extLst>
              <a:ext uri="{FF2B5EF4-FFF2-40B4-BE49-F238E27FC236}">
                <ns2:creationId id="{13D9B530-0E42-417E-9843-B0ABCA98E8C5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5067300" cy="47625"/>
          </a:xfrm>
          <a:prstGeom prst="rect">
            <a:avLst/>
          </a:prstGeom>
          <a:solidFill>
            <a:srgbClr val="256590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2:creationId id="{1795DE85-1CDF-4EC3-8871-F3A23BB864A7}"/>
              </a:ext>
            </a:extLst>
          </p:cNvPr>
          <p:cNvSpPr>
            <a:spLocks noGrp="1"/>
          </p:cNvSpPr>
          <p:nvPr/>
        </p:nvSpPr>
        <p:spPr>
          <a:xfrm>
            <a:off x="6515100" y="2476500"/>
            <a:ext cx="5067300" cy="47625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0" name="桌面物品识别提示器">
            <a:extLst>
              <a:ext uri="{FF2B5EF4-FFF2-40B4-BE49-F238E27FC236}">
                <ns2:creationId id="{275D4D95-A572-4364-95D3-1277C4C27CE5}"/>
              </a:ext>
            </a:extLst>
          </p:cNvPr>
          <p:cNvSpPr>
            <a:spLocks noGrp="1"/>
          </p:cNvSpPr>
          <p:nvPr/>
        </p:nvSpPr>
        <p:spPr>
          <a:xfrm>
            <a:off x="609600" y="2790825"/>
            <a:ext cx="50673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桌面物品识别提示器</a:t>
            </a:r>
          </a:p>
        </p:txBody>
      </p:sp>
      <p:sp>
        <p:nvSpPr>
          <p:cNvPr id="11" name="校园展览讲解助手">
            <a:extLst>
              <a:ext uri="{FF2B5EF4-FFF2-40B4-BE49-F238E27FC236}">
                <ns2:creationId id="{00AE5944-0698-4562-9535-91D65298D13A}"/>
              </a:ext>
            </a:extLst>
          </p:cNvPr>
          <p:cNvSpPr>
            <a:spLocks noGrp="1"/>
          </p:cNvSpPr>
          <p:nvPr/>
        </p:nvSpPr>
        <p:spPr>
          <a:xfrm>
            <a:off x="6515100" y="2790825"/>
            <a:ext cx="50673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校园展览讲解助手</a:t>
            </a:r>
          </a:p>
        </p:txBody>
      </p:sp>
      <p:sp>
        <p:nvSpPr>
          <p:cNvPr id="12" name="拍摄物品，建立分类器。&#10;让 micro:bit 灯阵显示&#10;对应的归位方向。">
            <a:extLst>
              <a:ext uri="{FF2B5EF4-FFF2-40B4-BE49-F238E27FC236}">
                <ns2:creationId id="{68992B91-0B35-48EB-9CC9-37F486F009CD}"/>
              </a:ext>
            </a:extLst>
          </p:cNvPr>
          <p:cNvSpPr>
            <a:spLocks noGrp="1"/>
          </p:cNvSpPr>
          <p:nvPr/>
        </p:nvSpPr>
        <p:spPr>
          <a:xfrm>
            <a:off x="609600" y="3657600"/>
            <a:ext cx="50673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拍摄物品，建立分类器。</a:t>
            </a:r>
          </a:p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让 micro:bit 灯阵显示</a:t>
            </a:r>
          </a:p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对应的归位方向。</a:t>
            </a:r>
          </a:p>
        </p:txBody>
      </p:sp>
      <p:sp>
        <p:nvSpPr>
          <p:cNvPr id="13" name="整理展品资料，设置讲解要求。&#10;让助手依据资料回答，&#10;并提供一道知识挑战。">
            <a:extLst>
              <a:ext uri="{FF2B5EF4-FFF2-40B4-BE49-F238E27FC236}">
                <ns2:creationId id="{51F6A675-ADE8-48F0-A924-8E28B961DFE8}"/>
              </a:ext>
            </a:extLst>
          </p:cNvPr>
          <p:cNvSpPr>
            <a:spLocks noGrp="1"/>
          </p:cNvSpPr>
          <p:nvPr/>
        </p:nvSpPr>
        <p:spPr>
          <a:xfrm>
            <a:off x="6515100" y="3657600"/>
            <a:ext cx="50673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整理展品资料，设置讲解要求。</a:t>
            </a:r>
          </a:p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让助手依据资料回答，</a:t>
            </a:r>
          </a:p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并提供一道知识挑战。</a:t>
            </a:r>
          </a:p>
        </p:txBody>
      </p:sp>
      <p:sp>
        <p:nvSpPr>
          <p:cNvPr id="14" name="">
            <a:extLst>
              <a:ext uri="{FF2B5EF4-FFF2-40B4-BE49-F238E27FC236}">
                <ns2:creationId id="{FC29660F-2A7E-490F-8AE5-7BFB0F0C6915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5" name="样本、资料和程序，都可以由你改进。">
            <a:extLst>
              <a:ext uri="{FF2B5EF4-FFF2-40B4-BE49-F238E27FC236}">
                <ns2:creationId id="{F74421F6-3C45-4B41-9D75-D91CCA9CDDE5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样本、资料和程序，都可以由你改进。</a:t>
            </a:r>
          </a:p>
        </p:txBody>
      </p:sp>
    </p:spTree>
    <p:extLst>
      <p:ext uri="{BB962C8B-B14F-4D97-AF65-F5344CB8AC3E}">
        <p14:creationId val="48842767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3" name="">
            <a:extLst>
              <a:ext uri="{FF2B5EF4-FFF2-40B4-BE49-F238E27FC236}">
                <ns2:creationId id="{2F9FBBC5-36EC-416A-980B-E474406B847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十次课的学习任务">
            <a:extLst>
              <a:ext uri="{FF2B5EF4-FFF2-40B4-BE49-F238E27FC236}">
                <ns2:creationId id="{7EB9ADC1-24E4-477F-A56B-7938C50BABCA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十次课的学习任务</a:t>
            </a:r>
          </a:p>
        </p:txBody>
      </p:sp>
      <p:sp>
        <p:nvSpPr>
          <p:cNvPr id="3" name="我们的十次课">
            <a:extLst>
              <a:ext uri="{FF2B5EF4-FFF2-40B4-BE49-F238E27FC236}">
                <ns2:creationId id="{6F8F5FD0-A130-4BFF-B33D-7987C4439A9A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我们的十次课</a:t>
            </a:r>
          </a:p>
        </p:txBody>
      </p:sp>
      <p:sp>
        <p:nvSpPr>
          <p:cNvPr id="4" name="">
            <a:extLst>
              <a:ext uri="{FF2B5EF4-FFF2-40B4-BE49-F238E27FC236}">
                <ns2:creationId id="{61A6BEED-A9AE-42E4-9AF1-54FD7D6F45B6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0F58CAAF-D146-4DA3-9A41-E7C013F28FD0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1">
            <a:extLst>
              <a:ext uri="{FF2B5EF4-FFF2-40B4-BE49-F238E27FC236}">
                <ns2:creationId id="{7FB682F5-48EE-4334-AEA3-357F5EB60D69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  <p:sp>
        <p:nvSpPr>
          <p:cNvPr id="7" name="十次课包含今天。每次课都有一项可完成的任务。">
            <a:extLst>
              <a:ext uri="{FF2B5EF4-FFF2-40B4-BE49-F238E27FC236}">
                <ns2:creationId id="{D60BB09B-9750-4111-9AE5-ED7A1911E89B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十次课包含今天。每次课都有一项可完成的任务。</a:t>
            </a:r>
          </a:p>
        </p:txBody>
      </p:sp>
      <p:sp>
        <p:nvSpPr>
          <p:cNvPr id="8" name="第 1 课">
            <a:extLst>
              <a:ext uri="{FF2B5EF4-FFF2-40B4-BE49-F238E27FC236}">
                <ns2:creationId id="{C90E079B-EF21-4F6E-B21E-32F1694ACE11}"/>
              </a:ext>
            </a:extLst>
          </p:cNvPr>
          <p:cNvSpPr>
            <a:spLocks noGrp="1"/>
          </p:cNvSpPr>
          <p:nvPr/>
        </p:nvSpPr>
        <p:spPr>
          <a:xfrm>
            <a:off x="609600" y="2495550"/>
            <a:ext cx="1809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第 1 课</a:t>
            </a:r>
          </a:p>
        </p:txBody>
      </p:sp>
      <p:sp>
        <p:nvSpPr>
          <p:cNvPr id="9" name="认识AI">
            <a:extLst>
              <a:ext uri="{FF2B5EF4-FFF2-40B4-BE49-F238E27FC236}">
                <ns2:creationId id="{DAF58704-A101-4644-810D-3154BA7B4390}"/>
              </a:ext>
            </a:extLst>
          </p:cNvPr>
          <p:cNvSpPr>
            <a:spLocks noGrp="1"/>
          </p:cNvSpPr>
          <p:nvPr/>
        </p:nvSpPr>
        <p:spPr>
          <a:xfrm>
            <a:off x="2686050" y="2447925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认识AI</a:t>
            </a:r>
          </a:p>
        </p:txBody>
      </p:sp>
      <p:sp>
        <p:nvSpPr>
          <p:cNvPr id="10" name="判断案例，测试分类器，提出作品想法。">
            <a:extLst>
              <a:ext uri="{FF2B5EF4-FFF2-40B4-BE49-F238E27FC236}">
                <ns2:creationId id="{7C1631E2-1C27-4B28-B89D-E38A0246C676}"/>
              </a:ext>
            </a:extLst>
          </p:cNvPr>
          <p:cNvSpPr>
            <a:spLocks noGrp="1"/>
          </p:cNvSpPr>
          <p:nvPr/>
        </p:nvSpPr>
        <p:spPr>
          <a:xfrm>
            <a:off x="5686425" y="2495550"/>
            <a:ext cx="589597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判断案例，测试分类器，提出作品想法。</a:t>
            </a:r>
          </a:p>
        </p:txBody>
      </p:sp>
      <p:sp>
        <p:nvSpPr>
          <p:cNvPr id="11" name="">
            <a:extLst>
              <a:ext uri="{FF2B5EF4-FFF2-40B4-BE49-F238E27FC236}">
                <ns2:creationId id="{BC419FFC-3F41-4E49-A1AE-B91B36EF07A4}"/>
              </a:ext>
            </a:extLst>
          </p:cNvPr>
          <p:cNvSpPr>
            <a:spLocks noGrp="1"/>
          </p:cNvSpPr>
          <p:nvPr/>
        </p:nvSpPr>
        <p:spPr>
          <a:xfrm>
            <a:off x="609600" y="31527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2" name="第 2～5 课">
            <a:extLst>
              <a:ext uri="{FF2B5EF4-FFF2-40B4-BE49-F238E27FC236}">
                <ns2:creationId id="{848D2585-350E-4F4C-AE16-DA3A33245115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1809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第 2～5 课</a:t>
            </a:r>
          </a:p>
        </p:txBody>
      </p:sp>
      <p:sp>
        <p:nvSpPr>
          <p:cNvPr id="13" name="识别提示器">
            <a:extLst>
              <a:ext uri="{FF2B5EF4-FFF2-40B4-BE49-F238E27FC236}">
                <ns2:creationId id="{B90B7D1A-76F8-4B99-906C-456AA9491988}"/>
              </a:ext>
            </a:extLst>
          </p:cNvPr>
          <p:cNvSpPr>
            <a:spLocks noGrp="1"/>
          </p:cNvSpPr>
          <p:nvPr/>
        </p:nvSpPr>
        <p:spPr>
          <a:xfrm>
            <a:off x="2686050" y="3333750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识别提示器</a:t>
            </a:r>
          </a:p>
        </p:txBody>
      </p:sp>
      <p:sp>
        <p:nvSpPr>
          <p:cNvPr id="14" name="采样与分类 → 灯阵显示 → 测试改进 → 试用">
            <a:extLst>
              <a:ext uri="{FF2B5EF4-FFF2-40B4-BE49-F238E27FC236}">
                <ns2:creationId id="{1CF2BAF7-CC56-4404-BA8B-AC3B3B0C1C69}"/>
              </a:ext>
            </a:extLst>
          </p:cNvPr>
          <p:cNvSpPr>
            <a:spLocks noGrp="1"/>
          </p:cNvSpPr>
          <p:nvPr/>
        </p:nvSpPr>
        <p:spPr>
          <a:xfrm>
            <a:off x="5686425" y="3381375"/>
            <a:ext cx="589597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采样与分类 → 灯阵显示 → 测试改进 → 试用</a:t>
            </a:r>
          </a:p>
        </p:txBody>
      </p:sp>
      <p:sp>
        <p:nvSpPr>
          <p:cNvPr id="15" name="">
            <a:extLst>
              <a:ext uri="{FF2B5EF4-FFF2-40B4-BE49-F238E27FC236}">
                <ns2:creationId id="{AB2F784D-0D85-4FA6-80A5-925A0AD14399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6" name="第 6～9 课">
            <a:extLst>
              <a:ext uri="{FF2B5EF4-FFF2-40B4-BE49-F238E27FC236}">
                <ns2:creationId id="{F44913F1-AEE5-46AC-9E59-E9169E241347}"/>
              </a:ext>
            </a:extLst>
          </p:cNvPr>
          <p:cNvSpPr>
            <a:spLocks noGrp="1"/>
          </p:cNvSpPr>
          <p:nvPr/>
        </p:nvSpPr>
        <p:spPr>
          <a:xfrm>
            <a:off x="609600" y="4267200"/>
            <a:ext cx="1809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第 6～9 课</a:t>
            </a:r>
          </a:p>
        </p:txBody>
      </p:sp>
      <p:sp>
        <p:nvSpPr>
          <p:cNvPr id="17" name="讲解助手">
            <a:extLst>
              <a:ext uri="{FF2B5EF4-FFF2-40B4-BE49-F238E27FC236}">
                <ns2:creationId id="{09168145-9590-4B73-8781-4B96FA864B83}"/>
              </a:ext>
            </a:extLst>
          </p:cNvPr>
          <p:cNvSpPr>
            <a:spLocks noGrp="1"/>
          </p:cNvSpPr>
          <p:nvPr/>
        </p:nvSpPr>
        <p:spPr>
          <a:xfrm>
            <a:off x="2686050" y="4219575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讲解助手</a:t>
            </a:r>
          </a:p>
        </p:txBody>
      </p:sp>
      <p:sp>
        <p:nvSpPr>
          <p:cNvPr id="18" name="资料讲解 → 知识检索 → 知识挑战 → 试用">
            <a:extLst>
              <a:ext uri="{FF2B5EF4-FFF2-40B4-BE49-F238E27FC236}">
                <ns2:creationId id="{3A4B5CDB-9694-4D97-9C6B-B4FB858A19C3}"/>
              </a:ext>
            </a:extLst>
          </p:cNvPr>
          <p:cNvSpPr>
            <a:spLocks noGrp="1"/>
          </p:cNvSpPr>
          <p:nvPr/>
        </p:nvSpPr>
        <p:spPr>
          <a:xfrm>
            <a:off x="5686425" y="4267200"/>
            <a:ext cx="589597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资料讲解 → 知识检索 → 知识挑战 → 试用</a:t>
            </a:r>
          </a:p>
        </p:txBody>
      </p:sp>
      <p:sp>
        <p:nvSpPr>
          <p:cNvPr id="19" name="">
            <a:extLst>
              <a:ext uri="{FF2B5EF4-FFF2-40B4-BE49-F238E27FC236}">
                <ns2:creationId id="{883C59D0-FE15-479C-BA22-4911027A775A}"/>
              </a:ext>
            </a:extLst>
          </p:cNvPr>
          <p:cNvSpPr>
            <a:spLocks noGrp="1"/>
          </p:cNvSpPr>
          <p:nvPr/>
        </p:nvSpPr>
        <p:spPr>
          <a:xfrm>
            <a:off x="609600" y="492442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20" name="第 10 课">
            <a:extLst>
              <a:ext uri="{FF2B5EF4-FFF2-40B4-BE49-F238E27FC236}">
                <ns2:creationId id="{C91AB95C-BE81-4039-848A-920C4B2E7F9D}"/>
              </a:ext>
            </a:extLst>
          </p:cNvPr>
          <p:cNvSpPr>
            <a:spLocks noGrp="1"/>
          </p:cNvSpPr>
          <p:nvPr/>
        </p:nvSpPr>
        <p:spPr>
          <a:xfrm>
            <a:off x="609600" y="5153025"/>
            <a:ext cx="1809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第 10 课</a:t>
            </a:r>
          </a:p>
        </p:txBody>
      </p:sp>
      <p:sp>
        <p:nvSpPr>
          <p:cNvPr id="21" name="作品展示">
            <a:extLst>
              <a:ext uri="{FF2B5EF4-FFF2-40B4-BE49-F238E27FC236}">
                <ns2:creationId id="{F3816926-6BAC-42E2-8AD3-A1876B858E90}"/>
              </a:ext>
            </a:extLst>
          </p:cNvPr>
          <p:cNvSpPr>
            <a:spLocks noGrp="1"/>
          </p:cNvSpPr>
          <p:nvPr/>
        </p:nvSpPr>
        <p:spPr>
          <a:xfrm>
            <a:off x="2686050" y="5105400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作品展示</a:t>
            </a:r>
          </a:p>
        </p:txBody>
      </p:sp>
      <p:sp>
        <p:nvSpPr>
          <p:cNvPr id="22" name="演示实际效果，说明自己的修改和测试。">
            <a:extLst>
              <a:ext uri="{FF2B5EF4-FFF2-40B4-BE49-F238E27FC236}">
                <ns2:creationId id="{D8EE101C-ED50-4ED1-8CA7-F0418F41E0FB}"/>
              </a:ext>
            </a:extLst>
          </p:cNvPr>
          <p:cNvSpPr>
            <a:spLocks noGrp="1"/>
          </p:cNvSpPr>
          <p:nvPr/>
        </p:nvSpPr>
        <p:spPr>
          <a:xfrm>
            <a:off x="5686425" y="5153025"/>
            <a:ext cx="589597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演示实际效果，说明自己的修改和测试。</a:t>
            </a:r>
          </a:p>
        </p:txBody>
      </p:sp>
    </p:spTree>
    <p:extLst>
      <p:ext uri="{BB962C8B-B14F-4D97-AF65-F5344CB8AC3E}">
        <p14:creationId val="6149055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1" name="">
            <a:extLst>
              <a:ext uri="{FF2B5EF4-FFF2-40B4-BE49-F238E27FC236}">
                <ns2:creationId id="{F173336F-3226-4A17-8035-96E8B5DBA68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本课任务">
            <a:extLst>
              <a:ext uri="{FF2B5EF4-FFF2-40B4-BE49-F238E27FC236}">
                <ns2:creationId id="{1CAF6E06-26E0-422D-9ED1-4C6563DF61B8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本课任务</a:t>
            </a:r>
          </a:p>
        </p:txBody>
      </p:sp>
      <p:sp>
        <p:nvSpPr>
          <p:cNvPr id="3" name="今天的四项任务">
            <a:extLst>
              <a:ext uri="{FF2B5EF4-FFF2-40B4-BE49-F238E27FC236}">
                <ns2:creationId id="{7CD23720-B1EA-4213-B595-86AC70ADF238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今天的四项任务</a:t>
            </a:r>
          </a:p>
        </p:txBody>
      </p:sp>
      <p:sp>
        <p:nvSpPr>
          <p:cNvPr id="4" name="">
            <a:extLst>
              <a:ext uri="{FF2B5EF4-FFF2-40B4-BE49-F238E27FC236}">
                <ns2:creationId id="{A2140BD0-0901-4652-86F0-9F55167CCC56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C3F8423E-50BB-43AC-92D9-7F14737C2635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2">
            <a:extLst>
              <a:ext uri="{FF2B5EF4-FFF2-40B4-BE49-F238E27FC236}">
                <ns2:creationId id="{7A3DA4A4-D27D-4553-A8B3-212AEB4DAFA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  <p:sp>
        <p:nvSpPr>
          <p:cNvPr id="7" name="01">
            <a:extLst>
              <a:ext uri="{FF2B5EF4-FFF2-40B4-BE49-F238E27FC236}">
                <ns2:creationId id="{7D2E3130-C56B-443F-8883-45A9423317B9}"/>
              </a:ext>
            </a:extLst>
          </p:cNvPr>
          <p:cNvSpPr>
            <a:spLocks noGrp="1"/>
          </p:cNvSpPr>
          <p:nvPr/>
        </p:nvSpPr>
        <p:spPr>
          <a:xfrm>
            <a:off x="609600" y="2324100"/>
            <a:ext cx="495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8" name="判断案例">
            <a:extLst>
              <a:ext uri="{FF2B5EF4-FFF2-40B4-BE49-F238E27FC236}">
                <ns2:creationId id="{E1E5BDC4-DDC8-4899-8820-CA0644478155}"/>
              </a:ext>
            </a:extLst>
          </p:cNvPr>
          <p:cNvSpPr>
            <a:spLocks noGrp="1"/>
          </p:cNvSpPr>
          <p:nvPr/>
        </p:nvSpPr>
        <p:spPr>
          <a:xfrm>
            <a:off x="1276350" y="2276475"/>
            <a:ext cx="4381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判断案例</a:t>
            </a:r>
          </a:p>
        </p:txBody>
      </p:sp>
      <p:sp>
        <p:nvSpPr>
          <p:cNvPr id="9" name="根据做法，判断哪里使用了AI。">
            <a:extLst>
              <a:ext uri="{FF2B5EF4-FFF2-40B4-BE49-F238E27FC236}">
                <ns2:creationId id="{2C252ABA-BEBD-49CF-A881-914A793CF780}"/>
              </a:ext>
            </a:extLst>
          </p:cNvPr>
          <p:cNvSpPr>
            <a:spLocks noGrp="1"/>
          </p:cNvSpPr>
          <p:nvPr/>
        </p:nvSpPr>
        <p:spPr>
          <a:xfrm>
            <a:off x="1276350" y="2886075"/>
            <a:ext cx="43815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根据做法，判断哪里使用了AI。</a:t>
            </a:r>
          </a:p>
        </p:txBody>
      </p:sp>
      <p:sp>
        <p:nvSpPr>
          <p:cNvPr id="10" name="02">
            <a:extLst>
              <a:ext uri="{FF2B5EF4-FFF2-40B4-BE49-F238E27FC236}">
                <ns2:creationId id="{693338C5-C386-454D-BDD4-676666860519}"/>
              </a:ext>
            </a:extLst>
          </p:cNvPr>
          <p:cNvSpPr>
            <a:spLocks noGrp="1"/>
          </p:cNvSpPr>
          <p:nvPr/>
        </p:nvSpPr>
        <p:spPr>
          <a:xfrm>
            <a:off x="6515100" y="2324100"/>
            <a:ext cx="495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理解过程">
            <a:extLst>
              <a:ext uri="{FF2B5EF4-FFF2-40B4-BE49-F238E27FC236}">
                <ns2:creationId id="{3E37A236-3866-4226-BA90-86634ABE0688}"/>
              </a:ext>
            </a:extLst>
          </p:cNvPr>
          <p:cNvSpPr>
            <a:spLocks noGrp="1"/>
          </p:cNvSpPr>
          <p:nvPr/>
        </p:nvSpPr>
        <p:spPr>
          <a:xfrm>
            <a:off x="7181850" y="2276475"/>
            <a:ext cx="4381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理解过程</a:t>
            </a:r>
          </a:p>
        </p:txBody>
      </p:sp>
      <p:sp>
        <p:nvSpPr>
          <p:cNvPr id="12" name="区分学习与使用，说明输入和输出。">
            <a:extLst>
              <a:ext uri="{FF2B5EF4-FFF2-40B4-BE49-F238E27FC236}">
                <ns2:creationId id="{C5BB93B2-07CE-4A8A-B5F8-D5E6E18680FA}"/>
              </a:ext>
            </a:extLst>
          </p:cNvPr>
          <p:cNvSpPr>
            <a:spLocks noGrp="1"/>
          </p:cNvSpPr>
          <p:nvPr/>
        </p:nvSpPr>
        <p:spPr>
          <a:xfrm>
            <a:off x="7181850" y="2886075"/>
            <a:ext cx="43815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区分学习与使用，说明输入和输出。</a:t>
            </a:r>
          </a:p>
        </p:txBody>
      </p:sp>
      <p:sp>
        <p:nvSpPr>
          <p:cNvPr id="13" name="03">
            <a:extLst>
              <a:ext uri="{FF2B5EF4-FFF2-40B4-BE49-F238E27FC236}">
                <ns2:creationId id="{4AB81981-D08C-4ACD-8DC5-FA52F9FA3E22}"/>
              </a:ext>
            </a:extLst>
          </p:cNvPr>
          <p:cNvSpPr>
            <a:spLocks noGrp="1"/>
          </p:cNvSpPr>
          <p:nvPr/>
        </p:nvSpPr>
        <p:spPr>
          <a:xfrm>
            <a:off x="609600" y="4000500"/>
            <a:ext cx="495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4" name="实际测试">
            <a:extLst>
              <a:ext uri="{FF2B5EF4-FFF2-40B4-BE49-F238E27FC236}">
                <ns2:creationId id="{94CBA883-26CA-416E-911E-ED55AB0543DD}"/>
              </a:ext>
            </a:extLst>
          </p:cNvPr>
          <p:cNvSpPr>
            <a:spLocks noGrp="1"/>
          </p:cNvSpPr>
          <p:nvPr/>
        </p:nvSpPr>
        <p:spPr>
          <a:xfrm>
            <a:off x="1276350" y="3952875"/>
            <a:ext cx="4381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实际测试</a:t>
            </a:r>
          </a:p>
        </p:txBody>
      </p:sp>
      <p:sp>
        <p:nvSpPr>
          <p:cNvPr id="15" name="改变一个条件，比较预测与结果。">
            <a:extLst>
              <a:ext uri="{FF2B5EF4-FFF2-40B4-BE49-F238E27FC236}">
                <ns2:creationId id="{A2396640-169D-4955-9EC6-695907237709}"/>
              </a:ext>
            </a:extLst>
          </p:cNvPr>
          <p:cNvSpPr>
            <a:spLocks noGrp="1"/>
          </p:cNvSpPr>
          <p:nvPr/>
        </p:nvSpPr>
        <p:spPr>
          <a:xfrm>
            <a:off x="1276350" y="4562475"/>
            <a:ext cx="43815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改变一个条件，比较预测与结果。</a:t>
            </a:r>
          </a:p>
        </p:txBody>
      </p:sp>
      <p:sp>
        <p:nvSpPr>
          <p:cNvPr id="16" name="04">
            <a:extLst>
              <a:ext uri="{FF2B5EF4-FFF2-40B4-BE49-F238E27FC236}">
                <ns2:creationId id="{304D3A47-07D1-478E-BBB4-BBB0CF5DE55D}"/>
              </a:ext>
            </a:extLst>
          </p:cNvPr>
          <p:cNvSpPr>
            <a:spLocks noGrp="1"/>
          </p:cNvSpPr>
          <p:nvPr/>
        </p:nvSpPr>
        <p:spPr>
          <a:xfrm>
            <a:off x="6515100" y="4000500"/>
            <a:ext cx="495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17" name="检查依据">
            <a:extLst>
              <a:ext uri="{FF2B5EF4-FFF2-40B4-BE49-F238E27FC236}">
                <ns2:creationId id="{6AF72F38-AF3F-46CE-8C80-57566471D17E}"/>
              </a:ext>
            </a:extLst>
          </p:cNvPr>
          <p:cNvSpPr>
            <a:spLocks noGrp="1"/>
          </p:cNvSpPr>
          <p:nvPr/>
        </p:nvSpPr>
        <p:spPr>
          <a:xfrm>
            <a:off x="7181850" y="3952875"/>
            <a:ext cx="4381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检查依据</a:t>
            </a:r>
          </a:p>
        </p:txBody>
      </p:sp>
      <p:sp>
        <p:nvSpPr>
          <p:cNvPr id="18" name="核对资料，说明为什么还需要查证。">
            <a:extLst>
              <a:ext uri="{FF2B5EF4-FFF2-40B4-BE49-F238E27FC236}">
                <ns2:creationId id="{F68CDE2D-FB66-477E-86C5-E7724D0C629B}"/>
              </a:ext>
            </a:extLst>
          </p:cNvPr>
          <p:cNvSpPr>
            <a:spLocks noGrp="1"/>
          </p:cNvSpPr>
          <p:nvPr/>
        </p:nvSpPr>
        <p:spPr>
          <a:xfrm>
            <a:off x="7181850" y="4562475"/>
            <a:ext cx="43815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核对资料，说明为什么还需要查证。</a:t>
            </a:r>
          </a:p>
        </p:txBody>
      </p:sp>
      <p:sp>
        <p:nvSpPr>
          <p:cNvPr id="19" name="">
            <a:extLst>
              <a:ext uri="{FF2B5EF4-FFF2-40B4-BE49-F238E27FC236}">
                <ns2:creationId id="{37EA29B5-2B1E-4CB6-A614-6B58BDCCDB53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0" name="课末写下一个想做的小工具：给谁用，做什么。">
            <a:extLst>
              <a:ext uri="{FF2B5EF4-FFF2-40B4-BE49-F238E27FC236}">
                <ns2:creationId id="{79BAB9C1-80FD-44E6-B0F0-A86B1E6C879B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课末写下一个想做的小工具：给谁用，做什么。</a:t>
            </a:r>
          </a:p>
        </p:txBody>
      </p:sp>
    </p:spTree>
    <p:extLst>
      <p:ext uri="{BB962C8B-B14F-4D97-AF65-F5344CB8AC3E}">
        <p14:creationId val="1439579566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5A98D429-1E4F-4E77-8E20-7616A5E3EF9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判断 AI 的使用过程">
            <a:extLst>
              <a:ext uri="{FF2B5EF4-FFF2-40B4-BE49-F238E27FC236}">
                <ns2:creationId id="{C0FD384E-7422-4BA4-9B3B-8488E3E50326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判断 AI 的使用过程</a:t>
            </a:r>
          </a:p>
        </p:txBody>
      </p:sp>
      <p:sp>
        <p:nvSpPr>
          <p:cNvPr id="3" name="同一功能，两种做法">
            <a:extLst>
              <a:ext uri="{FF2B5EF4-FFF2-40B4-BE49-F238E27FC236}">
                <ns2:creationId id="{B7DCCA69-82DF-4B7C-A81E-8E7755841739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同一功能，两种做法</a:t>
            </a:r>
          </a:p>
        </p:txBody>
      </p:sp>
      <p:sp>
        <p:nvSpPr>
          <p:cNvPr id="4" name="">
            <a:extLst>
              <a:ext uri="{FF2B5EF4-FFF2-40B4-BE49-F238E27FC236}">
                <ns2:creationId id="{9BDC3F4C-BB1C-4F11-B3E9-AD48162D7AE7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F097F0A3-851C-489E-B6E5-ABA6EACFB96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3">
            <a:extLst>
              <a:ext uri="{FF2B5EF4-FFF2-40B4-BE49-F238E27FC236}">
                <ns2:creationId id="{A40B4F3B-CB9E-4D09-804A-85188D3DC655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  <p:sp>
        <p:nvSpPr>
          <p:cNvPr id="7" name="两种社团答疑页都能回答“活动在哪里”。">
            <a:extLst>
              <a:ext uri="{FF2B5EF4-FFF2-40B4-BE49-F238E27FC236}">
                <ns2:creationId id="{E58098D5-8999-4471-AF24-D7C970625B90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两种社团答疑页都能回答“活动在哪里”。</a:t>
            </a:r>
          </a:p>
        </p:txBody>
      </p:sp>
      <p:sp>
        <p:nvSpPr>
          <p:cNvPr id="8" name="">
            <a:extLst>
              <a:ext uri="{FF2B5EF4-FFF2-40B4-BE49-F238E27FC236}">
                <ns2:creationId id="{F5C6D50D-B85C-4473-B550-D69FD31E6CA8}"/>
              </a:ext>
            </a:extLst>
          </p:cNvPr>
          <p:cNvSpPr>
            <a:spLocks noGrp="1"/>
          </p:cNvSpPr>
          <p:nvPr/>
        </p:nvSpPr>
        <p:spPr>
          <a:xfrm>
            <a:off x="6048375" y="2343150"/>
            <a:ext cx="9525" cy="261937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9" name="关键词匹配">
            <a:extLst>
              <a:ext uri="{FF2B5EF4-FFF2-40B4-BE49-F238E27FC236}">
                <ns2:creationId id="{92CC9EA5-36EF-4F3A-AB15-7F4614767BB0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关键词匹配</a:t>
            </a:r>
          </a:p>
        </p:txBody>
      </p:sp>
      <p:sp>
        <p:nvSpPr>
          <p:cNvPr id="10" name="检测到“地点”两个字，&#10;就显示事先写好的地址。&#10;&#10;本例只执行固定规则。">
            <a:extLst>
              <a:ext uri="{FF2B5EF4-FFF2-40B4-BE49-F238E27FC236}">
                <ns2:creationId id="{2F2B7E91-0E1C-4AC8-B366-280BD8DBED08}"/>
              </a:ext>
            </a:extLst>
          </p:cNvPr>
          <p:cNvSpPr>
            <a:spLocks noGrp="1"/>
          </p:cNvSpPr>
          <p:nvPr/>
        </p:nvSpPr>
        <p:spPr>
          <a:xfrm>
            <a:off x="609600" y="296227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检测到“地点”两个字，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就显示事先写好的地址。</a:t>
            </a:r>
          </a:p>
          <a:p>
            <a:r>
              <a:t/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本例只执行固定规则。</a:t>
            </a:r>
          </a:p>
        </p:txBody>
      </p:sp>
      <p:sp>
        <p:nvSpPr>
          <p:cNvPr id="11" name="模型处理问题">
            <a:extLst>
              <a:ext uri="{FF2B5EF4-FFF2-40B4-BE49-F238E27FC236}">
                <ns2:creationId id="{6BCFDD30-2782-4703-AD07-0003365789C7}"/>
              </a:ext>
            </a:extLst>
          </p:cNvPr>
          <p:cNvSpPr>
            <a:spLocks noGrp="1"/>
          </p:cNvSpPr>
          <p:nvPr/>
        </p:nvSpPr>
        <p:spPr>
          <a:xfrm>
            <a:off x="6515100" y="239077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模型处理问题</a:t>
            </a:r>
          </a:p>
        </p:txBody>
      </p:sp>
      <p:sp>
        <p:nvSpPr>
          <p:cNvPr id="12" name="把问题和社团资料交给&#10;语言模型，生成相应回答。&#10;&#10;本例使用了AI模型。">
            <a:extLst>
              <a:ext uri="{FF2B5EF4-FFF2-40B4-BE49-F238E27FC236}">
                <ns2:creationId id="{E1CF647E-1117-42D8-9505-BE97342BFEAD}"/>
              </a:ext>
            </a:extLst>
          </p:cNvPr>
          <p:cNvSpPr>
            <a:spLocks noGrp="1"/>
          </p:cNvSpPr>
          <p:nvPr/>
        </p:nvSpPr>
        <p:spPr>
          <a:xfrm>
            <a:off x="6515100" y="296227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把问题和社团资料交给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语言模型，生成相应回答。</a:t>
            </a:r>
          </a:p>
          <a:p>
            <a:r>
              <a:t/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本例使用了AI模型。</a:t>
            </a:r>
          </a:p>
        </p:txBody>
      </p:sp>
      <p:sp>
        <p:nvSpPr>
          <p:cNvPr id="13" name="">
            <a:extLst>
              <a:ext uri="{FF2B5EF4-FFF2-40B4-BE49-F238E27FC236}">
                <ns2:creationId id="{6ED6E575-1D85-4499-B2B4-53C192949A89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4" name="只知道“会回答问题”，还不能判断用了什么方法。">
            <a:extLst>
              <a:ext uri="{FF2B5EF4-FFF2-40B4-BE49-F238E27FC236}">
                <ns2:creationId id="{BDB01A84-6CB2-4329-B8CD-5BDAD3655BAC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只知道“会回答问题”，还不能判断用了什么方法。</a:t>
            </a:r>
          </a:p>
        </p:txBody>
      </p:sp>
    </p:spTree>
    <p:extLst>
      <p:ext uri="{BB962C8B-B14F-4D97-AF65-F5344CB8AC3E}">
        <p14:creationId val="296309384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1" name="">
            <a:extLst>
              <a:ext uri="{FF2B5EF4-FFF2-40B4-BE49-F238E27FC236}">
                <ns2:creationId id="{21A49CEC-1D87-4510-8AF7-156C57E4DC1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卡牌活动">
            <a:extLst>
              <a:ext uri="{FF2B5EF4-FFF2-40B4-BE49-F238E27FC236}">
                <ns2:creationId id="{054F32C7-2EA2-40EA-893B-4AE6F5301AE2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卡牌活动</a:t>
            </a:r>
          </a:p>
        </p:txBody>
      </p:sp>
      <p:sp>
        <p:nvSpPr>
          <p:cNvPr id="3" name="案例卡：你的依据是什么？">
            <a:extLst>
              <a:ext uri="{FF2B5EF4-FFF2-40B4-BE49-F238E27FC236}">
                <ns2:creationId id="{14966D60-8D5F-4AC3-B1B0-E010C0F1B472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案例卡：你的依据是什么？</a:t>
            </a:r>
          </a:p>
        </p:txBody>
      </p:sp>
      <p:sp>
        <p:nvSpPr>
          <p:cNvPr id="4" name="">
            <a:extLst>
              <a:ext uri="{FF2B5EF4-FFF2-40B4-BE49-F238E27FC236}">
                <ns2:creationId id="{BF1C5F7F-81C9-47F1-9EA4-34B156D060F3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7A891FC3-A4E6-4241-BD80-C3DE5FA46129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4">
            <a:extLst>
              <a:ext uri="{FF2B5EF4-FFF2-40B4-BE49-F238E27FC236}">
                <ns2:creationId id="{2A7783B3-51F6-4627-81E2-0B141B905D60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7" name="每组八张卡。每个人至少解释一张，指出判断依据。">
            <a:extLst>
              <a:ext uri="{FF2B5EF4-FFF2-40B4-BE49-F238E27FC236}">
                <ns2:creationId id="{39E952B1-9DF7-42DE-843C-D6E92AB870C5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每组八张卡。每个人至少解释一张，指出判断依据。</a:t>
            </a:r>
          </a:p>
        </p:txBody>
      </p:sp>
      <p:sp>
        <p:nvSpPr>
          <p:cNvPr id="8" name="5分钟">
            <a:extLst>
              <a:ext uri="{FF2B5EF4-FFF2-40B4-BE49-F238E27FC236}">
                <ns2:creationId id="{A77AD6DB-9386-4CDD-82F6-670BD1E276E6}"/>
              </a:ext>
            </a:extLst>
          </p:cNvPr>
          <p:cNvSpPr>
            <a:spLocks noGrp="1"/>
          </p:cNvSpPr>
          <p:nvPr/>
        </p:nvSpPr>
        <p:spPr>
          <a:xfrm>
            <a:off x="10248900" y="1971675"/>
            <a:ext cx="133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80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5分钟</a:t>
            </a:r>
          </a:p>
        </p:txBody>
      </p:sp>
      <p:sp>
        <p:nvSpPr>
          <p:cNvPr id="9" name="">
            <a:extLst>
              <a:ext uri="{FF2B5EF4-FFF2-40B4-BE49-F238E27FC236}">
                <ns2:creationId id="{0B34D06D-0540-457E-AEAE-227997EC6AEF}"/>
              </a:ext>
            </a:extLst>
          </p:cNvPr>
          <p:cNvSpPr>
            <a:spLocks noGrp="1"/>
          </p:cNvSpPr>
          <p:nvPr/>
        </p:nvSpPr>
        <p:spPr>
          <a:xfrm>
            <a:off x="609600" y="2752725"/>
            <a:ext cx="3352800" cy="1847850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10" name="按说明用了AI">
            <a:extLst>
              <a:ext uri="{FF2B5EF4-FFF2-40B4-BE49-F238E27FC236}">
                <ns2:creationId id="{BCDE58EA-68F9-4230-91CC-A633CA615AEB}"/>
              </a:ext>
            </a:extLst>
          </p:cNvPr>
          <p:cNvSpPr>
            <a:spLocks noGrp="1"/>
          </p:cNvSpPr>
          <p:nvPr/>
        </p:nvSpPr>
        <p:spPr>
          <a:xfrm>
            <a:off x="809625" y="3048000"/>
            <a:ext cx="29527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按说明用了AI</a:t>
            </a:r>
          </a:p>
        </p:txBody>
      </p:sp>
      <p:sp>
        <p:nvSpPr>
          <p:cNvPr id="11" name="指出AI参与的过程。">
            <a:extLst>
              <a:ext uri="{FF2B5EF4-FFF2-40B4-BE49-F238E27FC236}">
                <ns2:creationId id="{8EFCFD8D-C9E0-4D7D-A4B3-86E9B48CE1BA}"/>
              </a:ext>
            </a:extLst>
          </p:cNvPr>
          <p:cNvSpPr>
            <a:spLocks noGrp="1"/>
          </p:cNvSpPr>
          <p:nvPr/>
        </p:nvSpPr>
        <p:spPr>
          <a:xfrm>
            <a:off x="809625" y="4000500"/>
            <a:ext cx="29527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7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指出AI参与的过程。</a:t>
            </a:r>
          </a:p>
        </p:txBody>
      </p:sp>
      <p:sp>
        <p:nvSpPr>
          <p:cNvPr id="12" name="">
            <a:extLst>
              <a:ext uri="{FF2B5EF4-FFF2-40B4-BE49-F238E27FC236}">
                <ns2:creationId id="{39883356-AE80-46C9-8E9A-3DC5216479D9}"/>
              </a:ext>
            </a:extLst>
          </p:cNvPr>
          <p:cNvSpPr>
            <a:spLocks noGrp="1"/>
          </p:cNvSpPr>
          <p:nvPr/>
        </p:nvSpPr>
        <p:spPr>
          <a:xfrm>
            <a:off x="4419600" y="2752725"/>
            <a:ext cx="3352800" cy="1847850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13" name="按说明只用普通规则">
            <a:extLst>
              <a:ext uri="{FF2B5EF4-FFF2-40B4-BE49-F238E27FC236}">
                <ns2:creationId id="{A5CF4001-19AD-410F-B884-87B00A26C504}"/>
              </a:ext>
            </a:extLst>
          </p:cNvPr>
          <p:cNvSpPr>
            <a:spLocks noGrp="1"/>
          </p:cNvSpPr>
          <p:nvPr/>
        </p:nvSpPr>
        <p:spPr>
          <a:xfrm>
            <a:off x="4619625" y="3048000"/>
            <a:ext cx="29527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按说明只用普通规则</a:t>
            </a:r>
          </a:p>
        </p:txBody>
      </p:sp>
      <p:sp>
        <p:nvSpPr>
          <p:cNvPr id="14" name="说明程序执行的规则。">
            <a:extLst>
              <a:ext uri="{FF2B5EF4-FFF2-40B4-BE49-F238E27FC236}">
                <ns2:creationId id="{6F274206-DC1C-43A2-8CB5-E128CFBE85A0}"/>
              </a:ext>
            </a:extLst>
          </p:cNvPr>
          <p:cNvSpPr>
            <a:spLocks noGrp="1"/>
          </p:cNvSpPr>
          <p:nvPr/>
        </p:nvSpPr>
        <p:spPr>
          <a:xfrm>
            <a:off x="4619625" y="4000500"/>
            <a:ext cx="29527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7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说明程序执行的规则。</a:t>
            </a:r>
          </a:p>
        </p:txBody>
      </p:sp>
      <p:sp>
        <p:nvSpPr>
          <p:cNvPr id="15" name="">
            <a:extLst>
              <a:ext uri="{FF2B5EF4-FFF2-40B4-BE49-F238E27FC236}">
                <ns2:creationId id="{88E7CC06-013E-4C63-9FDE-EE75069FC98A}"/>
              </a:ext>
            </a:extLst>
          </p:cNvPr>
          <p:cNvSpPr>
            <a:spLocks noGrp="1"/>
          </p:cNvSpPr>
          <p:nvPr/>
        </p:nvSpPr>
        <p:spPr>
          <a:xfrm>
            <a:off x="8229600" y="2752725"/>
            <a:ext cx="3352800" cy="1847850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16" name="信息还不够">
            <a:extLst>
              <a:ext uri="{FF2B5EF4-FFF2-40B4-BE49-F238E27FC236}">
                <ns2:creationId id="{9717B357-0025-483A-B596-7759F3DC2566}"/>
              </a:ext>
            </a:extLst>
          </p:cNvPr>
          <p:cNvSpPr>
            <a:spLocks noGrp="1"/>
          </p:cNvSpPr>
          <p:nvPr/>
        </p:nvSpPr>
        <p:spPr>
          <a:xfrm>
            <a:off x="8429625" y="3048000"/>
            <a:ext cx="29527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信息还不够</a:t>
            </a:r>
          </a:p>
        </p:txBody>
      </p:sp>
      <p:sp>
        <p:nvSpPr>
          <p:cNvPr id="17" name="说出还需了解的信息。">
            <a:extLst>
              <a:ext uri="{FF2B5EF4-FFF2-40B4-BE49-F238E27FC236}">
                <ns2:creationId id="{7501474A-AB5A-4BD7-AA4C-E4C10FB7FCC9}"/>
              </a:ext>
            </a:extLst>
          </p:cNvPr>
          <p:cNvSpPr>
            <a:spLocks noGrp="1"/>
          </p:cNvSpPr>
          <p:nvPr/>
        </p:nvSpPr>
        <p:spPr>
          <a:xfrm>
            <a:off x="8429625" y="4000500"/>
            <a:ext cx="29527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7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说出还需了解的信息。</a:t>
            </a:r>
          </a:p>
        </p:txBody>
      </p:sp>
      <p:sp>
        <p:nvSpPr>
          <p:cNvPr id="18" name="有分歧时，回到卡片中的具体说明。">
            <a:extLst>
              <a:ext uri="{FF2B5EF4-FFF2-40B4-BE49-F238E27FC236}">
                <ns2:creationId id="{F9DE1F78-8CA2-4381-9361-43FAE235CFD4}"/>
              </a:ext>
            </a:extLst>
          </p:cNvPr>
          <p:cNvSpPr>
            <a:spLocks noGrp="1"/>
          </p:cNvSpPr>
          <p:nvPr/>
        </p:nvSpPr>
        <p:spPr>
          <a:xfrm>
            <a:off x="609600" y="5000625"/>
            <a:ext cx="109728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有分歧时，回到卡片中的具体说明。</a:t>
            </a:r>
          </a:p>
        </p:txBody>
      </p:sp>
      <p:sp>
        <p:nvSpPr>
          <p:cNvPr id="19" name="">
            <a:extLst>
              <a:ext uri="{FF2B5EF4-FFF2-40B4-BE49-F238E27FC236}">
                <ns2:creationId id="{1BE1F22C-97E8-4EEC-9C45-1F779DCB34DE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0" name="编写程序和运行程序，需要分别解释。">
            <a:extLst>
              <a:ext uri="{FF2B5EF4-FFF2-40B4-BE49-F238E27FC236}">
                <ns2:creationId id="{C59CD4D4-F7C6-41D1-A937-7870373F38FB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编写程序和运行程序，需要分别解释。</a:t>
            </a:r>
          </a:p>
        </p:txBody>
      </p:sp>
    </p:spTree>
    <p:extLst>
      <p:ext uri="{BB962C8B-B14F-4D97-AF65-F5344CB8AC3E}">
        <p14:creationId val="1293373970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BCB41BAA-E1DC-4DE8-8A1D-0CDD0676FA3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判断 AI 的使用过程">
            <a:extLst>
              <a:ext uri="{FF2B5EF4-FFF2-40B4-BE49-F238E27FC236}">
                <ns2:creationId id="{5A2E3626-95E0-4951-B072-5053931818E6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判断 AI 的使用过程</a:t>
            </a:r>
          </a:p>
        </p:txBody>
      </p:sp>
      <p:sp>
        <p:nvSpPr>
          <p:cNvPr id="3" name="“智能手表”用了AI吗？">
            <a:extLst>
              <a:ext uri="{FF2B5EF4-FFF2-40B4-BE49-F238E27FC236}">
                <ns2:creationId id="{DD8D7E23-D0C8-4DCE-ABD2-FD0AAFAAD5BD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“智能手表”用了AI吗？</a:t>
            </a:r>
          </a:p>
        </p:txBody>
      </p:sp>
      <p:sp>
        <p:nvSpPr>
          <p:cNvPr id="4" name="">
            <a:extLst>
              <a:ext uri="{FF2B5EF4-FFF2-40B4-BE49-F238E27FC236}">
                <ns2:creationId id="{766E2BB8-268F-4204-B309-02023AFA9E20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6CDABA09-9472-4F41-99E6-C9C049C61E18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5">
            <a:extLst>
              <a:ext uri="{FF2B5EF4-FFF2-40B4-BE49-F238E27FC236}">
                <ns2:creationId id="{D1D85E7C-D506-4358-B8FE-2A3D579F5255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7" name="卡片只写了功能：记录运动，并给出建议。">
            <a:extLst>
              <a:ext uri="{FF2B5EF4-FFF2-40B4-BE49-F238E27FC236}">
                <ns2:creationId id="{FC3ED587-013C-49E4-AE41-D0168BF0A226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卡片只写了功能：记录运动，并给出建议。</a:t>
            </a:r>
          </a:p>
        </p:txBody>
      </p:sp>
      <p:sp>
        <p:nvSpPr>
          <p:cNvPr id="8" name="">
            <a:extLst>
              <a:ext uri="{FF2B5EF4-FFF2-40B4-BE49-F238E27FC236}">
                <ns2:creationId id="{2913D2F7-6DEE-4AEF-9CD8-6E8A6398211E}"/>
              </a:ext>
            </a:extLst>
          </p:cNvPr>
          <p:cNvSpPr>
            <a:spLocks noGrp="1"/>
          </p:cNvSpPr>
          <p:nvPr/>
        </p:nvSpPr>
        <p:spPr>
          <a:xfrm>
            <a:off x="6048375" y="2667000"/>
            <a:ext cx="9525" cy="261937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9" name="可能的做法一">
            <a:extLst>
              <a:ext uri="{FF2B5EF4-FFF2-40B4-BE49-F238E27FC236}">
                <ns2:creationId id="{46349DF2-EE02-4B68-A9DE-794EDFB4B999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可能的做法一</a:t>
            </a:r>
          </a:p>
        </p:txBody>
      </p:sp>
      <p:sp>
        <p:nvSpPr>
          <p:cNvPr id="10" name="步数达到预设值，&#10;就显示一条固定建议。">
            <a:extLst>
              <a:ext uri="{FF2B5EF4-FFF2-40B4-BE49-F238E27FC236}">
                <ns2:creationId id="{4AEF9A02-B48F-4955-80FE-C78935465B96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步数达到预设值，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就显示一条固定建议。</a:t>
            </a:r>
          </a:p>
        </p:txBody>
      </p:sp>
      <p:sp>
        <p:nvSpPr>
          <p:cNvPr id="11" name="可能的做法二">
            <a:extLst>
              <a:ext uri="{FF2B5EF4-FFF2-40B4-BE49-F238E27FC236}">
                <ns2:creationId id="{7D84E636-8254-4434-BC8B-55E5F981A002}"/>
              </a:ext>
            </a:extLst>
          </p:cNvPr>
          <p:cNvSpPr>
            <a:spLocks noGrp="1"/>
          </p:cNvSpPr>
          <p:nvPr/>
        </p:nvSpPr>
        <p:spPr>
          <a:xfrm>
            <a:off x="6515100" y="271462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可能的做法二</a:t>
            </a:r>
          </a:p>
        </p:txBody>
      </p:sp>
      <p:sp>
        <p:nvSpPr>
          <p:cNvPr id="12" name="模型从运动记录中学习，&#10;再预测或生成建议。">
            <a:extLst>
              <a:ext uri="{FF2B5EF4-FFF2-40B4-BE49-F238E27FC236}">
                <ns2:creationId id="{78D90AB0-85B8-425F-9E41-1BC3099FA7C0}"/>
              </a:ext>
            </a:extLst>
          </p:cNvPr>
          <p:cNvSpPr>
            <a:spLocks noGrp="1"/>
          </p:cNvSpPr>
          <p:nvPr/>
        </p:nvSpPr>
        <p:spPr>
          <a:xfrm>
            <a:off x="6515100" y="328612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模型从运动记录中学习，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再预测或生成建议。</a:t>
            </a:r>
          </a:p>
        </p:txBody>
      </p:sp>
      <p:sp>
        <p:nvSpPr>
          <p:cNvPr id="13" name="">
            <a:extLst>
              <a:ext uri="{FF2B5EF4-FFF2-40B4-BE49-F238E27FC236}">
                <ns2:creationId id="{4BF35D94-D150-4E76-AEB2-B2FCF224065B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4" name="还要确认实际做法。名称里的“智能”不能代替说明。">
            <a:extLst>
              <a:ext uri="{FF2B5EF4-FFF2-40B4-BE49-F238E27FC236}">
                <ns2:creationId id="{C33AF8E0-7AE6-4708-A4C5-6BEA236A26BF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还要确认实际做法。名称里的“智能”不能代替说明。</a:t>
            </a:r>
          </a:p>
        </p:txBody>
      </p:sp>
    </p:spTree>
    <p:extLst>
      <p:ext uri="{BB962C8B-B14F-4D97-AF65-F5344CB8AC3E}">
        <p14:creationId val="1830991970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16B680BB-001C-4335-B91B-17D9D8D325B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判断 AI 的使用过程">
            <a:extLst>
              <a:ext uri="{FF2B5EF4-FFF2-40B4-BE49-F238E27FC236}">
                <ns2:creationId id="{186DBCC4-1579-474D-B3B9-37C70BA1BFD8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判断 AI 的使用过程</a:t>
            </a:r>
          </a:p>
        </p:txBody>
      </p:sp>
      <p:sp>
        <p:nvSpPr>
          <p:cNvPr id="3" name="写游戏和玩游戏，是两件事">
            <a:extLst>
              <a:ext uri="{FF2B5EF4-FFF2-40B4-BE49-F238E27FC236}">
                <ns2:creationId id="{3327F333-3916-4554-8B59-C8C943B92335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写游戏和玩游戏，是两件事</a:t>
            </a:r>
          </a:p>
        </p:txBody>
      </p:sp>
      <p:sp>
        <p:nvSpPr>
          <p:cNvPr id="4" name="">
            <a:extLst>
              <a:ext uri="{FF2B5EF4-FFF2-40B4-BE49-F238E27FC236}">
                <ns2:creationId id="{89A1ED3B-0647-4281-973E-24AF64CC8B16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8FB9C8F9-9B43-4F6D-90CC-28038C5BB889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6">
            <a:extLst>
              <a:ext uri="{FF2B5EF4-FFF2-40B4-BE49-F238E27FC236}">
                <ns2:creationId id="{58373A15-9DC2-4467-8589-EE6ABE6A30EE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  <p:sp>
        <p:nvSpPr>
          <p:cNvPr id="7" name="本例游戏的移动、碰撞和计分，都按固定规则运行。">
            <a:extLst>
              <a:ext uri="{FF2B5EF4-FFF2-40B4-BE49-F238E27FC236}">
                <ns2:creationId id="{D8D13F07-283D-4B4B-BFCE-7727CBD9A7CE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本例游戏的移动、碰撞和计分，都按固定规则运行。</a:t>
            </a:r>
          </a:p>
        </p:txBody>
      </p:sp>
      <p:sp>
        <p:nvSpPr>
          <p:cNvPr id="8" name="">
            <a:extLst>
              <a:ext uri="{FF2B5EF4-FFF2-40B4-BE49-F238E27FC236}">
                <ns2:creationId id="{F9829DDD-0D35-4801-A1DF-B94362AE5A42}"/>
              </a:ext>
            </a:extLst>
          </p:cNvPr>
          <p:cNvSpPr>
            <a:spLocks noGrp="1"/>
          </p:cNvSpPr>
          <p:nvPr/>
        </p:nvSpPr>
        <p:spPr>
          <a:xfrm>
            <a:off x="6048375" y="2419350"/>
            <a:ext cx="9525" cy="261937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9" name="创作时">
            <a:extLst>
              <a:ext uri="{FF2B5EF4-FFF2-40B4-BE49-F238E27FC236}">
                <ns2:creationId id="{D56606B1-DF27-444B-A588-3A51B968CEDA}"/>
              </a:ext>
            </a:extLst>
          </p:cNvPr>
          <p:cNvSpPr>
            <a:spLocks noGrp="1"/>
          </p:cNvSpPr>
          <p:nvPr/>
        </p:nvSpPr>
        <p:spPr>
          <a:xfrm>
            <a:off x="609600" y="246697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创作时</a:t>
            </a:r>
          </a:p>
        </p:txBody>
      </p:sp>
      <p:sp>
        <p:nvSpPr>
          <p:cNvPr id="10" name="输入：你的要求&#10;处理：AI帮助生成程序&#10;输出：游戏程序">
            <a:extLst>
              <a:ext uri="{FF2B5EF4-FFF2-40B4-BE49-F238E27FC236}">
                <ns2:creationId id="{6E194C38-6CD3-4552-8C53-FBCFB75B514E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输入：你的要求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处理：AI帮助生成程序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输出：游戏程序</a:t>
            </a:r>
          </a:p>
        </p:txBody>
      </p:sp>
      <p:sp>
        <p:nvSpPr>
          <p:cNvPr id="11" name="运行时">
            <a:extLst>
              <a:ext uri="{FF2B5EF4-FFF2-40B4-BE49-F238E27FC236}">
                <ns2:creationId id="{CE94DE42-0A8F-45F1-83FC-32118C587D34}"/>
              </a:ext>
            </a:extLst>
          </p:cNvPr>
          <p:cNvSpPr>
            <a:spLocks noGrp="1"/>
          </p:cNvSpPr>
          <p:nvPr/>
        </p:nvSpPr>
        <p:spPr>
          <a:xfrm>
            <a:off x="6515100" y="246697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运行时</a:t>
            </a:r>
          </a:p>
        </p:txBody>
      </p:sp>
      <p:sp>
        <p:nvSpPr>
          <p:cNvPr id="12" name="输入：按键和游戏状态&#10;处理：程序执行固定规则&#10;输出：更新后的画面和分数">
            <a:extLst>
              <a:ext uri="{FF2B5EF4-FFF2-40B4-BE49-F238E27FC236}">
                <ns2:creationId id="{11D2BE90-D87B-44BA-8B70-F9310773F851}"/>
              </a:ext>
            </a:extLst>
          </p:cNvPr>
          <p:cNvSpPr>
            <a:spLocks noGrp="1"/>
          </p:cNvSpPr>
          <p:nvPr/>
        </p:nvSpPr>
        <p:spPr>
          <a:xfrm>
            <a:off x="6515100" y="303847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输入：按键和游戏状态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处理：程序执行固定规则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输出：更新后的画面和分数</a:t>
            </a:r>
          </a:p>
        </p:txBody>
      </p:sp>
      <p:sp>
        <p:nvSpPr>
          <p:cNvPr id="13" name="">
            <a:extLst>
              <a:ext uri="{FF2B5EF4-FFF2-40B4-BE49-F238E27FC236}">
                <ns2:creationId id="{CFD22BB2-E384-48A6-BB92-DEEFC0440743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4" name="本例创作用了AI；上述运行过程只用固定规则。">
            <a:extLst>
              <a:ext uri="{FF2B5EF4-FFF2-40B4-BE49-F238E27FC236}">
                <ns2:creationId id="{AE9A98FC-B7DB-453B-BD97-37F5EB040E6F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本例创作用了AI；上述运行过程只用固定规则。</a:t>
            </a:r>
          </a:p>
        </p:txBody>
      </p:sp>
    </p:spTree>
    <p:extLst>
      <p:ext uri="{BB962C8B-B14F-4D97-AF65-F5344CB8AC3E}">
        <p14:creationId val="650738885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">
            <a:extLst>
              <a:ext uri="{FF2B5EF4-FFF2-40B4-BE49-F238E27FC236}">
                <ns2:creationId id="{775814BE-DFE7-46E8-835A-69E6DE3E10E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人工智能的基本含义">
            <a:extLst>
              <a:ext uri="{FF2B5EF4-FFF2-40B4-BE49-F238E27FC236}">
                <ns2:creationId id="{0C4990D3-C030-499E-A35E-947E03356699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人工智能的基本含义</a:t>
            </a:r>
          </a:p>
        </p:txBody>
      </p:sp>
      <p:sp>
        <p:nvSpPr>
          <p:cNvPr id="3" name="人工智能是什么？">
            <a:extLst>
              <a:ext uri="{FF2B5EF4-FFF2-40B4-BE49-F238E27FC236}">
                <ns2:creationId id="{92F7E3A1-C7EE-4F2B-B9C3-7DFFA5044B17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人工智能是什么？</a:t>
            </a:r>
          </a:p>
        </p:txBody>
      </p:sp>
      <p:sp>
        <p:nvSpPr>
          <p:cNvPr id="4" name="">
            <a:extLst>
              <a:ext uri="{FF2B5EF4-FFF2-40B4-BE49-F238E27FC236}">
                <ns2:creationId id="{9E7018E0-6952-4ADE-8D36-246063D6BECE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65BBA13D-9F67-4A9C-84BA-84B8729A291C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7">
            <a:extLst>
              <a:ext uri="{FF2B5EF4-FFF2-40B4-BE49-F238E27FC236}">
                <ns2:creationId id="{A7E39C50-863A-4693-9C64-3E9D09FCF089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  <p:sp>
        <p:nvSpPr>
          <p:cNvPr id="7" name="人工智能让计算机根据输入的信息，">
            <a:extLst>
              <a:ext uri="{FF2B5EF4-FFF2-40B4-BE49-F238E27FC236}">
                <ns2:creationId id="{DFE6DF3C-ECDF-4DB2-95B2-3755606A1610}"/>
              </a:ext>
            </a:extLst>
          </p:cNvPr>
          <p:cNvSpPr>
            <a:spLocks noGrp="1"/>
          </p:cNvSpPr>
          <p:nvPr/>
        </p:nvSpPr>
        <p:spPr>
          <a:xfrm>
            <a:off x="609600" y="2314575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0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人工智能让计算机根据输入的信息，</a:t>
            </a:r>
          </a:p>
        </p:txBody>
      </p:sp>
      <p:sp>
        <p:nvSpPr>
          <p:cNvPr id="8" name="完成识别、预测、推理&#10;或生成内容等任务。">
            <a:extLst>
              <a:ext uri="{FF2B5EF4-FFF2-40B4-BE49-F238E27FC236}">
                <ns2:creationId id="{219BE79C-5634-47D9-9120-72E6BE0394B2}"/>
              </a:ext>
            </a:extLst>
          </p:cNvPr>
          <p:cNvSpPr>
            <a:spLocks noGrp="1"/>
          </p:cNvSpPr>
          <p:nvPr/>
        </p:nvSpPr>
        <p:spPr>
          <a:xfrm>
            <a:off x="609600" y="3219450"/>
            <a:ext cx="10972800" cy="1533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9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9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完成识别、预测、推理</a:t>
            </a:r>
          </a:p>
          <a:p>
            <a:pPr algn="l">
              <a:lnSpc>
                <a:spcPct val="122000"/>
              </a:lnSpc>
              <a:buNone/>
              <a:defRPr sz="39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9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或生成内容等任务。</a:t>
            </a:r>
          </a:p>
        </p:txBody>
      </p:sp>
      <p:sp>
        <p:nvSpPr>
          <p:cNvPr id="9" name="识别物品、推荐内容、组织回答、生成程序，&#10;都是刚才见过的例子。">
            <a:extLst>
              <a:ext uri="{FF2B5EF4-FFF2-40B4-BE49-F238E27FC236}">
                <ns2:creationId id="{2CAFD445-C3F7-4E36-AF51-DD94949381B1}"/>
              </a:ext>
            </a:extLst>
          </p:cNvPr>
          <p:cNvSpPr>
            <a:spLocks noGrp="1"/>
          </p:cNvSpPr>
          <p:nvPr/>
        </p:nvSpPr>
        <p:spPr>
          <a:xfrm>
            <a:off x="609600" y="5076825"/>
            <a:ext cx="109728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识别物品、推荐内容、组织回答、生成程序，</a:t>
            </a:r>
          </a:p>
          <a:p>
            <a:pPr algn="l">
              <a:lnSpc>
                <a:spcPct val="122000"/>
              </a:lnSpc>
              <a:buNone/>
              <a:defRPr sz="21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都是刚才见过的例子。</a:t>
            </a:r>
          </a:p>
        </p:txBody>
      </p:sp>
      <p:sp>
        <p:nvSpPr>
          <p:cNvPr id="10" name="很多AI从样本中学习，也有AI使用知识和规则推理。">
            <a:extLst>
              <a:ext uri="{FF2B5EF4-FFF2-40B4-BE49-F238E27FC236}">
                <ns2:creationId id="{E16C88B2-4E54-4AA3-8FAD-8AD62C45F6CC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9728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72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很多AI从样本中学习，也有AI使用知识和规则推理。</a:t>
            </a:r>
          </a:p>
        </p:txBody>
      </p:sp>
    </p:spTree>
    <p:extLst>
      <p:ext uri="{BB962C8B-B14F-4D97-AF65-F5344CB8AC3E}">
        <p14:creationId val="1148961153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06C026E9-9162-42FF-9646-DED916AF185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模型的学习与使用">
            <a:extLst>
              <a:ext uri="{FF2B5EF4-FFF2-40B4-BE49-F238E27FC236}">
                <ns2:creationId id="{8CEF6C40-E207-4623-B6E0-F3C44D5FC872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模型的学习与使用</a:t>
            </a:r>
          </a:p>
        </p:txBody>
      </p:sp>
      <p:sp>
        <p:nvSpPr>
          <p:cNvPr id="3" name="为什么让模型从例子中学习？">
            <a:extLst>
              <a:ext uri="{FF2B5EF4-FFF2-40B4-BE49-F238E27FC236}">
                <ns2:creationId id="{3DCFBA2C-2CB3-4F61-B680-895D25DE0E06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为什么让模型从例子中学习？</a:t>
            </a:r>
          </a:p>
        </p:txBody>
      </p:sp>
      <p:sp>
        <p:nvSpPr>
          <p:cNvPr id="4" name="">
            <a:extLst>
              <a:ext uri="{FF2B5EF4-FFF2-40B4-BE49-F238E27FC236}">
                <ns2:creationId id="{1AD333D9-F9E5-4768-966D-36E8D075FB64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9B958575-3674-47C8-AD2A-21049C35DDA3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8">
            <a:extLst>
              <a:ext uri="{FF2B5EF4-FFF2-40B4-BE49-F238E27FC236}">
                <ns2:creationId id="{7B162653-F9CC-46EA-A241-30C75C3593D5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18</a:t>
            </a:r>
          </a:p>
        </p:txBody>
      </p:sp>
      <p:sp>
        <p:nvSpPr>
          <p:cNvPr id="7" name="这些数字都表示3，但它们的像素和轮廓不同。">
            <a:extLst>
              <a:ext uri="{FF2B5EF4-FFF2-40B4-BE49-F238E27FC236}">
                <ns2:creationId id="{04B43994-804F-4DEB-BBD5-74627C3021A9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这些数字都表示3，但它们的像素和轮廓不同。</a:t>
            </a:r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 r:embed="R2bb50a69340e4b02"/>
          <a:stretch/>
        </p:blipFill>
        <p:spPr>
          <a:xfrm>
            <a:off x="2508862" y="2457450"/>
            <a:ext cx="7174277" cy="2133600"/>
          </a:xfrm>
          <a:prstGeom prst="rect">
            <a:avLst/>
          </a:prstGeom>
        </p:spPr>
      </p:pic>
      <p:sp>
        <p:nvSpPr>
          <p:cNvPr id="9" name="逐一写出所有外观规则很困难。">
            <a:extLst>
              <a:ext uri="{FF2B5EF4-FFF2-40B4-BE49-F238E27FC236}">
                <ns2:creationId id="{B5A3B735-5C79-480D-942A-B84A4E0F67CA}"/>
              </a:ext>
            </a:extLst>
          </p:cNvPr>
          <p:cNvSpPr>
            <a:spLocks noGrp="1"/>
          </p:cNvSpPr>
          <p:nvPr/>
        </p:nvSpPr>
        <p:spPr>
          <a:xfrm>
            <a:off x="609600" y="4962525"/>
            <a:ext cx="109728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逐一写出所有外观规则很困难。</a:t>
            </a:r>
          </a:p>
        </p:txBody>
      </p:sp>
      <p:sp>
        <p:nvSpPr>
          <p:cNvPr id="10" name="">
            <a:extLst>
              <a:ext uri="{FF2B5EF4-FFF2-40B4-BE49-F238E27FC236}">
                <ns2:creationId id="{D7AE59D8-99B0-46CB-9C0C-1DD07200828F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1" name="另一种办法：提供标好类别的例子，让模型学习。">
            <a:extLst>
              <a:ext uri="{FF2B5EF4-FFF2-40B4-BE49-F238E27FC236}">
                <ns2:creationId id="{8BBC7812-2D68-4E1B-878B-D0F7E86C5066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另一种办法：提供标好类别的例子，让模型学习。</a:t>
            </a:r>
          </a:p>
        </p:txBody>
      </p:sp>
    </p:spTree>
    <p:extLst>
      <p:ext uri="{BB962C8B-B14F-4D97-AF65-F5344CB8AC3E}">
        <p14:creationId val="920722344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F14DCA0A-966F-40A0-8038-3733458E50F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模型的学习与使用">
            <a:extLst>
              <a:ext uri="{FF2B5EF4-FFF2-40B4-BE49-F238E27FC236}">
                <ns2:creationId id="{4CF58263-7828-4D2D-BAE1-DB8882699C9C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模型的学习与使用</a:t>
            </a:r>
          </a:p>
        </p:txBody>
      </p:sp>
      <p:sp>
        <p:nvSpPr>
          <p:cNvPr id="3" name="模型怎样给出预测？">
            <a:extLst>
              <a:ext uri="{FF2B5EF4-FFF2-40B4-BE49-F238E27FC236}">
                <ns2:creationId id="{61138C79-4B14-4D94-88F7-90673E57D5A4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模型怎样给出预测？</a:t>
            </a:r>
          </a:p>
        </p:txBody>
      </p:sp>
      <p:sp>
        <p:nvSpPr>
          <p:cNvPr id="4" name="">
            <a:extLst>
              <a:ext uri="{FF2B5EF4-FFF2-40B4-BE49-F238E27FC236}">
                <ns2:creationId id="{1EC313CC-7A59-477A-8109-4EE69A6EEC1E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51168516-2CB4-4613-805F-CCF7CB3A34E7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19">
            <a:extLst>
              <a:ext uri="{FF2B5EF4-FFF2-40B4-BE49-F238E27FC236}">
                <ns2:creationId id="{E1F4AFE2-9D27-4A2C-8A8C-948F05EB4E7E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19</a:t>
            </a:r>
          </a:p>
        </p:txBody>
      </p:sp>
      <p:sp>
        <p:nvSpPr>
          <p:cNvPr id="7" name="3Blue1Brown科普动画 · 手写数字识别">
            <a:extLst>
              <a:ext uri="{FF2B5EF4-FFF2-40B4-BE49-F238E27FC236}">
                <ns2:creationId id="{2EFB69F8-40F6-489A-835F-7E17567CF491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3Blue1Brown科普动画 · 手写数字识别</a:t>
            </a:r>
          </a:p>
        </p:txBody>
      </p:sp>
      <p:pic>
        <p:nvPicPr>
          <p:cNvPr id="2019" name="模型怎样给出预测？（静态封面）" descr="模型怎样给出预测？的视频封面"/>
          <p:cNvPicPr>
            <a:picLocks noChangeAspect="1"/>
          </p:cNvPicPr>
          <p:nvPr/>
        </p:nvPicPr>
        <p:blipFill>
          <a:blip r:embed="Raf42b2a5f0794963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pic>
        <p:nvPicPr>
          <p:cNvPr id="23" name="模型怎样给出预测？（内嵌视频）" descr="模型怎样给出预测？，放映时点击播放">
            <a:hlinkClick action="ppaction://media"/>
          </p:cNvPr>
          <p:cNvPicPr>
            <a:picLocks noChangeAspect="1"/>
          </p:cNvPicPr>
          <p:nvPr>
            <a:videoFile r:link="rIdEmbeddedVideo"/>
            <p:extLst>
              <p:ext uri="{DAA4B4D4-6D71-4841-9C94-3DE7FCFB9230}">
                <p14:media r:embed="rIdEmbeddedMedia"/>
              </p:ext>
            </p:extLst>
          </p:nvPr>
        </p:nvPicPr>
        <p:blipFill>
          <a:blip r:embed="Raf42b2a5f0794963"/>
          <a:stretch/>
        </p:blipFill>
        <p:spPr>
          <a:xfrm>
            <a:off x="1032933" y="2076450"/>
            <a:ext cx="6773333" cy="3810000"/>
          </a:xfrm>
          <a:prstGeom prst="rect">
            <a:avLst/>
          </a:prstGeom>
        </p:spPr>
      </p:pic>
      <p:sp>
        <p:nvSpPr>
          <p:cNvPr id="9" name="输入">
            <a:extLst>
              <a:ext uri="{FF2B5EF4-FFF2-40B4-BE49-F238E27FC236}">
                <ns2:creationId id="{2A4A07E0-7D5D-4326-B4F6-7C654DE555F5}"/>
              </a:ext>
            </a:extLst>
          </p:cNvPr>
          <p:cNvSpPr>
            <a:spLocks noGrp="1"/>
          </p:cNvSpPr>
          <p:nvPr/>
        </p:nvSpPr>
        <p:spPr>
          <a:xfrm>
            <a:off x="8686800" y="22479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输入</a:t>
            </a:r>
          </a:p>
        </p:txBody>
      </p:sp>
      <p:sp>
        <p:nvSpPr>
          <p:cNvPr id="10" name="一张新的&#10;手写数字图片。">
            <a:extLst>
              <a:ext uri="{FF2B5EF4-FFF2-40B4-BE49-F238E27FC236}">
                <ns2:creationId id="{667E7031-3312-4EF4-BE9C-2D45C83A2B9E}"/>
              </a:ext>
            </a:extLst>
          </p:cNvPr>
          <p:cNvSpPr>
            <a:spLocks noGrp="1"/>
          </p:cNvSpPr>
          <p:nvPr/>
        </p:nvSpPr>
        <p:spPr>
          <a:xfrm>
            <a:off x="8686800" y="26765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一张新的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手写数字图片。</a:t>
            </a:r>
          </a:p>
        </p:txBody>
      </p:sp>
      <p:sp>
        <p:nvSpPr>
          <p:cNvPr id="11" name="观看重点">
            <a:extLst>
              <a:ext uri="{FF2B5EF4-FFF2-40B4-BE49-F238E27FC236}">
                <ns2:creationId id="{812A1FAE-8357-4A1A-AED1-331CC6EF7601}"/>
              </a:ext>
            </a:extLst>
          </p:cNvPr>
          <p:cNvSpPr>
            <a:spLocks noGrp="1"/>
          </p:cNvSpPr>
          <p:nvPr/>
        </p:nvSpPr>
        <p:spPr>
          <a:xfrm>
            <a:off x="8686800" y="38100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观看重点</a:t>
            </a:r>
          </a:p>
        </p:txBody>
      </p:sp>
      <p:sp>
        <p:nvSpPr>
          <p:cNvPr id="12" name="图片进入模型后，&#10;输出怎样表示类别？">
            <a:extLst>
              <a:ext uri="{FF2B5EF4-FFF2-40B4-BE49-F238E27FC236}">
                <ns2:creationId id="{B11929A4-A655-4E33-93CF-1A33A8112BAF}"/>
              </a:ext>
            </a:extLst>
          </p:cNvPr>
          <p:cNvSpPr>
            <a:spLocks noGrp="1"/>
          </p:cNvSpPr>
          <p:nvPr/>
        </p:nvSpPr>
        <p:spPr>
          <a:xfrm>
            <a:off x="8686800" y="4238625"/>
            <a:ext cx="28956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图片进入模型后，</a:t>
            </a:r>
          </a:p>
          <a:p>
            <a:pPr algn="l">
              <a:lnSpc>
                <a:spcPct val="122000"/>
              </a:lnSpc>
              <a:buNone/>
              <a:def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输出怎样表示类别？</a:t>
            </a:r>
          </a:p>
        </p:txBody>
      </p:sp>
      <p:sp>
        <p:nvSpPr>
          <p:cNvPr id="13" name="经典原理科普">
            <a:extLst>
              <a:ext uri="{FF2B5EF4-FFF2-40B4-BE49-F238E27FC236}">
                <ns2:creationId id="{79330771-8BC1-4E67-BF75-2FFD4B00F281}"/>
              </a:ext>
            </a:extLst>
          </p:cNvPr>
          <p:cNvSpPr>
            <a:spLocks noGrp="1"/>
          </p:cNvSpPr>
          <p:nvPr/>
        </p:nvSpPr>
        <p:spPr>
          <a:xfrm>
            <a:off x="8686800" y="5305425"/>
            <a:ext cx="289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经典原理科普</a:t>
            </a:r>
          </a:p>
        </p:txBody>
      </p:sp>
      <p:sp>
        <p:nvSpPr>
          <p:cNvPr id="14" name="点击画面播放">
            <a:extLst>
              <a:ext uri="{FF2B5EF4-FFF2-40B4-BE49-F238E27FC236}">
                <ns2:creationId id="{81B988C7-9334-4E7B-BF7B-27C345851B4C}"/>
              </a:ext>
            </a:extLst>
          </p:cNvPr>
          <p:cNvSpPr>
            <a:spLocks noGrp="1"/>
          </p:cNvSpPr>
          <p:nvPr/>
        </p:nvSpPr>
        <p:spPr>
          <a:xfrm>
            <a:off x="8686800" y="5638800"/>
            <a:ext cx="28956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点击画面播放</a:t>
            </a:r>
          </a:p>
        </p:txBody>
      </p:sp>
      <p:sp>
        <p:nvSpPr>
          <p:cNvPr id="15" name="这段动画展示使用模型，不展示训练。">
            <a:extLst>
              <a:ext uri="{FF2B5EF4-FFF2-40B4-BE49-F238E27FC236}">
                <ns2:creationId id="{658C759D-E350-41BC-8223-A1CE008AEA1F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7620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这段动画展示使用模型，不展示训练。</a:t>
            </a:r>
          </a:p>
        </p:txBody>
      </p:sp>
    </p:spTree>
    <p:extLst>
      <p:ext uri="{BB962C8B-B14F-4D97-AF65-F5344CB8AC3E}">
        <p14:creationId val="490400223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4" name="">
            <a:extLst>
              <a:ext uri="{FF2B5EF4-FFF2-40B4-BE49-F238E27FC236}">
                <ns2:creationId id="{E44061AF-D548-4EC4-99E8-65E9158E68D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模型的学习与使用">
            <a:extLst>
              <a:ext uri="{FF2B5EF4-FFF2-40B4-BE49-F238E27FC236}">
                <ns2:creationId id="{D339B944-5773-4A20-86EE-A68AB9BD2A1B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模型的学习与使用</a:t>
            </a:r>
          </a:p>
        </p:txBody>
      </p:sp>
      <p:sp>
        <p:nvSpPr>
          <p:cNvPr id="3" name="训练：用样本建立模型">
            <a:extLst>
              <a:ext uri="{FF2B5EF4-FFF2-40B4-BE49-F238E27FC236}">
                <ns2:creationId id="{66603A28-E59B-44E3-B33E-B627539096E6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训练：用样本建立模型</a:t>
            </a:r>
          </a:p>
        </p:txBody>
      </p:sp>
      <p:sp>
        <p:nvSpPr>
          <p:cNvPr id="4" name="">
            <a:extLst>
              <a:ext uri="{FF2B5EF4-FFF2-40B4-BE49-F238E27FC236}">
                <ns2:creationId id="{0D83D397-C546-4F66-82BD-DB32F97F6291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358356B3-A5ED-4D23-BA3A-A934ADA6FD26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0">
            <a:extLst>
              <a:ext uri="{FF2B5EF4-FFF2-40B4-BE49-F238E27FC236}">
                <ns2:creationId id="{7FAF2D7D-ED72-45DD-81A4-809BFDC562C3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20</a:t>
            </a:r>
          </a:p>
        </p:txBody>
      </p:sp>
      <p:sp>
        <p:nvSpPr>
          <p:cNvPr id="7" name="课堂分类器的三个类别：笔、橡皮、空背景。">
            <a:extLst>
              <a:ext uri="{FF2B5EF4-FFF2-40B4-BE49-F238E27FC236}">
                <ns2:creationId id="{03113A26-18E8-49F8-B632-674CEFF005C2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课堂分类器的三个类别：笔、橡皮、空背景。</a:t>
            </a:r>
          </a:p>
        </p:txBody>
      </p:sp>
      <p:sp>
        <p:nvSpPr>
          <p:cNvPr id="8" name="准备样本">
            <a:extLst>
              <a:ext uri="{FF2B5EF4-FFF2-40B4-BE49-F238E27FC236}">
                <ns2:creationId id="{94B06BFD-165D-4F6F-B510-73D05F5C1EE6}"/>
              </a:ext>
            </a:extLst>
          </p:cNvPr>
          <p:cNvSpPr>
            <a:spLocks noGrp="1"/>
          </p:cNvSpPr>
          <p:nvPr/>
        </p:nvSpPr>
        <p:spPr>
          <a:xfrm>
            <a:off x="609600" y="255270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准备样本</a:t>
            </a:r>
          </a:p>
        </p:txBody>
      </p:sp>
      <p:sp>
        <p:nvSpPr>
          <p:cNvPr id="9" name="">
            <a:extLst>
              <a:ext uri="{FF2B5EF4-FFF2-40B4-BE49-F238E27FC236}">
                <ns2:creationId id="{3695B293-DE5C-4A36-9AAD-23AFC6EAED21}"/>
              </a:ext>
            </a:extLst>
          </p:cNvPr>
          <p:cNvSpPr>
            <a:spLocks noGrp="1"/>
          </p:cNvSpPr>
          <p:nvPr/>
        </p:nvSpPr>
        <p:spPr>
          <a:xfrm>
            <a:off x="609600" y="3095625"/>
            <a:ext cx="3048000" cy="1057275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10" name="标好类别的图片">
            <a:extLst>
              <a:ext uri="{FF2B5EF4-FFF2-40B4-BE49-F238E27FC236}">
                <ns2:creationId id="{0A597E55-4937-4F9B-A251-826BC52C1373}"/>
              </a:ext>
            </a:extLst>
          </p:cNvPr>
          <p:cNvSpPr>
            <a:spLocks noGrp="1"/>
          </p:cNvSpPr>
          <p:nvPr/>
        </p:nvSpPr>
        <p:spPr>
          <a:xfrm>
            <a:off x="781050" y="3343275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标好类别的图片</a:t>
            </a:r>
          </a:p>
        </p:txBody>
      </p:sp>
      <p:sp>
        <p:nvSpPr>
          <p:cNvPr id="11" name="同类物品拍不同角度">
            <a:extLst>
              <a:ext uri="{FF2B5EF4-FFF2-40B4-BE49-F238E27FC236}">
                <ns2:creationId id="{95AE3F3A-9CD1-4521-A319-B916F6B79AEB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同类物品拍不同角度</a:t>
            </a:r>
          </a:p>
        </p:txBody>
      </p:sp>
      <p:sp>
        <p:nvSpPr>
          <p:cNvPr id="12" name="">
            <a:extLst>
              <a:ext uri="{FF2B5EF4-FFF2-40B4-BE49-F238E27FC236}">
                <ns2:creationId id="{558C1239-6D38-4A8A-8C09-A7ED28A13363}"/>
              </a:ext>
            </a:extLst>
          </p:cNvPr>
          <p:cNvSpPr>
            <a:spLocks noGrp="1"/>
          </p:cNvSpPr>
          <p:nvPr/>
        </p:nvSpPr>
        <p:spPr>
          <a:xfrm>
            <a:off x="3905250" y="3495675"/>
            <a:ext cx="419100" cy="228600"/>
          </a:xfrm>
          <a:prstGeom prst="rightArrow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3" name="训练">
            <a:extLst>
              <a:ext uri="{FF2B5EF4-FFF2-40B4-BE49-F238E27FC236}">
                <ns2:creationId id="{DACC9A85-850F-4CB6-A6B5-6D35DA76CF72}"/>
              </a:ext>
            </a:extLst>
          </p:cNvPr>
          <p:cNvSpPr>
            <a:spLocks noGrp="1"/>
          </p:cNvSpPr>
          <p:nvPr/>
        </p:nvSpPr>
        <p:spPr>
          <a:xfrm>
            <a:off x="4572000" y="255270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训练</a:t>
            </a:r>
          </a:p>
        </p:txBody>
      </p:sp>
      <p:sp>
        <p:nvSpPr>
          <p:cNvPr id="14" name="">
            <a:extLst>
              <a:ext uri="{FF2B5EF4-FFF2-40B4-BE49-F238E27FC236}">
                <ns2:creationId id="{38E3C71F-BFCC-4772-A51C-F328DCE32D1D}"/>
              </a:ext>
            </a:extLst>
          </p:cNvPr>
          <p:cNvSpPr>
            <a:spLocks noGrp="1"/>
          </p:cNvSpPr>
          <p:nvPr/>
        </p:nvSpPr>
        <p:spPr>
          <a:xfrm>
            <a:off x="4572000" y="3095625"/>
            <a:ext cx="3048000" cy="1057275"/>
          </a:xfrm>
          <a:prstGeom prst="rect">
            <a:avLst/>
          </a:prstGeom>
          <a:solidFill>
            <a:srgbClr val="FFF6E2"/>
          </a:solidFill>
          <a:ln w="0">
            <a:noFill/>
          </a:ln>
        </p:spPr>
      </p:sp>
      <p:sp>
        <p:nvSpPr>
          <p:cNvPr id="15" name="学习与调整">
            <a:extLst>
              <a:ext uri="{FF2B5EF4-FFF2-40B4-BE49-F238E27FC236}">
                <ns2:creationId id="{C72D94B2-5789-4097-AB08-52042B27E5AE}"/>
              </a:ext>
            </a:extLst>
          </p:cNvPr>
          <p:cNvSpPr>
            <a:spLocks noGrp="1"/>
          </p:cNvSpPr>
          <p:nvPr/>
        </p:nvSpPr>
        <p:spPr>
          <a:xfrm>
            <a:off x="4743450" y="3343275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学习与调整</a:t>
            </a:r>
          </a:p>
        </p:txBody>
      </p:sp>
      <p:sp>
        <p:nvSpPr>
          <p:cNvPr id="16" name="利用样本建立分类部分">
            <a:extLst>
              <a:ext uri="{FF2B5EF4-FFF2-40B4-BE49-F238E27FC236}">
                <ns2:creationId id="{6DA534BF-B476-4FC9-BA86-3C6D059329E4}"/>
              </a:ext>
            </a:extLst>
          </p:cNvPr>
          <p:cNvSpPr>
            <a:spLocks noGrp="1"/>
          </p:cNvSpPr>
          <p:nvPr/>
        </p:nvSpPr>
        <p:spPr>
          <a:xfrm>
            <a:off x="4572000" y="440055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利用样本建立分类部分</a:t>
            </a:r>
          </a:p>
        </p:txBody>
      </p:sp>
      <p:sp>
        <p:nvSpPr>
          <p:cNvPr id="17" name="">
            <a:extLst>
              <a:ext uri="{FF2B5EF4-FFF2-40B4-BE49-F238E27FC236}">
                <ns2:creationId id="{F5DBA63E-983C-48D6-9C81-196F67910992}"/>
              </a:ext>
            </a:extLst>
          </p:cNvPr>
          <p:cNvSpPr>
            <a:spLocks noGrp="1"/>
          </p:cNvSpPr>
          <p:nvPr/>
        </p:nvSpPr>
        <p:spPr>
          <a:xfrm>
            <a:off x="7867650" y="3495675"/>
            <a:ext cx="419100" cy="228600"/>
          </a:xfrm>
          <a:prstGeom prst="rightArrow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8" name="保存">
            <a:extLst>
              <a:ext uri="{FF2B5EF4-FFF2-40B4-BE49-F238E27FC236}">
                <ns2:creationId id="{3B77BEE5-9011-44FC-8858-71F8CE1A374F}"/>
              </a:ext>
            </a:extLst>
          </p:cNvPr>
          <p:cNvSpPr>
            <a:spLocks noGrp="1"/>
          </p:cNvSpPr>
          <p:nvPr/>
        </p:nvSpPr>
        <p:spPr>
          <a:xfrm>
            <a:off x="8534400" y="255270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保存</a:t>
            </a:r>
          </a:p>
        </p:txBody>
      </p:sp>
      <p:sp>
        <p:nvSpPr>
          <p:cNvPr id="19" name="">
            <a:extLst>
              <a:ext uri="{FF2B5EF4-FFF2-40B4-BE49-F238E27FC236}">
                <ns2:creationId id="{F82E11BE-1ECD-49E7-A11E-9D8E033796D2}"/>
              </a:ext>
            </a:extLst>
          </p:cNvPr>
          <p:cNvSpPr>
            <a:spLocks noGrp="1"/>
          </p:cNvSpPr>
          <p:nvPr/>
        </p:nvSpPr>
        <p:spPr>
          <a:xfrm>
            <a:off x="8534400" y="3095625"/>
            <a:ext cx="3048000" cy="1057275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20" name="分类模型">
            <a:extLst>
              <a:ext uri="{FF2B5EF4-FFF2-40B4-BE49-F238E27FC236}">
                <ns2:creationId id="{CF012EA5-CB85-4A7A-8A68-94E888731057}"/>
              </a:ext>
            </a:extLst>
          </p:cNvPr>
          <p:cNvSpPr>
            <a:spLocks noGrp="1"/>
          </p:cNvSpPr>
          <p:nvPr/>
        </p:nvSpPr>
        <p:spPr>
          <a:xfrm>
            <a:off x="8705850" y="3343275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分类模型</a:t>
            </a:r>
          </a:p>
        </p:txBody>
      </p:sp>
      <p:sp>
        <p:nvSpPr>
          <p:cNvPr id="21" name="保留样本和当前模型">
            <a:extLst>
              <a:ext uri="{FF2B5EF4-FFF2-40B4-BE49-F238E27FC236}">
                <ns2:creationId id="{560383CD-3F2E-499E-A039-71ABBEF51E29}"/>
              </a:ext>
            </a:extLst>
          </p:cNvPr>
          <p:cNvSpPr>
            <a:spLocks noGrp="1"/>
          </p:cNvSpPr>
          <p:nvPr/>
        </p:nvSpPr>
        <p:spPr>
          <a:xfrm>
            <a:off x="8534400" y="440055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保留样本和当前模型</a:t>
            </a:r>
          </a:p>
        </p:txBody>
      </p:sp>
      <p:sp>
        <p:nvSpPr>
          <p:cNvPr id="22" name="">
            <a:extLst>
              <a:ext uri="{FF2B5EF4-FFF2-40B4-BE49-F238E27FC236}">
                <ns2:creationId id="{42FD4C65-3F70-471E-948D-1B3F08820EA1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3" name="样本覆盖的情况，会影响模型之后的预测。">
            <a:extLst>
              <a:ext uri="{FF2B5EF4-FFF2-40B4-BE49-F238E27FC236}">
                <ns2:creationId id="{5B695BC2-93A4-461C-ADB2-8770721AC33E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样本覆盖的情况，会影响模型之后的预测。</a:t>
            </a:r>
          </a:p>
        </p:txBody>
      </p:sp>
    </p:spTree>
    <p:extLst>
      <p:ext uri="{BB962C8B-B14F-4D97-AF65-F5344CB8AC3E}">
        <p14:creationId val="152003401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4" name="">
            <a:extLst>
              <a:ext uri="{FF2B5EF4-FFF2-40B4-BE49-F238E27FC236}">
                <ns2:creationId id="{1D3A718B-BB63-4591-A648-26D2BC620B2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模型的学习与使用">
            <a:extLst>
              <a:ext uri="{FF2B5EF4-FFF2-40B4-BE49-F238E27FC236}">
                <ns2:creationId id="{CCB759A1-09B2-4BF5-B7A8-B766D9C74C44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模型的学习与使用</a:t>
            </a:r>
          </a:p>
        </p:txBody>
      </p:sp>
      <p:sp>
        <p:nvSpPr>
          <p:cNvPr id="3" name="预测：处理一张新图片">
            <a:extLst>
              <a:ext uri="{FF2B5EF4-FFF2-40B4-BE49-F238E27FC236}">
                <ns2:creationId id="{5BB1D790-E7F6-4833-86D2-128C051CB91B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预测：处理一张新图片</a:t>
            </a:r>
          </a:p>
        </p:txBody>
      </p:sp>
      <p:sp>
        <p:nvSpPr>
          <p:cNvPr id="4" name="">
            <a:extLst>
              <a:ext uri="{FF2B5EF4-FFF2-40B4-BE49-F238E27FC236}">
                <ns2:creationId id="{BB507E0F-B8DA-4B4E-84EA-512B4F06F8FD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FA90B410-B000-4587-8F8B-742AFEA4C0F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1">
            <a:extLst>
              <a:ext uri="{FF2B5EF4-FFF2-40B4-BE49-F238E27FC236}">
                <ns2:creationId id="{CCE5BCC4-3F29-4BD1-9A26-2451337CBFDF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21</a:t>
            </a:r>
          </a:p>
        </p:txBody>
      </p:sp>
      <p:sp>
        <p:nvSpPr>
          <p:cNvPr id="7" name="模型给出预测后，还要与实际物品核对。">
            <a:extLst>
              <a:ext uri="{FF2B5EF4-FFF2-40B4-BE49-F238E27FC236}">
                <ns2:creationId id="{2983D9FE-AA3F-43A7-91EC-430EC7457FC9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模型给出预测后，还要与实际物品核对。</a:t>
            </a:r>
          </a:p>
        </p:txBody>
      </p:sp>
      <p:sp>
        <p:nvSpPr>
          <p:cNvPr id="8" name="输入">
            <a:extLst>
              <a:ext uri="{FF2B5EF4-FFF2-40B4-BE49-F238E27FC236}">
                <ns2:creationId id="{6AC38DF9-7240-4146-B43C-76E9E9B27CAF}"/>
              </a:ext>
            </a:extLst>
          </p:cNvPr>
          <p:cNvSpPr>
            <a:spLocks noGrp="1"/>
          </p:cNvSpPr>
          <p:nvPr/>
        </p:nvSpPr>
        <p:spPr>
          <a:xfrm>
            <a:off x="609600" y="255270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输入</a:t>
            </a:r>
          </a:p>
        </p:txBody>
      </p:sp>
      <p:sp>
        <p:nvSpPr>
          <p:cNvPr id="9" name="">
            <a:extLst>
              <a:ext uri="{FF2B5EF4-FFF2-40B4-BE49-F238E27FC236}">
                <ns2:creationId id="{1350E109-9138-4522-937D-2F0A10648655}"/>
              </a:ext>
            </a:extLst>
          </p:cNvPr>
          <p:cNvSpPr>
            <a:spLocks noGrp="1"/>
          </p:cNvSpPr>
          <p:nvPr/>
        </p:nvSpPr>
        <p:spPr>
          <a:xfrm>
            <a:off x="609600" y="3095625"/>
            <a:ext cx="3048000" cy="1057275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10" name="摄像头的新图片">
            <a:extLst>
              <a:ext uri="{FF2B5EF4-FFF2-40B4-BE49-F238E27FC236}">
                <ns2:creationId id="{D91F763B-437F-4AEE-A2B0-2BA3F31F72CF}"/>
              </a:ext>
            </a:extLst>
          </p:cNvPr>
          <p:cNvSpPr>
            <a:spLocks noGrp="1"/>
          </p:cNvSpPr>
          <p:nvPr/>
        </p:nvSpPr>
        <p:spPr>
          <a:xfrm>
            <a:off x="781050" y="3343275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摄像头的新图片</a:t>
            </a:r>
          </a:p>
        </p:txBody>
      </p:sp>
      <p:sp>
        <p:nvSpPr>
          <p:cNvPr id="11" name="这一次提供的信息">
            <a:extLst>
              <a:ext uri="{FF2B5EF4-FFF2-40B4-BE49-F238E27FC236}">
                <ns2:creationId id="{65F98490-F499-4D16-8F73-BD706C6A33B3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这一次提供的信息</a:t>
            </a:r>
          </a:p>
        </p:txBody>
      </p:sp>
      <p:sp>
        <p:nvSpPr>
          <p:cNvPr id="12" name="">
            <a:extLst>
              <a:ext uri="{FF2B5EF4-FFF2-40B4-BE49-F238E27FC236}">
                <ns2:creationId id="{FCFF38EC-BB50-4625-9EF1-CE5717F499BF}"/>
              </a:ext>
            </a:extLst>
          </p:cNvPr>
          <p:cNvSpPr>
            <a:spLocks noGrp="1"/>
          </p:cNvSpPr>
          <p:nvPr/>
        </p:nvSpPr>
        <p:spPr>
          <a:xfrm>
            <a:off x="3905250" y="3495675"/>
            <a:ext cx="419100" cy="228600"/>
          </a:xfrm>
          <a:prstGeom prst="rightArrow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3" name="处理">
            <a:extLst>
              <a:ext uri="{FF2B5EF4-FFF2-40B4-BE49-F238E27FC236}">
                <ns2:creationId id="{7BEBE083-F0EE-4A0E-891A-13A5334AB1C3}"/>
              </a:ext>
            </a:extLst>
          </p:cNvPr>
          <p:cNvSpPr>
            <a:spLocks noGrp="1"/>
          </p:cNvSpPr>
          <p:nvPr/>
        </p:nvSpPr>
        <p:spPr>
          <a:xfrm>
            <a:off x="4572000" y="255270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处理</a:t>
            </a:r>
          </a:p>
        </p:txBody>
      </p:sp>
      <p:sp>
        <p:nvSpPr>
          <p:cNvPr id="14" name="">
            <a:extLst>
              <a:ext uri="{FF2B5EF4-FFF2-40B4-BE49-F238E27FC236}">
                <ns2:creationId id="{F3AE49CF-100B-4856-9752-AA7466834F07}"/>
              </a:ext>
            </a:extLst>
          </p:cNvPr>
          <p:cNvSpPr>
            <a:spLocks noGrp="1"/>
          </p:cNvSpPr>
          <p:nvPr/>
        </p:nvSpPr>
        <p:spPr>
          <a:xfrm>
            <a:off x="4572000" y="3095625"/>
            <a:ext cx="3048000" cy="1057275"/>
          </a:xfrm>
          <a:prstGeom prst="rect">
            <a:avLst/>
          </a:prstGeom>
          <a:solidFill>
            <a:srgbClr val="FFF6E2"/>
          </a:solidFill>
          <a:ln w="0">
            <a:noFill/>
          </a:ln>
        </p:spPr>
      </p:sp>
      <p:sp>
        <p:nvSpPr>
          <p:cNvPr id="15" name="已有分类模型">
            <a:extLst>
              <a:ext uri="{FF2B5EF4-FFF2-40B4-BE49-F238E27FC236}">
                <ns2:creationId id="{42CBCBA7-E359-428C-B892-B08E2D451DA3}"/>
              </a:ext>
            </a:extLst>
          </p:cNvPr>
          <p:cNvSpPr>
            <a:spLocks noGrp="1"/>
          </p:cNvSpPr>
          <p:nvPr/>
        </p:nvSpPr>
        <p:spPr>
          <a:xfrm>
            <a:off x="4743450" y="3343275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已有分类模型</a:t>
            </a:r>
          </a:p>
        </p:txBody>
      </p:sp>
      <p:sp>
        <p:nvSpPr>
          <p:cNvPr id="16" name="按当前模型进行计算">
            <a:extLst>
              <a:ext uri="{FF2B5EF4-FFF2-40B4-BE49-F238E27FC236}">
                <ns2:creationId id="{BD6E6EFC-4753-4813-9D9E-CA1877C37518}"/>
              </a:ext>
            </a:extLst>
          </p:cNvPr>
          <p:cNvSpPr>
            <a:spLocks noGrp="1"/>
          </p:cNvSpPr>
          <p:nvPr/>
        </p:nvSpPr>
        <p:spPr>
          <a:xfrm>
            <a:off x="4572000" y="440055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按当前模型进行计算</a:t>
            </a:r>
          </a:p>
        </p:txBody>
      </p:sp>
      <p:sp>
        <p:nvSpPr>
          <p:cNvPr id="17" name="">
            <a:extLst>
              <a:ext uri="{FF2B5EF4-FFF2-40B4-BE49-F238E27FC236}">
                <ns2:creationId id="{9EAFD107-F221-4D54-9105-97F37848072A}"/>
              </a:ext>
            </a:extLst>
          </p:cNvPr>
          <p:cNvSpPr>
            <a:spLocks noGrp="1"/>
          </p:cNvSpPr>
          <p:nvPr/>
        </p:nvSpPr>
        <p:spPr>
          <a:xfrm>
            <a:off x="7867650" y="3495675"/>
            <a:ext cx="419100" cy="228600"/>
          </a:xfrm>
          <a:prstGeom prst="rightArrow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8" name="输出">
            <a:extLst>
              <a:ext uri="{FF2B5EF4-FFF2-40B4-BE49-F238E27FC236}">
                <ns2:creationId id="{13878B10-B26D-4D4E-964F-EDD821F1839A}"/>
              </a:ext>
            </a:extLst>
          </p:cNvPr>
          <p:cNvSpPr>
            <a:spLocks noGrp="1"/>
          </p:cNvSpPr>
          <p:nvPr/>
        </p:nvSpPr>
        <p:spPr>
          <a:xfrm>
            <a:off x="8534400" y="255270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输出</a:t>
            </a:r>
          </a:p>
        </p:txBody>
      </p:sp>
      <p:sp>
        <p:nvSpPr>
          <p:cNvPr id="19" name="">
            <a:extLst>
              <a:ext uri="{FF2B5EF4-FFF2-40B4-BE49-F238E27FC236}">
                <ns2:creationId id="{9382EDBA-0531-41EC-934D-ACE32A21FC16}"/>
              </a:ext>
            </a:extLst>
          </p:cNvPr>
          <p:cNvSpPr>
            <a:spLocks noGrp="1"/>
          </p:cNvSpPr>
          <p:nvPr/>
        </p:nvSpPr>
        <p:spPr>
          <a:xfrm>
            <a:off x="8534400" y="3095625"/>
            <a:ext cx="3048000" cy="1057275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20" name="预测类别">
            <a:extLst>
              <a:ext uri="{FF2B5EF4-FFF2-40B4-BE49-F238E27FC236}">
                <ns2:creationId id="{193DFA01-0606-4AFB-9843-E83711C6C55F}"/>
              </a:ext>
            </a:extLst>
          </p:cNvPr>
          <p:cNvSpPr>
            <a:spLocks noGrp="1"/>
          </p:cNvSpPr>
          <p:nvPr/>
        </p:nvSpPr>
        <p:spPr>
          <a:xfrm>
            <a:off x="8705850" y="3343275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预测类别</a:t>
            </a:r>
          </a:p>
        </p:txBody>
      </p:sp>
      <p:sp>
        <p:nvSpPr>
          <p:cNvPr id="21" name="与实际类别核对">
            <a:extLst>
              <a:ext uri="{FF2B5EF4-FFF2-40B4-BE49-F238E27FC236}">
                <ns2:creationId id="{BD5BEB05-1F05-4D68-9112-B797E57D165C}"/>
              </a:ext>
            </a:extLst>
          </p:cNvPr>
          <p:cNvSpPr>
            <a:spLocks noGrp="1"/>
          </p:cNvSpPr>
          <p:nvPr/>
        </p:nvSpPr>
        <p:spPr>
          <a:xfrm>
            <a:off x="8534400" y="4400550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与实际类别核对</a:t>
            </a:r>
          </a:p>
        </p:txBody>
      </p:sp>
      <p:sp>
        <p:nvSpPr>
          <p:cNvPr id="22" name="">
            <a:extLst>
              <a:ext uri="{FF2B5EF4-FFF2-40B4-BE49-F238E27FC236}">
                <ns2:creationId id="{CF445449-D38B-45EB-B43E-C4631920158D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3" name="普通预测通常不更新模型；补样本后，需要再训练。">
            <a:extLst>
              <a:ext uri="{FF2B5EF4-FFF2-40B4-BE49-F238E27FC236}">
                <ns2:creationId id="{DEDDF640-6492-4BDB-95AA-1E6DE136C4C8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普通预测通常不更新模型；补样本后，需要再训练。</a:t>
            </a:r>
          </a:p>
        </p:txBody>
      </p:sp>
    </p:spTree>
    <p:extLst>
      <p:ext uri="{BB962C8B-B14F-4D97-AF65-F5344CB8AC3E}">
        <p14:creationId val="259065233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7" name="">
            <a:extLst>
              <a:ext uri="{FF2B5EF4-FFF2-40B4-BE49-F238E27FC236}">
                <ns2:creationId id="{EDB4F5EB-721D-4928-BCB4-10A28DB80D38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模型的学习与使用">
            <a:extLst>
              <a:ext uri="{FF2B5EF4-FFF2-40B4-BE49-F238E27FC236}">
                <ns2:creationId id="{B5312259-E2EC-4360-9AD6-6235AB3A67CC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模型的学习与使用</a:t>
            </a:r>
          </a:p>
        </p:txBody>
      </p:sp>
      <p:sp>
        <p:nvSpPr>
          <p:cNvPr id="3" name="语言模型怎样生成回答？">
            <a:extLst>
              <a:ext uri="{FF2B5EF4-FFF2-40B4-BE49-F238E27FC236}">
                <ns2:creationId id="{DD3B5851-0EC7-4F25-BC12-84EB998F99F6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语言模型怎样生成回答？</a:t>
            </a:r>
          </a:p>
        </p:txBody>
      </p:sp>
      <p:sp>
        <p:nvSpPr>
          <p:cNvPr id="4" name="">
            <a:extLst>
              <a:ext uri="{FF2B5EF4-FFF2-40B4-BE49-F238E27FC236}">
                <ns2:creationId id="{26C26CA1-6C2E-49C5-B0E0-DAE4B221F86F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37073176-8D80-4577-A1BB-71A46CA9D689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2">
            <a:extLst>
              <a:ext uri="{FF2B5EF4-FFF2-40B4-BE49-F238E27FC236}">
                <ns2:creationId id="{64D648D8-6A90-46D2-AC91-058A696C66A2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22</a:t>
            </a:r>
          </a:p>
        </p:txBody>
      </p:sp>
      <p:sp>
        <p:nvSpPr>
          <p:cNvPr id="7" name="训练阶段">
            <a:extLst>
              <a:ext uri="{FF2B5EF4-FFF2-40B4-BE49-F238E27FC236}">
                <ns2:creationId id="{C13AADE4-8133-4E61-855B-3AA75F31BDC2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训练阶段</a:t>
            </a:r>
          </a:p>
        </p:txBody>
      </p:sp>
      <p:sp>
        <p:nvSpPr>
          <p:cNvPr id="8" name="从大量内容中学习&#10;语言及其他规律。">
            <a:extLst>
              <a:ext uri="{FF2B5EF4-FFF2-40B4-BE49-F238E27FC236}">
                <ns2:creationId id="{7F43BB1D-9F2D-4A74-8E73-B3EC607CC39C}"/>
              </a:ext>
            </a:extLst>
          </p:cNvPr>
          <p:cNvSpPr>
            <a:spLocks noGrp="1"/>
          </p:cNvSpPr>
          <p:nvPr/>
        </p:nvSpPr>
        <p:spPr>
          <a:xfrm>
            <a:off x="609600" y="2771775"/>
            <a:ext cx="42862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从大量内容中学习</a:t>
            </a:r>
          </a:p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语言及其他规律。</a:t>
            </a:r>
          </a:p>
        </p:txBody>
      </p:sp>
      <p:sp>
        <p:nvSpPr>
          <p:cNvPr id="9" name="学到的规律会参与&#10;每一次回答的生成。">
            <a:extLst>
              <a:ext uri="{FF2B5EF4-FFF2-40B4-BE49-F238E27FC236}">
                <ns2:creationId id="{FC91D5F9-89FB-45AD-A730-3B9E46CBB5A7}"/>
              </a:ext>
            </a:extLst>
          </p:cNvPr>
          <p:cNvSpPr>
            <a:spLocks noGrp="1"/>
          </p:cNvSpPr>
          <p:nvPr/>
        </p:nvSpPr>
        <p:spPr>
          <a:xfrm>
            <a:off x="609600" y="4371975"/>
            <a:ext cx="4286250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学到的规律会参与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每一次回答的生成。</a:t>
            </a:r>
          </a:p>
        </p:txBody>
      </p:sp>
      <p:sp>
        <p:nvSpPr>
          <p:cNvPr id="10" name="">
            <a:extLst>
              <a:ext uri="{FF2B5EF4-FFF2-40B4-BE49-F238E27FC236}">
                <ns2:creationId id="{6B0B7823-E66A-41E1-A536-F9160A091498}"/>
              </a:ext>
            </a:extLst>
          </p:cNvPr>
          <p:cNvSpPr>
            <a:spLocks noGrp="1"/>
          </p:cNvSpPr>
          <p:nvPr/>
        </p:nvSpPr>
        <p:spPr>
          <a:xfrm>
            <a:off x="5410200" y="2314575"/>
            <a:ext cx="9525" cy="2990850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1" name="这一次交流">
            <a:extLst>
              <a:ext uri="{FF2B5EF4-FFF2-40B4-BE49-F238E27FC236}">
                <ns2:creationId id="{93A2FDBF-EA07-4C7C-A4E4-015F60B48335}"/>
              </a:ext>
            </a:extLst>
          </p:cNvPr>
          <p:cNvSpPr>
            <a:spLocks noGrp="1"/>
          </p:cNvSpPr>
          <p:nvPr/>
        </p:nvSpPr>
        <p:spPr>
          <a:xfrm>
            <a:off x="5981700" y="2276475"/>
            <a:ext cx="5600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这一次交流</a:t>
            </a:r>
          </a:p>
        </p:txBody>
      </p:sp>
      <p:sp>
        <p:nvSpPr>
          <p:cNvPr id="12" name="输入社团资料和要求：&#10;“向新同学介绍活动。”">
            <a:extLst>
              <a:ext uri="{FF2B5EF4-FFF2-40B4-BE49-F238E27FC236}">
                <ns2:creationId id="{EED40422-D481-4E6A-B0C3-E6CC0E77DEA7}"/>
              </a:ext>
            </a:extLst>
          </p:cNvPr>
          <p:cNvSpPr>
            <a:spLocks noGrp="1"/>
          </p:cNvSpPr>
          <p:nvPr/>
        </p:nvSpPr>
        <p:spPr>
          <a:xfrm>
            <a:off x="5981700" y="2781300"/>
            <a:ext cx="56007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输入社团资料和要求：</a:t>
            </a:r>
          </a:p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“向新同学介绍活动。”</a:t>
            </a:r>
          </a:p>
        </p:txBody>
      </p:sp>
      <p:sp>
        <p:nvSpPr>
          <p:cNvPr id="13" name="↓">
            <a:extLst>
              <a:ext uri="{FF2B5EF4-FFF2-40B4-BE49-F238E27FC236}">
                <ns2:creationId id="{815B9A34-3DC2-4AF2-8773-8EDB4890A056}"/>
              </a:ext>
            </a:extLst>
          </p:cNvPr>
          <p:cNvSpPr>
            <a:spLocks noGrp="1"/>
          </p:cNvSpPr>
          <p:nvPr/>
        </p:nvSpPr>
        <p:spPr>
          <a:xfrm>
            <a:off x="5981700" y="3933825"/>
            <a:ext cx="5600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结合当前上下文，逐步生成回答。">
            <a:extLst>
              <a:ext uri="{FF2B5EF4-FFF2-40B4-BE49-F238E27FC236}">
                <ns2:creationId id="{04EF7B9A-7185-4C16-AA18-E5917CECBDD3}"/>
              </a:ext>
            </a:extLst>
          </p:cNvPr>
          <p:cNvSpPr>
            <a:spLocks noGrp="1"/>
          </p:cNvSpPr>
          <p:nvPr/>
        </p:nvSpPr>
        <p:spPr>
          <a:xfrm>
            <a:off x="5981700" y="4581525"/>
            <a:ext cx="56007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结合当前上下文，逐步生成回答。</a:t>
            </a:r>
          </a:p>
        </p:txBody>
      </p:sp>
      <p:sp>
        <p:nvSpPr>
          <p:cNvPr id="15" name="">
            <a:extLst>
              <a:ext uri="{FF2B5EF4-FFF2-40B4-BE49-F238E27FC236}">
                <ns2:creationId id="{B3BDF1AF-4F28-4BA8-952D-CC4B07F84D3A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6" name="补充资料会影响本次回答，不等于重新训练模型。">
            <a:extLst>
              <a:ext uri="{FF2B5EF4-FFF2-40B4-BE49-F238E27FC236}">
                <ns2:creationId id="{C7EFDAA8-16F7-4FEF-BFBA-079C772566C8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补充资料会影响本次回答，不等于重新训练模型。</a:t>
            </a:r>
          </a:p>
        </p:txBody>
      </p:sp>
    </p:spTree>
    <p:extLst>
      <p:ext uri="{BB962C8B-B14F-4D97-AF65-F5344CB8AC3E}">
        <p14:creationId val="1468237316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4" name="">
            <a:extLst>
              <a:ext uri="{FF2B5EF4-FFF2-40B4-BE49-F238E27FC236}">
                <ns2:creationId id="{4C491CB5-2D60-426D-9391-93059EDC780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模型与程序的分工">
            <a:extLst>
              <a:ext uri="{FF2B5EF4-FFF2-40B4-BE49-F238E27FC236}">
                <ns2:creationId id="{171C2574-05EF-4B83-BA2C-38D7DBB63858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模型与程序的分工</a:t>
            </a:r>
          </a:p>
        </p:txBody>
      </p:sp>
      <p:sp>
        <p:nvSpPr>
          <p:cNvPr id="3" name="模型、程序和设备各做什么？">
            <a:extLst>
              <a:ext uri="{FF2B5EF4-FFF2-40B4-BE49-F238E27FC236}">
                <ns2:creationId id="{2C1300AB-516D-4E9B-B14B-79C02A368D00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模型、程序和设备各做什么？</a:t>
            </a:r>
          </a:p>
        </p:txBody>
      </p:sp>
      <p:sp>
        <p:nvSpPr>
          <p:cNvPr id="4" name="">
            <a:extLst>
              <a:ext uri="{FF2B5EF4-FFF2-40B4-BE49-F238E27FC236}">
                <ns2:creationId id="{8CB8E84C-A153-4C8B-A1A2-74E0B8EDF51D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774AD672-CEE8-4822-A842-715C51EFB268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3">
            <a:extLst>
              <a:ext uri="{FF2B5EF4-FFF2-40B4-BE49-F238E27FC236}">
                <ns2:creationId id="{09BF3D52-EF4F-4C6C-818C-173D86D3D5A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23</a:t>
            </a:r>
          </a:p>
        </p:txBody>
      </p:sp>
      <p:sp>
        <p:nvSpPr>
          <p:cNvPr id="7" name="用物品识别提示器，看看各部分怎样配合。">
            <a:extLst>
              <a:ext uri="{FF2B5EF4-FFF2-40B4-BE49-F238E27FC236}">
                <ns2:creationId id="{687D9BD5-C000-44A2-94DE-C8AC1410BF23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用物品识别提示器，看看各部分怎样配合。</a:t>
            </a:r>
          </a:p>
        </p:txBody>
      </p:sp>
      <p:sp>
        <p:nvSpPr>
          <p:cNvPr id="8" name="设备提供输入">
            <a:extLst>
              <a:ext uri="{FF2B5EF4-FFF2-40B4-BE49-F238E27FC236}">
                <ns2:creationId id="{908943FA-6923-457E-AB11-1D28E8688E80}"/>
              </a:ext>
            </a:extLst>
          </p:cNvPr>
          <p:cNvSpPr>
            <a:spLocks noGrp="1"/>
          </p:cNvSpPr>
          <p:nvPr/>
        </p:nvSpPr>
        <p:spPr>
          <a:xfrm>
            <a:off x="609600" y="2543175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设备提供输入</a:t>
            </a:r>
          </a:p>
        </p:txBody>
      </p:sp>
      <p:sp>
        <p:nvSpPr>
          <p:cNvPr id="9" name="">
            <a:extLst>
              <a:ext uri="{FF2B5EF4-FFF2-40B4-BE49-F238E27FC236}">
                <ns2:creationId id="{4B233CE6-102F-4556-8009-985A05E51AD5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3048000" cy="1057275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10" name="摄像头">
            <a:extLst>
              <a:ext uri="{FF2B5EF4-FFF2-40B4-BE49-F238E27FC236}">
                <ns2:creationId id="{6C355A15-F9E2-46E4-AEC1-94CF1065245D}"/>
              </a:ext>
            </a:extLst>
          </p:cNvPr>
          <p:cNvSpPr>
            <a:spLocks noGrp="1"/>
          </p:cNvSpPr>
          <p:nvPr/>
        </p:nvSpPr>
        <p:spPr>
          <a:xfrm>
            <a:off x="781050" y="3333750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摄像头</a:t>
            </a:r>
          </a:p>
        </p:txBody>
      </p:sp>
      <p:sp>
        <p:nvSpPr>
          <p:cNvPr id="11" name="拍摄物品图片">
            <a:extLst>
              <a:ext uri="{FF2B5EF4-FFF2-40B4-BE49-F238E27FC236}">
                <ns2:creationId id="{AF32F09B-575B-4C72-8144-D8627EDE3118}"/>
              </a:ext>
            </a:extLst>
          </p:cNvPr>
          <p:cNvSpPr>
            <a:spLocks noGrp="1"/>
          </p:cNvSpPr>
          <p:nvPr/>
        </p:nvSpPr>
        <p:spPr>
          <a:xfrm>
            <a:off x="609600" y="4391025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拍摄物品图片</a:t>
            </a:r>
          </a:p>
        </p:txBody>
      </p:sp>
      <p:sp>
        <p:nvSpPr>
          <p:cNvPr id="12" name="">
            <a:extLst>
              <a:ext uri="{FF2B5EF4-FFF2-40B4-BE49-F238E27FC236}">
                <ns2:creationId id="{2EB2390C-76A6-469E-9EFC-D0933836B4F1}"/>
              </a:ext>
            </a:extLst>
          </p:cNvPr>
          <p:cNvSpPr>
            <a:spLocks noGrp="1"/>
          </p:cNvSpPr>
          <p:nvPr/>
        </p:nvSpPr>
        <p:spPr>
          <a:xfrm>
            <a:off x="3905250" y="3486150"/>
            <a:ext cx="419100" cy="228600"/>
          </a:xfrm>
          <a:prstGeom prst="rightArrow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3" name="模型处理图片">
            <a:extLst>
              <a:ext uri="{FF2B5EF4-FFF2-40B4-BE49-F238E27FC236}">
                <ns2:creationId id="{3DBE6EE2-DDAA-48FA-BFB3-EF7035BA1EE3}"/>
              </a:ext>
            </a:extLst>
          </p:cNvPr>
          <p:cNvSpPr>
            <a:spLocks noGrp="1"/>
          </p:cNvSpPr>
          <p:nvPr/>
        </p:nvSpPr>
        <p:spPr>
          <a:xfrm>
            <a:off x="4572000" y="2543175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模型处理图片</a:t>
            </a:r>
          </a:p>
        </p:txBody>
      </p:sp>
      <p:sp>
        <p:nvSpPr>
          <p:cNvPr id="14" name="">
            <a:extLst>
              <a:ext uri="{FF2B5EF4-FFF2-40B4-BE49-F238E27FC236}">
                <ns2:creationId id="{3AAF4173-D048-405D-8BD7-B605629E5ED0}"/>
              </a:ext>
            </a:extLst>
          </p:cNvPr>
          <p:cNvSpPr>
            <a:spLocks noGrp="1"/>
          </p:cNvSpPr>
          <p:nvPr/>
        </p:nvSpPr>
        <p:spPr>
          <a:xfrm>
            <a:off x="4572000" y="3086100"/>
            <a:ext cx="3048000" cy="1057275"/>
          </a:xfrm>
          <a:prstGeom prst="rect">
            <a:avLst/>
          </a:prstGeom>
          <a:solidFill>
            <a:srgbClr val="FFF6E2"/>
          </a:solidFill>
          <a:ln w="0">
            <a:noFill/>
          </a:ln>
        </p:spPr>
      </p:sp>
      <p:sp>
        <p:nvSpPr>
          <p:cNvPr id="15" name="分类模型">
            <a:extLst>
              <a:ext uri="{FF2B5EF4-FFF2-40B4-BE49-F238E27FC236}">
                <ns2:creationId id="{F3DA09DD-0C36-4B3D-828E-5E620D026F3C}"/>
              </a:ext>
            </a:extLst>
          </p:cNvPr>
          <p:cNvSpPr>
            <a:spLocks noGrp="1"/>
          </p:cNvSpPr>
          <p:nvPr/>
        </p:nvSpPr>
        <p:spPr>
          <a:xfrm>
            <a:off x="4743450" y="3333750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分类模型</a:t>
            </a:r>
          </a:p>
        </p:txBody>
      </p:sp>
      <p:sp>
        <p:nvSpPr>
          <p:cNvPr id="16" name="预测物品类别">
            <a:extLst>
              <a:ext uri="{FF2B5EF4-FFF2-40B4-BE49-F238E27FC236}">
                <ns2:creationId id="{1B935D55-D572-4D46-B9E6-BF7FC008E444}"/>
              </a:ext>
            </a:extLst>
          </p:cNvPr>
          <p:cNvSpPr>
            <a:spLocks noGrp="1"/>
          </p:cNvSpPr>
          <p:nvPr/>
        </p:nvSpPr>
        <p:spPr>
          <a:xfrm>
            <a:off x="4572000" y="4391025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预测物品类别</a:t>
            </a:r>
          </a:p>
        </p:txBody>
      </p:sp>
      <p:sp>
        <p:nvSpPr>
          <p:cNvPr id="17" name="">
            <a:extLst>
              <a:ext uri="{FF2B5EF4-FFF2-40B4-BE49-F238E27FC236}">
                <ns2:creationId id="{06E9E0DA-8D22-4BC6-B219-82CD38F696DE}"/>
              </a:ext>
            </a:extLst>
          </p:cNvPr>
          <p:cNvSpPr>
            <a:spLocks noGrp="1"/>
          </p:cNvSpPr>
          <p:nvPr/>
        </p:nvSpPr>
        <p:spPr>
          <a:xfrm>
            <a:off x="7867650" y="3486150"/>
            <a:ext cx="419100" cy="228600"/>
          </a:xfrm>
          <a:prstGeom prst="rightArrow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8" name="程序控制显示">
            <a:extLst>
              <a:ext uri="{FF2B5EF4-FFF2-40B4-BE49-F238E27FC236}">
                <ns2:creationId id="{079824F9-814C-4EA2-9DAA-C6E3977B7D15}"/>
              </a:ext>
            </a:extLst>
          </p:cNvPr>
          <p:cNvSpPr>
            <a:spLocks noGrp="1"/>
          </p:cNvSpPr>
          <p:nvPr/>
        </p:nvSpPr>
        <p:spPr>
          <a:xfrm>
            <a:off x="8534400" y="2543175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程序控制显示</a:t>
            </a:r>
          </a:p>
        </p:txBody>
      </p:sp>
      <p:sp>
        <p:nvSpPr>
          <p:cNvPr id="19" name="">
            <a:extLst>
              <a:ext uri="{FF2B5EF4-FFF2-40B4-BE49-F238E27FC236}">
                <ns2:creationId id="{0009A985-8AE5-40AC-8252-A8554638ED8D}"/>
              </a:ext>
            </a:extLst>
          </p:cNvPr>
          <p:cNvSpPr>
            <a:spLocks noGrp="1"/>
          </p:cNvSpPr>
          <p:nvPr/>
        </p:nvSpPr>
        <p:spPr>
          <a:xfrm>
            <a:off x="8534400" y="3086100"/>
            <a:ext cx="3048000" cy="1057275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20" name="micro:bit灯阵">
            <a:extLst>
              <a:ext uri="{FF2B5EF4-FFF2-40B4-BE49-F238E27FC236}">
                <ns2:creationId id="{70D7281D-E853-4C59-85F0-351560A7E932}"/>
              </a:ext>
            </a:extLst>
          </p:cNvPr>
          <p:cNvSpPr>
            <a:spLocks noGrp="1"/>
          </p:cNvSpPr>
          <p:nvPr/>
        </p:nvSpPr>
        <p:spPr>
          <a:xfrm>
            <a:off x="8705850" y="3333750"/>
            <a:ext cx="2705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micro:bit灯阵</a:t>
            </a:r>
          </a:p>
        </p:txBody>
      </p:sp>
      <p:sp>
        <p:nvSpPr>
          <p:cNvPr id="21" name="显示对应的图案">
            <a:extLst>
              <a:ext uri="{FF2B5EF4-FFF2-40B4-BE49-F238E27FC236}">
                <ns2:creationId id="{0972F5FE-E217-442B-8098-01C54CEF4BC7}"/>
              </a:ext>
            </a:extLst>
          </p:cNvPr>
          <p:cNvSpPr>
            <a:spLocks noGrp="1"/>
          </p:cNvSpPr>
          <p:nvPr/>
        </p:nvSpPr>
        <p:spPr>
          <a:xfrm>
            <a:off x="8534400" y="4391025"/>
            <a:ext cx="3048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2000"/>
              </a:lnSpc>
              <a:buNone/>
              <a:def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显示对应的图案</a:t>
            </a:r>
          </a:p>
        </p:txBody>
      </p:sp>
      <p:sp>
        <p:nvSpPr>
          <p:cNvPr id="22" name="">
            <a:extLst>
              <a:ext uri="{FF2B5EF4-FFF2-40B4-BE49-F238E27FC236}">
                <ns2:creationId id="{55AF09E2-4E20-4936-9E46-C4B2F2A3FBCA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3" name="讲解助手也有分工：程序找资料，模型组织回答。">
            <a:extLst>
              <a:ext uri="{FF2B5EF4-FFF2-40B4-BE49-F238E27FC236}">
                <ns2:creationId id="{1410FA41-6D27-4758-8211-92A8D394E274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讲解助手也有分工：程序找资料，模型组织回答。</a:t>
            </a:r>
          </a:p>
        </p:txBody>
      </p:sp>
    </p:spTree>
    <p:extLst>
      <p:ext uri="{BB962C8B-B14F-4D97-AF65-F5344CB8AC3E}">
        <p14:creationId val="157820835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05">
            <a:extLst>
              <a:ext uri="{FF2B5EF4-FFF2-40B4-BE49-F238E27FC236}">
                <ns2:creationId id="{E8732881-4E77-4B44-8002-67926FA5E593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4476750" cy="2057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27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  <p:sp>
        <p:nvSpPr>
          <p:cNvPr id="2" name="分钟">
            <a:extLst>
              <a:ext uri="{FF2B5EF4-FFF2-40B4-BE49-F238E27FC236}">
                <ns2:creationId id="{94F2F0F1-EDA1-4196-A7C0-575641CB87BE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3810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7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分钟</a:t>
            </a:r>
          </a:p>
        </p:txBody>
      </p:sp>
      <p:sp>
        <p:nvSpPr>
          <p:cNvPr id="3" name="休息一下">
            <a:extLst>
              <a:ext uri="{FF2B5EF4-FFF2-40B4-BE49-F238E27FC236}">
                <ns2:creationId id="{1A30020B-AD59-4C3E-95C2-89ADA69AF1CD}"/>
              </a:ext>
            </a:extLst>
          </p:cNvPr>
          <p:cNvSpPr>
            <a:spLocks noGrp="1"/>
          </p:cNvSpPr>
          <p:nvPr/>
        </p:nvSpPr>
        <p:spPr>
          <a:xfrm>
            <a:off x="5867400" y="2009775"/>
            <a:ext cx="57150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4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休息一下</a:t>
            </a:r>
          </a:p>
        </p:txBody>
      </p:sp>
      <p:sp>
        <p:nvSpPr>
          <p:cNvPr id="4" name="稍后测试：&#10;同一支笔只换背景，&#10;分类器的预测会不会改变？">
            <a:extLst>
              <a:ext uri="{FF2B5EF4-FFF2-40B4-BE49-F238E27FC236}">
                <ns2:creationId id="{7D227419-750F-4103-9C10-C42115E5F28C}"/>
              </a:ext>
            </a:extLst>
          </p:cNvPr>
          <p:cNvSpPr>
            <a:spLocks noGrp="1"/>
          </p:cNvSpPr>
          <p:nvPr/>
        </p:nvSpPr>
        <p:spPr>
          <a:xfrm>
            <a:off x="5867400" y="3495675"/>
            <a:ext cx="5715000" cy="1819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稍后测试：</a:t>
            </a:r>
          </a:p>
          <a:p>
            <a:pPr algn="l">
              <a:lnSpc>
                <a:spcPct val="122000"/>
              </a:lnSpc>
              <a:buNone/>
              <a:def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同一支笔只换背景，</a:t>
            </a:r>
          </a:p>
          <a:p>
            <a:pPr algn="l">
              <a:lnSpc>
                <a:spcPct val="122000"/>
              </a:lnSpc>
              <a:buNone/>
              <a:def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分类器的预测会不会改变？</a:t>
            </a:r>
          </a:p>
        </p:txBody>
      </p:sp>
      <p:sp>
        <p:nvSpPr>
          <p:cNvPr id="5" name="">
            <a:extLst>
              <a:ext uri="{FF2B5EF4-FFF2-40B4-BE49-F238E27FC236}">
                <ns2:creationId id="{F61632CB-EFE8-4228-A948-25AE4C4685C5}"/>
              </a:ext>
            </a:extLst>
          </p:cNvPr>
          <p:cNvSpPr>
            <a:spLocks noGrp="1"/>
          </p:cNvSpPr>
          <p:nvPr/>
        </p:nvSpPr>
        <p:spPr>
          <a:xfrm>
            <a:off x="609600" y="61626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6" name="先保留你的猜想。">
            <a:extLst>
              <a:ext uri="{FF2B5EF4-FFF2-40B4-BE49-F238E27FC236}">
                <ns2:creationId id="{1425153E-56DC-4514-8E00-559EDE9CADB1}"/>
              </a:ext>
            </a:extLst>
          </p:cNvPr>
          <p:cNvSpPr>
            <a:spLocks noGrp="1"/>
          </p:cNvSpPr>
          <p:nvPr/>
        </p:nvSpPr>
        <p:spPr>
          <a:xfrm>
            <a:off x="609600" y="63817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先保留你的猜想。</a:t>
            </a:r>
          </a:p>
        </p:txBody>
      </p:sp>
    </p:spTree>
    <p:extLst>
      <p:ext uri="{BB962C8B-B14F-4D97-AF65-F5344CB8AC3E}">
        <p14:creationId val="778387424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8" name="">
            <a:extLst>
              <a:ext uri="{FF2B5EF4-FFF2-40B4-BE49-F238E27FC236}">
                <ns2:creationId id="{B6BA99DF-97A5-4B16-B84F-CB884BD9142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分类器测试">
            <a:extLst>
              <a:ext uri="{FF2B5EF4-FFF2-40B4-BE49-F238E27FC236}">
                <ns2:creationId id="{CE881E9D-E4CA-490D-B2E4-64525E1A044F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分类器测试</a:t>
            </a:r>
          </a:p>
        </p:txBody>
      </p:sp>
      <p:sp>
        <p:nvSpPr>
          <p:cNvPr id="3" name="换个背景，结果会变吗？">
            <a:extLst>
              <a:ext uri="{FF2B5EF4-FFF2-40B4-BE49-F238E27FC236}">
                <ns2:creationId id="{EBB4F05E-6093-4FC2-BF82-4316CD8FBA54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换个背景，结果会变吗？</a:t>
            </a:r>
          </a:p>
        </p:txBody>
      </p:sp>
      <p:sp>
        <p:nvSpPr>
          <p:cNvPr id="4" name="">
            <a:extLst>
              <a:ext uri="{FF2B5EF4-FFF2-40B4-BE49-F238E27FC236}">
                <ns2:creationId id="{1BB679E0-1F03-440E-B4C6-13D353939E42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95C38BA0-4F39-4EC8-B128-7C8F33887C4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5">
            <a:extLst>
              <a:ext uri="{FF2B5EF4-FFF2-40B4-BE49-F238E27FC236}">
                <ns2:creationId id="{0AEC7EDD-81DF-4929-AC79-F4FD034E9309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25</a:t>
            </a:r>
          </a:p>
        </p:txBody>
      </p:sp>
      <p:sp>
        <p:nvSpPr>
          <p:cNvPr id="7" name="同一支笔，保持角度、距离和光照相同，只换背景。">
            <a:extLst>
              <a:ext uri="{FF2B5EF4-FFF2-40B4-BE49-F238E27FC236}">
                <ns2:creationId id="{FB5603C9-4B1C-4889-9548-ADF458BBAAFC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同一支笔，保持角度、距离和光照相同，只换背景。</a:t>
            </a:r>
          </a:p>
        </p:txBody>
      </p:sp>
      <p:sp>
        <p:nvSpPr>
          <p:cNvPr id="8" name="">
            <a:extLst>
              <a:ext uri="{FF2B5EF4-FFF2-40B4-BE49-F238E27FC236}">
                <ns2:creationId id="{441C8739-A7AE-42AD-B3DF-C4FCC20754A9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5067300" cy="1724025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2:creationId id="{D85C7978-0124-489C-A38D-AA0824CA56CF}"/>
              </a:ext>
            </a:extLst>
          </p:cNvPr>
          <p:cNvSpPr>
            <a:spLocks noGrp="1"/>
          </p:cNvSpPr>
          <p:nvPr/>
        </p:nvSpPr>
        <p:spPr>
          <a:xfrm>
            <a:off x="6515100" y="2524125"/>
            <a:ext cx="5067300" cy="1724025"/>
          </a:xfrm>
          <a:prstGeom prst="rect">
            <a:avLst/>
          </a:prstGeom>
          <a:solidFill>
            <a:srgbClr val="172F42"/>
          </a:solidFill>
          <a:ln w="0">
            <a:noFill/>
          </a:ln>
        </p:spPr>
      </p:sp>
      <p:pic>
        <p:nvPicPr>
          <p:cNvPr id="27" name=""/>
          <p:cNvPicPr>
            <a:picLocks noChangeAspect="1"/>
          </p:cNvPicPr>
          <p:nvPr/>
        </p:nvPicPr>
        <p:blipFill>
          <a:blip r:embed="R93b17254c832487f"/>
          <a:stretch/>
        </p:blipFill>
        <p:spPr>
          <a:xfrm>
            <a:off x="985838" y="2657475"/>
            <a:ext cx="4314825" cy="1438275"/>
          </a:xfrm>
          <a:prstGeom prst="rect">
            <a:avLst/>
          </a:prstGeom>
        </p:spPr>
      </p:pic>
      <p:pic>
        <p:nvPicPr>
          <p:cNvPr id="28" name=""/>
          <p:cNvPicPr>
            <a:picLocks noChangeAspect="1"/>
          </p:cNvPicPr>
          <p:nvPr/>
        </p:nvPicPr>
        <p:blipFill>
          <a:blip r:embed="R38fcff46ef6b4814"/>
          <a:stretch/>
        </p:blipFill>
        <p:spPr>
          <a:xfrm>
            <a:off x="6891338" y="2657475"/>
            <a:ext cx="4314825" cy="1438275"/>
          </a:xfrm>
          <a:prstGeom prst="rect">
            <a:avLst/>
          </a:prstGeom>
        </p:spPr>
      </p:pic>
      <p:sp>
        <p:nvSpPr>
          <p:cNvPr id="12" name="浅色背景">
            <a:extLst>
              <a:ext uri="{FF2B5EF4-FFF2-40B4-BE49-F238E27FC236}">
                <ns2:creationId id="{ABD0A5F3-5754-4D25-915E-03C93D75C895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浅色背景</a:t>
            </a:r>
          </a:p>
        </p:txBody>
      </p:sp>
      <p:sp>
        <p:nvSpPr>
          <p:cNvPr id="13" name="深色背景">
            <a:extLst>
              <a:ext uri="{FF2B5EF4-FFF2-40B4-BE49-F238E27FC236}">
                <ns2:creationId id="{F3AA15AC-B97D-415C-A2AF-78D9CD85366E}"/>
              </a:ext>
            </a:extLst>
          </p:cNvPr>
          <p:cNvSpPr>
            <a:spLocks noGrp="1"/>
          </p:cNvSpPr>
          <p:nvPr/>
        </p:nvSpPr>
        <p:spPr>
          <a:xfrm>
            <a:off x="6515100" y="4400550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深色背景</a:t>
            </a:r>
          </a:p>
        </p:txBody>
      </p:sp>
      <p:sp>
        <p:nvSpPr>
          <p:cNvPr id="14" name="先说预测 → 改变背景 → 查看结果并记录">
            <a:extLst>
              <a:ext uri="{FF2B5EF4-FFF2-40B4-BE49-F238E27FC236}">
                <ns2:creationId id="{DF413D8C-1B39-4019-BB87-E24FADE1768E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先说预测 → 改变背景 → 查看结果并记录</a:t>
            </a:r>
          </a:p>
        </p:txBody>
      </p:sp>
      <p:sp>
        <p:nvSpPr>
          <p:cNvPr id="15" name="">
            <a:extLst>
              <a:ext uri="{FF2B5EF4-FFF2-40B4-BE49-F238E27FC236}">
                <ns2:creationId id="{12BDDA0C-20D5-442D-A823-FA605CC2AD55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6" name="每个人都操作一次。镜头只拍物品和背景。">
            <a:extLst>
              <a:ext uri="{FF2B5EF4-FFF2-40B4-BE49-F238E27FC236}">
                <ns2:creationId id="{0D32D0CD-1F12-4EB6-82FD-A9C9730CA4E6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每个人都操作一次。镜头只拍物品和背景。</a:t>
            </a:r>
          </a:p>
        </p:txBody>
      </p:sp>
      <p:sp>
        <p:nvSpPr>
          <p:cNvPr id="17" name="物品示意图">
            <a:extLst>
              <a:ext uri="{FF2B5EF4-FFF2-40B4-BE49-F238E27FC236}">
                <ns2:creationId id="{EB9137E5-BDFF-4A0F-8C5F-BCEB0703E780}"/>
              </a:ext>
            </a:extLst>
          </p:cNvPr>
          <p:cNvSpPr>
            <a:spLocks noGrp="1"/>
          </p:cNvSpPr>
          <p:nvPr/>
        </p:nvSpPr>
        <p:spPr>
          <a:xfrm>
            <a:off x="10010775" y="6172200"/>
            <a:ext cx="157162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物品示意图</a:t>
            </a:r>
          </a:p>
        </p:txBody>
      </p:sp>
    </p:spTree>
    <p:extLst>
      <p:ext uri="{BB962C8B-B14F-4D97-AF65-F5344CB8AC3E}">
        <p14:creationId val="1842628244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">
            <a:extLst>
              <a:ext uri="{FF2B5EF4-FFF2-40B4-BE49-F238E27FC236}">
                <ns2:creationId id="{4F2F158D-6502-46BE-9E3B-810C3DA42E8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分类器测试">
            <a:extLst>
              <a:ext uri="{FF2B5EF4-FFF2-40B4-BE49-F238E27FC236}">
                <ns2:creationId id="{DD599F43-37D8-4A1C-B30E-88E89E6DC0F0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分类器测试</a:t>
            </a:r>
          </a:p>
        </p:txBody>
      </p:sp>
      <p:sp>
        <p:nvSpPr>
          <p:cNvPr id="3" name="记录两次实际测试">
            <a:extLst>
              <a:ext uri="{FF2B5EF4-FFF2-40B4-BE49-F238E27FC236}">
                <ns2:creationId id="{03B954CD-402A-41BF-A61E-1AAEE21A9ED8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记录两次实际测试</a:t>
            </a:r>
          </a:p>
        </p:txBody>
      </p:sp>
      <p:sp>
        <p:nvSpPr>
          <p:cNvPr id="4" name="">
            <a:extLst>
              <a:ext uri="{FF2B5EF4-FFF2-40B4-BE49-F238E27FC236}">
                <ns2:creationId id="{F4AC7AC5-4C87-4F4C-9B7F-F3F6E5DE725A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5CDB9BFD-7941-421B-85B9-2C9434482A43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6">
            <a:extLst>
              <a:ext uri="{FF2B5EF4-FFF2-40B4-BE49-F238E27FC236}">
                <ns2:creationId id="{6CB03AB7-3356-429F-9B12-01B5971D46B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26</a:t>
            </a:r>
          </a:p>
        </p:txBody>
      </p:sp>
      <p:sp>
        <p:nvSpPr>
          <p:cNvPr id="7" name="无论预测是否正确，都写下实际结果。">
            <a:extLst>
              <a:ext uri="{FF2B5EF4-FFF2-40B4-BE49-F238E27FC236}">
                <ns2:creationId id="{B713E07E-858C-4EEF-97F7-BB09E6CCF225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无论预测是否正确，都写下实际结果。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="609600" y="2543175"/>
          <a:ext cx="10972800" cy="2743200"/>
        </p:xfrm>
        <a:graphic>
          <a:graphicData uri="http://schemas.openxmlformats.org/drawingml/2006/table">
            <a:tbl>
              <a:tblPr firstRow="1" bandRow="0"/>
              <a:tblGrid>
                <a:gridCol w="2743200"/>
                <a:gridCol w="2743200"/>
                <a:gridCol w="2743200"/>
                <a:gridCol w="2743200"/>
              </a:tblGrid>
              <a:tr h="609600"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122F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改变的条件</a:t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122F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原先预测</a:t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122F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实际结果</a:t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122F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发现或疑问</a:t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EFF5F9"/>
                    </a:solidFill>
                  </a:tcPr>
                </a:tc>
              </a:tr>
              <a:tr h="1066800"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5B6B7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第1次</a:t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5B6B7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/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5B6B7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/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5B6B7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/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66800"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5B6B7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第2次</a:t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5B6B7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/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5B6B7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/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71450" tIns="161925" rIns="171450" bIns="9525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5B6B7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/>
                      </a:r>
                    </a:p>
                  </a:txBody>
                  <a:tcPr marL="171450" marR="171450" marT="133350" marB="95250">
                    <a:lnL w="9525">
                      <a:solidFill>
                        <a:srgbClr val="CBD7E0"/>
                      </a:solidFill>
                      <a:prstDash val="solid"/>
                    </a:lnL>
                    <a:lnR w="9525">
                      <a:solidFill>
                        <a:srgbClr val="CBD7E0"/>
                      </a:solidFill>
                      <a:prstDash val="solid"/>
                    </a:lnR>
                    <a:lnT w="9525">
                      <a:solidFill>
                        <a:srgbClr val="CBD7E0"/>
                      </a:solidFill>
                      <a:prstDash val="solid"/>
                    </a:lnT>
                    <a:lnB w="9525">
                      <a:solidFill>
                        <a:srgbClr val="CBD7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>
              <a:ext uri="{FF2B5EF4-FFF2-40B4-BE49-F238E27FC236}">
                <ns2:creationId id="{04B02FB4-B275-4C89-B2CC-A4954E1F85AA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0" name="写“浅色背景换成深色”，比“换了背景”更具体。">
            <a:extLst>
              <a:ext uri="{FF2B5EF4-FFF2-40B4-BE49-F238E27FC236}">
                <ns2:creationId id="{066C894C-B78E-4A28-AA3C-E98957716E9D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写“浅色背景换成深色”，比“换了背景”更具体。</a:t>
            </a:r>
          </a:p>
        </p:txBody>
      </p:sp>
    </p:spTree>
    <p:extLst>
      <p:ext uri="{BB962C8B-B14F-4D97-AF65-F5344CB8AC3E}">
        <p14:creationId val="712344019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7" name="">
            <a:extLst>
              <a:ext uri="{FF2B5EF4-FFF2-40B4-BE49-F238E27FC236}">
                <ns2:creationId id="{A8C693A7-B2DF-4403-9A76-BB3DA4494FB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解释测试结果">
            <a:extLst>
              <a:ext uri="{FF2B5EF4-FFF2-40B4-BE49-F238E27FC236}">
                <ns2:creationId id="{7CB8A89C-CC18-4543-BB5E-3D00A6A534B1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解释测试结果</a:t>
            </a:r>
          </a:p>
        </p:txBody>
      </p:sp>
      <p:sp>
        <p:nvSpPr>
          <p:cNvPr id="3" name="观察结果与可能的解释">
            <a:extLst>
              <a:ext uri="{FF2B5EF4-FFF2-40B4-BE49-F238E27FC236}">
                <ns2:creationId id="{85836FCA-1433-4790-9A8E-3E0ADD617C18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观察结果与可能的解释</a:t>
            </a:r>
          </a:p>
        </p:txBody>
      </p:sp>
      <p:sp>
        <p:nvSpPr>
          <p:cNvPr id="4" name="">
            <a:extLst>
              <a:ext uri="{FF2B5EF4-FFF2-40B4-BE49-F238E27FC236}">
                <ns2:creationId id="{75AA85FF-C84A-458D-9833-AD4C6ED9D633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23D30DA3-9330-43C5-8DDF-B9D978ABB837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7">
            <a:extLst>
              <a:ext uri="{FF2B5EF4-FFF2-40B4-BE49-F238E27FC236}">
                <ns2:creationId id="{E9DAC4CE-0E68-4A37-8F0E-E4FAA073369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27</a:t>
            </a:r>
          </a:p>
        </p:txBody>
      </p:sp>
      <p:sp>
        <p:nvSpPr>
          <p:cNvPr id="7" name="实际观察">
            <a:extLst>
              <a:ext uri="{FF2B5EF4-FFF2-40B4-BE49-F238E27FC236}">
                <ns2:creationId id="{FE011939-8312-4F1A-B267-CB3A23F1DCCA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2333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实际观察</a:t>
            </a:r>
          </a:p>
        </p:txBody>
      </p:sp>
      <p:sp>
        <p:nvSpPr>
          <p:cNvPr id="8" name="同一件物品换背景后，预测改变了或保持不变。">
            <a:extLst>
              <a:ext uri="{FF2B5EF4-FFF2-40B4-BE49-F238E27FC236}">
                <ns2:creationId id="{06291587-B70D-4C74-9F95-7176E4FB504D}"/>
              </a:ext>
            </a:extLst>
          </p:cNvPr>
          <p:cNvSpPr>
            <a:spLocks noGrp="1"/>
          </p:cNvSpPr>
          <p:nvPr/>
        </p:nvSpPr>
        <p:spPr>
          <a:xfrm>
            <a:off x="3371850" y="2305050"/>
            <a:ext cx="821055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同一件物品换背景后，预测改变了或保持不变。</a:t>
            </a:r>
          </a:p>
        </p:txBody>
      </p:sp>
      <p:sp>
        <p:nvSpPr>
          <p:cNvPr id="9" name="">
            <a:extLst>
              <a:ext uri="{FF2B5EF4-FFF2-40B4-BE49-F238E27FC236}">
                <ns2:creationId id="{789ABA21-7922-4178-B972-D223E351534D}"/>
              </a:ext>
            </a:extLst>
          </p:cNvPr>
          <p:cNvSpPr>
            <a:spLocks noGrp="1"/>
          </p:cNvSpPr>
          <p:nvPr/>
        </p:nvSpPr>
        <p:spPr>
          <a:xfrm>
            <a:off x="609600" y="31527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0" name="可能的解释">
            <a:extLst>
              <a:ext uri="{FF2B5EF4-FFF2-40B4-BE49-F238E27FC236}">
                <ns2:creationId id="{CF6956DA-8BE4-4A30-A0AC-ECB6B9FDE1FD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2333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可能的解释</a:t>
            </a:r>
          </a:p>
        </p:txBody>
      </p:sp>
      <p:sp>
        <p:nvSpPr>
          <p:cNvPr id="11" name="模型可能用了背景线索，也可能是其他条件变了。">
            <a:extLst>
              <a:ext uri="{FF2B5EF4-FFF2-40B4-BE49-F238E27FC236}">
                <ns2:creationId id="{286B010D-9725-4376-916C-82820E55D4C7}"/>
              </a:ext>
            </a:extLst>
          </p:cNvPr>
          <p:cNvSpPr>
            <a:spLocks noGrp="1"/>
          </p:cNvSpPr>
          <p:nvPr/>
        </p:nvSpPr>
        <p:spPr>
          <a:xfrm>
            <a:off x="3371850" y="3381375"/>
            <a:ext cx="821055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模型可能用了背景线索，也可能是其他条件变了。</a:t>
            </a:r>
          </a:p>
        </p:txBody>
      </p:sp>
      <p:sp>
        <p:nvSpPr>
          <p:cNvPr id="12" name="">
            <a:extLst>
              <a:ext uri="{FF2B5EF4-FFF2-40B4-BE49-F238E27FC236}">
                <ns2:creationId id="{2A16F042-3C1E-4B02-A5A9-A8725F1A1474}"/>
              </a:ext>
            </a:extLst>
          </p:cNvPr>
          <p:cNvSpPr>
            <a:spLocks noGrp="1"/>
          </p:cNvSpPr>
          <p:nvPr/>
        </p:nvSpPr>
        <p:spPr>
          <a:xfrm>
            <a:off x="609600" y="4229100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3" name="下一次测试">
            <a:extLst>
              <a:ext uri="{FF2B5EF4-FFF2-40B4-BE49-F238E27FC236}">
                <ns2:creationId id="{7BAFE192-F57F-4B94-9A76-781CB2410EB8}"/>
              </a:ext>
            </a:extLst>
          </p:cNvPr>
          <p:cNvSpPr>
            <a:spLocks noGrp="1"/>
          </p:cNvSpPr>
          <p:nvPr/>
        </p:nvSpPr>
        <p:spPr>
          <a:xfrm>
            <a:off x="609600" y="4486275"/>
            <a:ext cx="2333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下一次测试</a:t>
            </a:r>
          </a:p>
        </p:txBody>
      </p:sp>
      <p:sp>
        <p:nvSpPr>
          <p:cNvPr id="14" name="固定角度、距离和光照，再单独改变背景。">
            <a:extLst>
              <a:ext uri="{FF2B5EF4-FFF2-40B4-BE49-F238E27FC236}">
                <ns2:creationId id="{2C21DEB5-BBAB-4E53-A6B1-AB0FF3FE35F3}"/>
              </a:ext>
            </a:extLst>
          </p:cNvPr>
          <p:cNvSpPr>
            <a:spLocks noGrp="1"/>
          </p:cNvSpPr>
          <p:nvPr/>
        </p:nvSpPr>
        <p:spPr>
          <a:xfrm>
            <a:off x="3371850" y="4457700"/>
            <a:ext cx="8210550" cy="752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固定角度、距离和光照，再单独改变背景。</a:t>
            </a:r>
          </a:p>
        </p:txBody>
      </p:sp>
      <p:sp>
        <p:nvSpPr>
          <p:cNvPr id="15" name="">
            <a:extLst>
              <a:ext uri="{FF2B5EF4-FFF2-40B4-BE49-F238E27FC236}">
                <ns2:creationId id="{E9ADAB83-6C4F-4F03-B9D9-C9191DFF27EE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6" name="一次结果提供线索，还需要有针对性的测试。">
            <a:extLst>
              <a:ext uri="{FF2B5EF4-FFF2-40B4-BE49-F238E27FC236}">
                <ns2:creationId id="{99DF5B03-0CB4-42C9-8879-E8FFE1690DE0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一次结果提供线索，还需要有针对性的测试。</a:t>
            </a:r>
          </a:p>
        </p:txBody>
      </p:sp>
    </p:spTree>
    <p:extLst>
      <p:ext uri="{BB962C8B-B14F-4D97-AF65-F5344CB8AC3E}">
        <p14:creationId val="17762189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814A4E39-D9EC-4477-ACA6-8CAE0A8DA1FD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改进分类模型">
            <a:extLst>
              <a:ext uri="{FF2B5EF4-FFF2-40B4-BE49-F238E27FC236}">
                <ns2:creationId id="{B8021F70-A634-4E10-A16E-3A949F0428D5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改进分类模型</a:t>
            </a:r>
          </a:p>
        </p:txBody>
      </p:sp>
      <p:sp>
        <p:nvSpPr>
          <p:cNvPr id="3" name="哪些样本值得补充？">
            <a:extLst>
              <a:ext uri="{FF2B5EF4-FFF2-40B4-BE49-F238E27FC236}">
                <ns2:creationId id="{D06EA023-59F6-4D76-B200-11E3815E3EDD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哪些样本值得补充？</a:t>
            </a:r>
          </a:p>
        </p:txBody>
      </p:sp>
      <p:sp>
        <p:nvSpPr>
          <p:cNvPr id="4" name="">
            <a:extLst>
              <a:ext uri="{FF2B5EF4-FFF2-40B4-BE49-F238E27FC236}">
                <ns2:creationId id="{9F7B1961-0BE3-4725-8693-F15ECDA95F59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FDC6CF93-F341-454B-BF0F-ED4B5706CB0F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8">
            <a:extLst>
              <a:ext uri="{FF2B5EF4-FFF2-40B4-BE49-F238E27FC236}">
                <ns2:creationId id="{36AEB9A1-849F-4320-8C8B-AC1CFEF10629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28</a:t>
            </a:r>
          </a:p>
        </p:txBody>
      </p:sp>
      <p:sp>
        <p:nvSpPr>
          <p:cNvPr id="7" name="先看遇到的问题，再决定补充什么图片。">
            <a:extLst>
              <a:ext uri="{FF2B5EF4-FFF2-40B4-BE49-F238E27FC236}">
                <ns2:creationId id="{7F84D620-CDAC-48B2-8D48-72C2FC143ECF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先看遇到的问题，再决定补充什么图片。</a:t>
            </a:r>
          </a:p>
        </p:txBody>
      </p:sp>
      <p:sp>
        <p:nvSpPr>
          <p:cNvPr id="8" name="">
            <a:extLst>
              <a:ext uri="{FF2B5EF4-FFF2-40B4-BE49-F238E27FC236}">
                <ns2:creationId id="{6D440206-3346-4B6A-8D20-8B93C354C24C}"/>
              </a:ext>
            </a:extLst>
          </p:cNvPr>
          <p:cNvSpPr>
            <a:spLocks noGrp="1"/>
          </p:cNvSpPr>
          <p:nvPr/>
        </p:nvSpPr>
        <p:spPr>
          <a:xfrm>
            <a:off x="6048375" y="2628900"/>
            <a:ext cx="9525" cy="261937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9" name="只换背景时不稳定">
            <a:extLst>
              <a:ext uri="{FF2B5EF4-FFF2-40B4-BE49-F238E27FC236}">
                <ns2:creationId id="{206174AA-1319-4B9E-BA72-A644D1CAE310}"/>
              </a:ext>
            </a:extLst>
          </p:cNvPr>
          <p:cNvSpPr>
            <a:spLocks noGrp="1"/>
          </p:cNvSpPr>
          <p:nvPr/>
        </p:nvSpPr>
        <p:spPr>
          <a:xfrm>
            <a:off x="609600" y="267652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只换背景时不稳定</a:t>
            </a:r>
          </a:p>
        </p:txBody>
      </p:sp>
      <p:sp>
        <p:nvSpPr>
          <p:cNvPr id="10" name="补充同类物品&#10;在不同背景上的图片。">
            <a:extLst>
              <a:ext uri="{FF2B5EF4-FFF2-40B4-BE49-F238E27FC236}">
                <ns2:creationId id="{652B2410-6974-4BA2-9310-852C9D75F4F6}"/>
              </a:ext>
            </a:extLst>
          </p:cNvPr>
          <p:cNvSpPr>
            <a:spLocks noGrp="1"/>
          </p:cNvSpPr>
          <p:nvPr/>
        </p:nvSpPr>
        <p:spPr>
          <a:xfrm>
            <a:off x="609600" y="324802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补充同类物品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在不同背景上的图片。</a:t>
            </a:r>
          </a:p>
        </p:txBody>
      </p:sp>
      <p:sp>
        <p:nvSpPr>
          <p:cNvPr id="11" name="换同类物品时不稳定">
            <a:extLst>
              <a:ext uri="{FF2B5EF4-FFF2-40B4-BE49-F238E27FC236}">
                <ns2:creationId id="{0875E15F-0976-4EEF-A014-0AA3595E88F7}"/>
              </a:ext>
            </a:extLst>
          </p:cNvPr>
          <p:cNvSpPr>
            <a:spLocks noGrp="1"/>
          </p:cNvSpPr>
          <p:nvPr/>
        </p:nvSpPr>
        <p:spPr>
          <a:xfrm>
            <a:off x="6515100" y="267652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换同类物品时不稳定</a:t>
            </a:r>
          </a:p>
        </p:txBody>
      </p:sp>
      <p:sp>
        <p:nvSpPr>
          <p:cNvPr id="12" name="补充不同颜色、大小&#10;或款式的同类物品。">
            <a:extLst>
              <a:ext uri="{FF2B5EF4-FFF2-40B4-BE49-F238E27FC236}">
                <ns2:creationId id="{98D00781-9885-4FF0-8943-345D75EDFD91}"/>
              </a:ext>
            </a:extLst>
          </p:cNvPr>
          <p:cNvSpPr>
            <a:spLocks noGrp="1"/>
          </p:cNvSpPr>
          <p:nvPr/>
        </p:nvSpPr>
        <p:spPr>
          <a:xfrm>
            <a:off x="6515100" y="324802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补充不同颜色、大小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或款式的同类物品。</a:t>
            </a:r>
          </a:p>
        </p:txBody>
      </p:sp>
      <p:sp>
        <p:nvSpPr>
          <p:cNvPr id="13" name="">
            <a:extLst>
              <a:ext uri="{FF2B5EF4-FFF2-40B4-BE49-F238E27FC236}">
                <ns2:creationId id="{F5303E70-E203-4391-836B-CE443A0775D2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4" name="保存旧模型，用同一组测试图片比较改进效果。">
            <a:extLst>
              <a:ext uri="{FF2B5EF4-FFF2-40B4-BE49-F238E27FC236}">
                <ns2:creationId id="{E2D64CD6-292A-4550-B309-55C1A2363E54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保存旧模型，用同一组测试图片比较改进效果。</a:t>
            </a:r>
          </a:p>
        </p:txBody>
      </p:sp>
    </p:spTree>
    <p:extLst>
      <p:ext uri="{BB962C8B-B14F-4D97-AF65-F5344CB8AC3E}">
        <p14:creationId val="1668518287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8" name="">
            <a:extLst>
              <a:ext uri="{FF2B5EF4-FFF2-40B4-BE49-F238E27FC236}">
                <ns2:creationId id="{FFCEFB0D-1C79-4CFB-AEAD-84CFB19F066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修改 AI 生成的程序">
            <a:extLst>
              <a:ext uri="{FF2B5EF4-FFF2-40B4-BE49-F238E27FC236}">
                <ns2:creationId id="{07832CC2-AEB7-4C17-AD76-601DFB09D4CE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修改 AI 生成的程序</a:t>
            </a:r>
          </a:p>
        </p:txBody>
      </p:sp>
      <p:sp>
        <p:nvSpPr>
          <p:cNvPr id="3" name="把游戏想法说清楚">
            <a:extLst>
              <a:ext uri="{FF2B5EF4-FFF2-40B4-BE49-F238E27FC236}">
                <ns2:creationId id="{09B2275D-FE82-450D-923A-C2C3D1C744A8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把游戏想法说清楚</a:t>
            </a:r>
          </a:p>
        </p:txBody>
      </p:sp>
      <p:sp>
        <p:nvSpPr>
          <p:cNvPr id="4" name="">
            <a:extLst>
              <a:ext uri="{FF2B5EF4-FFF2-40B4-BE49-F238E27FC236}">
                <ns2:creationId id="{79F9BB46-7A25-49FB-9DBC-86E509C20BB7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83AAF526-AE18-4732-9989-C16FF02D0220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29">
            <a:extLst>
              <a:ext uri="{FF2B5EF4-FFF2-40B4-BE49-F238E27FC236}">
                <ns2:creationId id="{F0180728-39F3-4392-ADE8-598299F723DA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29</a:t>
            </a:r>
          </a:p>
        </p:txBody>
      </p:sp>
      <p:sp>
        <p:nvSpPr>
          <p:cNvPr id="7" name="课堂示例：角色收集星星的小游戏。">
            <a:extLst>
              <a:ext uri="{FF2B5EF4-FFF2-40B4-BE49-F238E27FC236}">
                <ns2:creationId id="{720AD2A8-8B48-41DC-B76C-8FE4828566E5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课堂示例：角色收集星星的小游戏。</a:t>
            </a:r>
          </a:p>
        </p:txBody>
      </p:sp>
      <p:sp>
        <p:nvSpPr>
          <p:cNvPr id="8" name="操作方式">
            <a:extLst>
              <a:ext uri="{FF2B5EF4-FFF2-40B4-BE49-F238E27FC236}">
                <ns2:creationId id="{CB511557-B5B4-4759-A75B-30B31680E832}"/>
              </a:ext>
            </a:extLst>
          </p:cNvPr>
          <p:cNvSpPr>
            <a:spLocks noGrp="1"/>
          </p:cNvSpPr>
          <p:nvPr/>
        </p:nvSpPr>
        <p:spPr>
          <a:xfrm>
            <a:off x="609600" y="2571750"/>
            <a:ext cx="2381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操作方式</a:t>
            </a:r>
          </a:p>
        </p:txBody>
      </p:sp>
      <p:sp>
        <p:nvSpPr>
          <p:cNvPr id="9" name="用方向键移动角色。">
            <a:extLst>
              <a:ext uri="{FF2B5EF4-FFF2-40B4-BE49-F238E27FC236}">
                <ns2:creationId id="{37C0484B-2E84-4C65-A630-EAED4F1AC4D5}"/>
              </a:ext>
            </a:extLst>
          </p:cNvPr>
          <p:cNvSpPr>
            <a:spLocks noGrp="1"/>
          </p:cNvSpPr>
          <p:nvPr/>
        </p:nvSpPr>
        <p:spPr>
          <a:xfrm>
            <a:off x="3352800" y="2476500"/>
            <a:ext cx="822960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用方向键移动角色。</a:t>
            </a:r>
          </a:p>
        </p:txBody>
      </p:sp>
      <p:sp>
        <p:nvSpPr>
          <p:cNvPr id="10" name="">
            <a:extLst>
              <a:ext uri="{FF2B5EF4-FFF2-40B4-BE49-F238E27FC236}">
                <ns2:creationId id="{B9C3131E-ABEA-4008-B2BF-09D539CE8DCB}"/>
              </a:ext>
            </a:extLst>
          </p:cNvPr>
          <p:cNvSpPr>
            <a:spLocks noGrp="1"/>
          </p:cNvSpPr>
          <p:nvPr/>
        </p:nvSpPr>
        <p:spPr>
          <a:xfrm>
            <a:off x="609600" y="324802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1" name="计分规则">
            <a:extLst>
              <a:ext uri="{FF2B5EF4-FFF2-40B4-BE49-F238E27FC236}">
                <ns2:creationId id="{AC57D2D3-18B7-4ED1-8C15-220DDD6F445F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2381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计分规则</a:t>
            </a:r>
          </a:p>
        </p:txBody>
      </p:sp>
      <p:sp>
        <p:nvSpPr>
          <p:cNvPr id="12" name="碰到星星加1分。">
            <a:extLst>
              <a:ext uri="{FF2B5EF4-FFF2-40B4-BE49-F238E27FC236}">
                <ns2:creationId id="{F275584F-13C6-4D18-BC7D-237F48A68125}"/>
              </a:ext>
            </a:extLst>
          </p:cNvPr>
          <p:cNvSpPr>
            <a:spLocks noGrp="1"/>
          </p:cNvSpPr>
          <p:nvPr/>
        </p:nvSpPr>
        <p:spPr>
          <a:xfrm>
            <a:off x="3352800" y="3448050"/>
            <a:ext cx="822960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碰到星星加1分。</a:t>
            </a:r>
          </a:p>
        </p:txBody>
      </p:sp>
      <p:sp>
        <p:nvSpPr>
          <p:cNvPr id="13" name="">
            <a:extLst>
              <a:ext uri="{FF2B5EF4-FFF2-40B4-BE49-F238E27FC236}">
                <ns2:creationId id="{9BBA4467-F9C6-4BD7-AAB0-6077447DA7A5}"/>
              </a:ext>
            </a:extLst>
          </p:cNvPr>
          <p:cNvSpPr>
            <a:spLocks noGrp="1"/>
          </p:cNvSpPr>
          <p:nvPr/>
        </p:nvSpPr>
        <p:spPr>
          <a:xfrm>
            <a:off x="609600" y="42195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4" name="界面要求">
            <a:extLst>
              <a:ext uri="{FF2B5EF4-FFF2-40B4-BE49-F238E27FC236}">
                <ns2:creationId id="{58E651FE-BB94-4C0B-8C25-586028A65963}"/>
              </a:ext>
            </a:extLst>
          </p:cNvPr>
          <p:cNvSpPr>
            <a:spLocks noGrp="1"/>
          </p:cNvSpPr>
          <p:nvPr/>
        </p:nvSpPr>
        <p:spPr>
          <a:xfrm>
            <a:off x="609600" y="4514850"/>
            <a:ext cx="2381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界面要求</a:t>
            </a:r>
          </a:p>
        </p:txBody>
      </p:sp>
      <p:sp>
        <p:nvSpPr>
          <p:cNvPr id="15" name="显示分数和重新开始按钮。&#10;让第一次玩的人看懂操作。">
            <a:extLst>
              <a:ext uri="{FF2B5EF4-FFF2-40B4-BE49-F238E27FC236}">
                <ns2:creationId id="{063F03D6-BF2B-4BE4-9DBE-3F685895A537}"/>
              </a:ext>
            </a:extLst>
          </p:cNvPr>
          <p:cNvSpPr>
            <a:spLocks noGrp="1"/>
          </p:cNvSpPr>
          <p:nvPr/>
        </p:nvSpPr>
        <p:spPr>
          <a:xfrm>
            <a:off x="3352800" y="4419600"/>
            <a:ext cx="82296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显示分数和重新开始按钮。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让第一次玩的人看懂操作。</a:t>
            </a:r>
          </a:p>
        </p:txBody>
      </p:sp>
      <p:sp>
        <p:nvSpPr>
          <p:cNvPr id="16" name="">
            <a:extLst>
              <a:ext uri="{FF2B5EF4-FFF2-40B4-BE49-F238E27FC236}">
                <ns2:creationId id="{F82E4020-7CD0-41FF-86E4-3071E1AFF1E6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7" name="这些要求是否实现，需要运行程序检查。">
            <a:extLst>
              <a:ext uri="{FF2B5EF4-FFF2-40B4-BE49-F238E27FC236}">
                <ns2:creationId id="{CD51A9CF-41D0-4E93-9DCF-FF85D4FD5B8B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这些要求是否实现，需要运行程序检查。</a:t>
            </a:r>
          </a:p>
        </p:txBody>
      </p:sp>
    </p:spTree>
    <p:extLst>
      <p:ext uri="{BB962C8B-B14F-4D97-AF65-F5344CB8AC3E}">
        <p14:creationId val="803764890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A6DCE484-DD10-4CFC-B743-F4902BACB0C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修改 AI 生成的程序">
            <a:extLst>
              <a:ext uri="{FF2B5EF4-FFF2-40B4-BE49-F238E27FC236}">
                <ns2:creationId id="{12609668-3ABB-4B20-84AA-1C83769E15B6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修改 AI 生成的程序</a:t>
            </a:r>
          </a:p>
        </p:txBody>
      </p:sp>
      <p:sp>
        <p:nvSpPr>
          <p:cNvPr id="3" name="把“慢一点”说成明确的要求">
            <a:extLst>
              <a:ext uri="{FF2B5EF4-FFF2-40B4-BE49-F238E27FC236}">
                <ns2:creationId id="{C642A34D-5DFA-4064-9900-D956A8E6FDAF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把“慢一点”说成明确的要求</a:t>
            </a:r>
          </a:p>
        </p:txBody>
      </p:sp>
      <p:sp>
        <p:nvSpPr>
          <p:cNvPr id="4" name="">
            <a:extLst>
              <a:ext uri="{FF2B5EF4-FFF2-40B4-BE49-F238E27FC236}">
                <ns2:creationId id="{D1708560-5D52-4072-92D3-D10676131E02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7C8D1864-9715-48AC-9809-913776FAF99D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0">
            <a:extLst>
              <a:ext uri="{FF2B5EF4-FFF2-40B4-BE49-F238E27FC236}">
                <ns2:creationId id="{B1A5EA00-A1AD-44C3-87FC-C387EBD252EC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30</a:t>
            </a:r>
          </a:p>
        </p:txBody>
      </p:sp>
      <p:sp>
        <p:nvSpPr>
          <p:cNvPr id="7" name="修改要求">
            <a:extLst>
              <a:ext uri="{FF2B5EF4-FFF2-40B4-BE49-F238E27FC236}">
                <ns2:creationId id="{A434ADB3-2A9C-40A8-B731-E2B78A2A4732}"/>
              </a:ext>
            </a:extLst>
          </p:cNvPr>
          <p:cNvSpPr>
            <a:spLocks noGrp="1"/>
          </p:cNvSpPr>
          <p:nvPr/>
        </p:nvSpPr>
        <p:spPr>
          <a:xfrm>
            <a:off x="609600" y="225742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修改要求</a:t>
            </a:r>
          </a:p>
        </p:txBody>
      </p:sp>
      <p:sp>
        <p:nvSpPr>
          <p:cNvPr id="8" name="“把角色移动速度降低一半，&#10;保留计分和重新开始功能。”">
            <a:extLst>
              <a:ext uri="{FF2B5EF4-FFF2-40B4-BE49-F238E27FC236}">
                <ns2:creationId id="{3A4081DA-C3B3-4774-8843-02368C22D488}"/>
              </a:ext>
            </a:extLst>
          </p:cNvPr>
          <p:cNvSpPr>
            <a:spLocks noGrp="1"/>
          </p:cNvSpPr>
          <p:nvPr/>
        </p:nvSpPr>
        <p:spPr>
          <a:xfrm>
            <a:off x="609600" y="2886075"/>
            <a:ext cx="1097280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4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“把角色移动速度降低一半，</a:t>
            </a:r>
          </a:p>
          <a:p>
            <a:pPr algn="l">
              <a:lnSpc>
                <a:spcPct val="122000"/>
              </a:lnSpc>
              <a:buNone/>
              <a:defRPr sz="34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保留计分和重新开始功能。”</a:t>
            </a:r>
          </a:p>
        </p:txBody>
      </p:sp>
      <p:sp>
        <p:nvSpPr>
          <p:cNvPr id="9" name="">
            <a:extLst>
              <a:ext uri="{FF2B5EF4-FFF2-40B4-BE49-F238E27FC236}">
                <ns2:creationId id="{3799C2F8-DAB0-4FF0-841C-1416D155F100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0" name="检查方法">
            <a:extLst>
              <a:ext uri="{FF2B5EF4-FFF2-40B4-BE49-F238E27FC236}">
                <ns2:creationId id="{8E25D0C9-CCCF-44FF-BD2F-63A01C822ED6}"/>
              </a:ext>
            </a:extLst>
          </p:cNvPr>
          <p:cNvSpPr>
            <a:spLocks noGrp="1"/>
          </p:cNvSpPr>
          <p:nvPr/>
        </p:nvSpPr>
        <p:spPr>
          <a:xfrm>
            <a:off x="609600" y="4962525"/>
            <a:ext cx="20764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检查方法</a:t>
            </a:r>
          </a:p>
        </p:txBody>
      </p:sp>
      <p:sp>
        <p:nvSpPr>
          <p:cNvPr id="11" name="同样向右移动2秒，比较移动距离。">
            <a:extLst>
              <a:ext uri="{FF2B5EF4-FFF2-40B4-BE49-F238E27FC236}">
                <ns2:creationId id="{4D5977B4-7CA0-40C7-B00B-DC7F1D504FDB}"/>
              </a:ext>
            </a:extLst>
          </p:cNvPr>
          <p:cNvSpPr>
            <a:spLocks noGrp="1"/>
          </p:cNvSpPr>
          <p:nvPr/>
        </p:nvSpPr>
        <p:spPr>
          <a:xfrm>
            <a:off x="3371850" y="4905375"/>
            <a:ext cx="82105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同样向右移动2秒，比较移动距离。</a:t>
            </a:r>
          </a:p>
        </p:txBody>
      </p:sp>
      <p:sp>
        <p:nvSpPr>
          <p:cNvPr id="12" name="">
            <a:extLst>
              <a:ext uri="{FF2B5EF4-FFF2-40B4-BE49-F238E27FC236}">
                <ns2:creationId id="{86FCA5CA-DF0E-4D9D-802E-9972A9CFC420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3" name="修改要求与检查方法要对应。">
            <a:extLst>
              <a:ext uri="{FF2B5EF4-FFF2-40B4-BE49-F238E27FC236}">
                <ns2:creationId id="{03D2E318-2C80-4248-8B8F-527C0ECD6E82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修改要求与检查方法要对应。</a:t>
            </a:r>
          </a:p>
        </p:txBody>
      </p:sp>
    </p:spTree>
    <p:extLst>
      <p:ext uri="{BB962C8B-B14F-4D97-AF65-F5344CB8AC3E}">
        <p14:creationId val="248024708"/>
      </p:ext>
    </p:extLst>
  </p:cSld>
</p:sld>
</file>

<file path=ppt/slides/slide3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957B046A-2721-486B-B772-2D58B1C8D453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修改 AI 生成的程序">
            <a:extLst>
              <a:ext uri="{FF2B5EF4-FFF2-40B4-BE49-F238E27FC236}">
                <ns2:creationId id="{CCE00E77-316F-40F3-B471-2267B7B07590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修改 AI 生成的程序</a:t>
            </a:r>
          </a:p>
        </p:txBody>
      </p:sp>
      <p:sp>
        <p:nvSpPr>
          <p:cNvPr id="3" name="相同操作，比较两个版本">
            <a:extLst>
              <a:ext uri="{FF2B5EF4-FFF2-40B4-BE49-F238E27FC236}">
                <ns2:creationId id="{29C66B15-96EE-493A-89B9-05A3AE63D4E4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相同操作，比较两个版本</a:t>
            </a:r>
          </a:p>
        </p:txBody>
      </p:sp>
      <p:sp>
        <p:nvSpPr>
          <p:cNvPr id="4" name="">
            <a:extLst>
              <a:ext uri="{FF2B5EF4-FFF2-40B4-BE49-F238E27FC236}">
                <ns2:creationId id="{CBD94B92-DF16-48D6-A009-03615C9529A4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A383FB3D-9544-41E6-B55C-DB6A6861A740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1">
            <a:extLst>
              <a:ext uri="{FF2B5EF4-FFF2-40B4-BE49-F238E27FC236}">
                <ns2:creationId id="{3256BD50-B83F-44C7-9D8D-A18236D33BC7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31</a:t>
            </a:r>
          </a:p>
        </p:txBody>
      </p:sp>
      <p:sp>
        <p:nvSpPr>
          <p:cNvPr id="7" name="从相同位置向右移动2秒。画面来自配套程序的实际运行。">
            <a:extLst>
              <a:ext uri="{FF2B5EF4-FFF2-40B4-BE49-F238E27FC236}">
                <ns2:creationId id="{EC9BB84A-BCDB-45AE-BDB7-CBEE237FB28E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从相同位置向右移动2秒。画面来自配套程序的实际运行。</a:t>
            </a:r>
          </a:p>
        </p:txBody>
      </p:sp>
      <p:sp>
        <p:nvSpPr>
          <p:cNvPr id="8" name="原版本">
            <a:extLst>
              <a:ext uri="{FF2B5EF4-FFF2-40B4-BE49-F238E27FC236}">
                <ns2:creationId id="{6A4F2234-92CB-4EEE-91A1-D8C396A1B406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原版本</a:t>
            </a:r>
          </a:p>
        </p:txBody>
      </p:sp>
      <p:sp>
        <p:nvSpPr>
          <p:cNvPr id="9" name="修改版本">
            <a:extLst>
              <a:ext uri="{FF2B5EF4-FFF2-40B4-BE49-F238E27FC236}">
                <ns2:creationId id="{356C99B1-F297-4D36-B94B-F19C4CDB1EA8}"/>
              </a:ext>
            </a:extLst>
          </p:cNvPr>
          <p:cNvSpPr>
            <a:spLocks noGrp="1"/>
          </p:cNvSpPr>
          <p:nvPr/>
        </p:nvSpPr>
        <p:spPr>
          <a:xfrm>
            <a:off x="6515100" y="2476500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修改版本</a:t>
            </a:r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 r:embed="R248230e2895c47c9"/>
          <a:stretch/>
        </p:blipFill>
        <p:spPr>
          <a:xfrm>
            <a:off x="609600" y="3073631"/>
            <a:ext cx="5067300" cy="1796588"/>
          </a:xfrm>
          <a:prstGeom prst="rect">
            <a:avLst/>
          </a:prstGeom>
        </p:spPr>
      </p:pic>
      <p:pic>
        <p:nvPicPr>
          <p:cNvPr id="26" name=""/>
          <p:cNvPicPr>
            <a:picLocks noChangeAspect="1"/>
          </p:cNvPicPr>
          <p:nvPr/>
        </p:nvPicPr>
        <p:blipFill>
          <a:blip r:embed="Ra1d4bb6e796349e1"/>
          <a:stretch/>
        </p:blipFill>
        <p:spPr>
          <a:xfrm>
            <a:off x="6515100" y="3073631"/>
            <a:ext cx="5067300" cy="1796588"/>
          </a:xfrm>
          <a:prstGeom prst="rect">
            <a:avLst/>
          </a:prstGeom>
        </p:spPr>
      </p:pic>
      <p:sp>
        <p:nvSpPr>
          <p:cNvPr id="12" name="打开原版程序 ↗">
            <a:extLst>
              <a:ext uri="{FF2B5EF4-FFF2-40B4-BE49-F238E27FC236}">
                <ns2:creationId id="{77C41671-F530-4D84-8F5B-6304FB2B06F1}"/>
              </a:ext>
            </a:extLst>
            <a:hlinkClick r:id="Re00de37389e445f0"/>
          </p:cNvPr>
          <p:cNvSpPr>
            <a:spLocks noGrp="1"/>
          </p:cNvSpPr>
          <p:nvPr/>
        </p:nvSpPr>
        <p:spPr>
          <a:xfrm>
            <a:off x="609600" y="519112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打开原版程序 ↗</a:t>
            </a:r>
          </a:p>
        </p:txBody>
      </p:sp>
      <p:sp>
        <p:nvSpPr>
          <p:cNvPr id="13" name="打开修改版程序 ↗">
            <a:extLst>
              <a:ext uri="{FF2B5EF4-FFF2-40B4-BE49-F238E27FC236}">
                <ns2:creationId id="{C0E38DAD-FB85-4B0D-BD7F-415D8D246B85}"/>
              </a:ext>
            </a:extLst>
            <a:hlinkClick r:id="R494842285cb44816"/>
          </p:cNvPr>
          <p:cNvSpPr>
            <a:spLocks noGrp="1"/>
          </p:cNvSpPr>
          <p:nvPr/>
        </p:nvSpPr>
        <p:spPr>
          <a:xfrm>
            <a:off x="6515100" y="519112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打开修改版程序 ↗</a:t>
            </a:r>
          </a:p>
        </p:txBody>
      </p:sp>
      <p:sp>
        <p:nvSpPr>
          <p:cNvPr id="14" name="">
            <a:extLst>
              <a:ext uri="{FF2B5EF4-FFF2-40B4-BE49-F238E27FC236}">
                <ns2:creationId id="{CA2CA17F-FAE3-4879-BB7B-44ACA9AC70C1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5" name="移动距离是一半，还要检查计分和重新开始。">
            <a:extLst>
              <a:ext uri="{FF2B5EF4-FFF2-40B4-BE49-F238E27FC236}">
                <ns2:creationId id="{3F41FB05-4E8C-4A9D-8649-68798A036F5F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移动距离是一半，还要检查计分和重新开始。</a:t>
            </a:r>
          </a:p>
        </p:txBody>
      </p:sp>
    </p:spTree>
    <p:extLst>
      <p:ext uri="{BB962C8B-B14F-4D97-AF65-F5344CB8AC3E}">
        <p14:creationId val="840058918"/>
      </p:ext>
    </p:extLst>
  </p:cSld>
</p:sld>
</file>

<file path=ppt/slides/slide3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2" name="">
            <a:extLst>
              <a:ext uri="{FF2B5EF4-FFF2-40B4-BE49-F238E27FC236}">
                <ns2:creationId id="{98660247-4820-4F16-94D9-6D7D81875F3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人和 AI 的分工">
            <a:extLst>
              <a:ext uri="{FF2B5EF4-FFF2-40B4-BE49-F238E27FC236}">
                <ns2:creationId id="{1BAC133C-B9A7-4A52-B71A-49C8BC865FB3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人和 AI 的分工</a:t>
            </a:r>
          </a:p>
        </p:txBody>
      </p:sp>
      <p:sp>
        <p:nvSpPr>
          <p:cNvPr id="3" name="人在其中做什么？">
            <a:extLst>
              <a:ext uri="{FF2B5EF4-FFF2-40B4-BE49-F238E27FC236}">
                <ns2:creationId id="{52F7CADB-0E2A-40AB-9A8E-07B62E576392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人在其中做什么？</a:t>
            </a:r>
          </a:p>
        </p:txBody>
      </p:sp>
      <p:sp>
        <p:nvSpPr>
          <p:cNvPr id="4" name="">
            <a:extLst>
              <a:ext uri="{FF2B5EF4-FFF2-40B4-BE49-F238E27FC236}">
                <ns2:creationId id="{0C17668A-60A2-40AB-AADC-C863E977328C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6A33122E-1E3B-49D7-BC35-9EC26448B96E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2">
            <a:extLst>
              <a:ext uri="{FF2B5EF4-FFF2-40B4-BE49-F238E27FC236}">
                <ns2:creationId id="{6DF0DE09-1740-480A-9C6D-EB71173E1AB8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从刚才的制作和测试中，找出需要自己作决定的地方。">
            <a:extLst>
              <a:ext uri="{FF2B5EF4-FFF2-40B4-BE49-F238E27FC236}">
                <ns2:creationId id="{40E0CAE7-7285-44F5-9BC4-64F38BE68DE6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从刚才的制作和测试中，找出需要自己作决定的地方。</a:t>
            </a:r>
          </a:p>
        </p:txBody>
      </p:sp>
      <p:sp>
        <p:nvSpPr>
          <p:cNvPr id="8" name="01">
            <a:extLst>
              <a:ext uri="{FF2B5EF4-FFF2-40B4-BE49-F238E27FC236}">
                <ns2:creationId id="{2D5B4F0C-AB86-4CBF-A1D0-5A4F4D44F7D5}"/>
              </a:ext>
            </a:extLst>
          </p:cNvPr>
          <p:cNvSpPr>
            <a:spLocks noGrp="1"/>
          </p:cNvSpPr>
          <p:nvPr/>
        </p:nvSpPr>
        <p:spPr>
          <a:xfrm>
            <a:off x="609600" y="2447925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9" name="">
            <a:extLst>
              <a:ext uri="{FF2B5EF4-FFF2-40B4-BE49-F238E27FC236}">
                <ns2:creationId id="{07DFF553-3420-4183-9660-DF7B1EBDBA99}"/>
              </a:ext>
            </a:extLst>
          </p:cNvPr>
          <p:cNvSpPr>
            <a:spLocks noGrp="1"/>
          </p:cNvSpPr>
          <p:nvPr/>
        </p:nvSpPr>
        <p:spPr>
          <a:xfrm>
            <a:off x="609600" y="3190875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0" name="决定用途">
            <a:extLst>
              <a:ext uri="{FF2B5EF4-FFF2-40B4-BE49-F238E27FC236}">
                <ns2:creationId id="{4AA0BC31-C270-4A73-976A-87E88DA0BFFD}"/>
              </a:ext>
            </a:extLst>
          </p:cNvPr>
          <p:cNvSpPr>
            <a:spLocks noGrp="1"/>
          </p:cNvSpPr>
          <p:nvPr/>
        </p:nvSpPr>
        <p:spPr>
          <a:xfrm>
            <a:off x="609600" y="3400425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决定用途</a:t>
            </a:r>
          </a:p>
        </p:txBody>
      </p:sp>
      <p:sp>
        <p:nvSpPr>
          <p:cNvPr id="11" name="给谁用？&#10;完成什么工作？">
            <a:extLst>
              <a:ext uri="{FF2B5EF4-FFF2-40B4-BE49-F238E27FC236}">
                <ns2:creationId id="{DF9BB2AC-C0CA-4066-A168-79FA206EA87C}"/>
              </a:ext>
            </a:extLst>
          </p:cNvPr>
          <p:cNvSpPr>
            <a:spLocks noGrp="1"/>
          </p:cNvSpPr>
          <p:nvPr/>
        </p:nvSpPr>
        <p:spPr>
          <a:xfrm>
            <a:off x="609600" y="4076700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给谁用？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完成什么工作？</a:t>
            </a:r>
          </a:p>
        </p:txBody>
      </p:sp>
      <p:sp>
        <p:nvSpPr>
          <p:cNvPr id="12" name="02">
            <a:extLst>
              <a:ext uri="{FF2B5EF4-FFF2-40B4-BE49-F238E27FC236}">
                <ns2:creationId id="{72EFBAC7-3834-4806-BACB-334D02AD8867}"/>
              </a:ext>
            </a:extLst>
          </p:cNvPr>
          <p:cNvSpPr>
            <a:spLocks noGrp="1"/>
          </p:cNvSpPr>
          <p:nvPr/>
        </p:nvSpPr>
        <p:spPr>
          <a:xfrm>
            <a:off x="4400550" y="2447925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3" name="">
            <a:extLst>
              <a:ext uri="{FF2B5EF4-FFF2-40B4-BE49-F238E27FC236}">
                <ns2:creationId id="{CEC9917E-7EC5-4AF8-B2AA-75B667BF4C35}"/>
              </a:ext>
            </a:extLst>
          </p:cNvPr>
          <p:cNvSpPr>
            <a:spLocks noGrp="1"/>
          </p:cNvSpPr>
          <p:nvPr/>
        </p:nvSpPr>
        <p:spPr>
          <a:xfrm>
            <a:off x="4400550" y="3190875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4" name="提供信息">
            <a:extLst>
              <a:ext uri="{FF2B5EF4-FFF2-40B4-BE49-F238E27FC236}">
                <ns2:creationId id="{A98AF7D7-A026-4F89-BCF0-96A67E4DDEEB}"/>
              </a:ext>
            </a:extLst>
          </p:cNvPr>
          <p:cNvSpPr>
            <a:spLocks noGrp="1"/>
          </p:cNvSpPr>
          <p:nvPr/>
        </p:nvSpPr>
        <p:spPr>
          <a:xfrm>
            <a:off x="4400550" y="3400425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提供信息</a:t>
            </a:r>
          </a:p>
        </p:txBody>
      </p:sp>
      <p:sp>
        <p:nvSpPr>
          <p:cNvPr id="15" name="需要哪些样本、&#10;资料和具体要求？">
            <a:extLst>
              <a:ext uri="{FF2B5EF4-FFF2-40B4-BE49-F238E27FC236}">
                <ns2:creationId id="{21C20FD4-0F27-430F-BF2B-1BB2531821A2}"/>
              </a:ext>
            </a:extLst>
          </p:cNvPr>
          <p:cNvSpPr>
            <a:spLocks noGrp="1"/>
          </p:cNvSpPr>
          <p:nvPr/>
        </p:nvSpPr>
        <p:spPr>
          <a:xfrm>
            <a:off x="4400550" y="4076700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需要哪些样本、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资料和具体要求？</a:t>
            </a:r>
          </a:p>
        </p:txBody>
      </p:sp>
      <p:sp>
        <p:nvSpPr>
          <p:cNvPr id="16" name="03">
            <a:extLst>
              <a:ext uri="{FF2B5EF4-FFF2-40B4-BE49-F238E27FC236}">
                <ns2:creationId id="{A34A7CEE-7082-4092-9FEE-5E396B26E341}"/>
              </a:ext>
            </a:extLst>
          </p:cNvPr>
          <p:cNvSpPr>
            <a:spLocks noGrp="1"/>
          </p:cNvSpPr>
          <p:nvPr/>
        </p:nvSpPr>
        <p:spPr>
          <a:xfrm>
            <a:off x="8191500" y="2447925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7" name="">
            <a:extLst>
              <a:ext uri="{FF2B5EF4-FFF2-40B4-BE49-F238E27FC236}">
                <ns2:creationId id="{DB4DB3D9-E6E2-4569-BB31-B91CD7BD67A9}"/>
              </a:ext>
            </a:extLst>
          </p:cNvPr>
          <p:cNvSpPr>
            <a:spLocks noGrp="1"/>
          </p:cNvSpPr>
          <p:nvPr/>
        </p:nvSpPr>
        <p:spPr>
          <a:xfrm>
            <a:off x="8191500" y="3190875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8" name="检查与修改">
            <a:extLst>
              <a:ext uri="{FF2B5EF4-FFF2-40B4-BE49-F238E27FC236}">
                <ns2:creationId id="{99FA0CD1-5731-43CD-8526-1DCCA7AA2C33}"/>
              </a:ext>
            </a:extLst>
          </p:cNvPr>
          <p:cNvSpPr>
            <a:spLocks noGrp="1"/>
          </p:cNvSpPr>
          <p:nvPr/>
        </p:nvSpPr>
        <p:spPr>
          <a:xfrm>
            <a:off x="8191500" y="3400425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检查与修改</a:t>
            </a:r>
          </a:p>
        </p:txBody>
      </p:sp>
      <p:sp>
        <p:nvSpPr>
          <p:cNvPr id="19" name="运行后是否符合要求？&#10;下一步改哪里？">
            <a:extLst>
              <a:ext uri="{FF2B5EF4-FFF2-40B4-BE49-F238E27FC236}">
                <ns2:creationId id="{3131EE01-0F15-4E06-9114-07E8B916E484}"/>
              </a:ext>
            </a:extLst>
          </p:cNvPr>
          <p:cNvSpPr>
            <a:spLocks noGrp="1"/>
          </p:cNvSpPr>
          <p:nvPr/>
        </p:nvSpPr>
        <p:spPr>
          <a:xfrm>
            <a:off x="8191500" y="4076700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运行后是否符合要求？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下一步改哪里？</a:t>
            </a:r>
          </a:p>
        </p:txBody>
      </p:sp>
      <p:sp>
        <p:nvSpPr>
          <p:cNvPr id="20" name="">
            <a:extLst>
              <a:ext uri="{FF2B5EF4-FFF2-40B4-BE49-F238E27FC236}">
                <ns2:creationId id="{39130F71-EC88-46CB-9FE3-8B2F1F2DD122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1" name="AI可以协助很多步骤，使用者仍需作出判断。">
            <a:extLst>
              <a:ext uri="{FF2B5EF4-FFF2-40B4-BE49-F238E27FC236}">
                <ns2:creationId id="{AE847010-8B66-4F8E-A664-BA7049FB3B34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AI可以协助很多步骤，使用者仍需作出判断。</a:t>
            </a:r>
          </a:p>
        </p:txBody>
      </p:sp>
    </p:spTree>
    <p:extLst>
      <p:ext uri="{BB962C8B-B14F-4D97-AF65-F5344CB8AC3E}">
        <p14:creationId val="194604654"/>
      </p:ext>
    </p:extLst>
  </p:cSld>
</p:sld>
</file>

<file path=ppt/slides/slide3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97277860-80BF-4CD5-A2A3-6ADD2C1CAFB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核对回答与选择工具">
            <a:extLst>
              <a:ext uri="{FF2B5EF4-FFF2-40B4-BE49-F238E27FC236}">
                <ns2:creationId id="{678DE4EE-1F59-43E2-99AF-9A0DF09DC649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核对回答与选择工具</a:t>
            </a:r>
          </a:p>
        </p:txBody>
      </p:sp>
      <p:sp>
        <p:nvSpPr>
          <p:cNvPr id="3" name="这段回答有依据吗？">
            <a:extLst>
              <a:ext uri="{FF2B5EF4-FFF2-40B4-BE49-F238E27FC236}">
                <ns2:creationId id="{CC614C07-56B2-40F8-AEBD-FD11F925AFEE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这段回答有依据吗？</a:t>
            </a:r>
          </a:p>
        </p:txBody>
      </p:sp>
      <p:sp>
        <p:nvSpPr>
          <p:cNvPr id="4" name="">
            <a:extLst>
              <a:ext uri="{FF2B5EF4-FFF2-40B4-BE49-F238E27FC236}">
                <ns2:creationId id="{F5828063-B440-4899-BD23-0232F9404D1C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FB9A609B-B90B-43C1-914D-07308901DEC9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3">
            <a:extLst>
              <a:ext uri="{FF2B5EF4-FFF2-40B4-BE49-F238E27FC236}">
                <ns2:creationId id="{701739FC-BE1B-40E9-ACFC-D6A68578D7DD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33</a:t>
            </a:r>
          </a:p>
        </p:txBody>
      </p:sp>
      <p:sp>
        <p:nvSpPr>
          <p:cNvPr id="7" name="虚构课堂资料 · 教师编写的示例回答">
            <a:extLst>
              <a:ext uri="{FF2B5EF4-FFF2-40B4-BE49-F238E27FC236}">
                <ns2:creationId id="{357BE130-0884-4C70-A029-EDE9DE163840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虚构课堂资料 · 教师编写的示例回答</a:t>
            </a:r>
          </a:p>
        </p:txBody>
      </p:sp>
      <p:sp>
        <p:nvSpPr>
          <p:cNvPr id="8" name="">
            <a:extLst>
              <a:ext uri="{FF2B5EF4-FFF2-40B4-BE49-F238E27FC236}">
                <ns2:creationId id="{45FC0F72-0BF3-4721-B3C2-86C1161275C0}"/>
              </a:ext>
            </a:extLst>
          </p:cNvPr>
          <p:cNvSpPr>
            <a:spLocks noGrp="1"/>
          </p:cNvSpPr>
          <p:nvPr/>
        </p:nvSpPr>
        <p:spPr>
          <a:xfrm>
            <a:off x="609600" y="2486025"/>
            <a:ext cx="5067300" cy="2676525"/>
          </a:xfrm>
          <a:prstGeom prst="rect">
            <a:avLst/>
          </a:prstGeom>
          <a:solidFill>
            <a:srgbClr val="EFF5F9"/>
          </a:solidFill>
          <a:ln w="0">
            <a:noFill/>
          </a:ln>
        </p:spPr>
      </p:sp>
      <p:sp>
        <p:nvSpPr>
          <p:cNvPr id="9" name="星河天文社资料">
            <a:extLst>
              <a:ext uri="{FF2B5EF4-FFF2-40B4-BE49-F238E27FC236}">
                <ns2:creationId id="{75782266-9B9D-4D8E-8AD7-B148D2FA34BB}"/>
              </a:ext>
            </a:extLst>
          </p:cNvPr>
          <p:cNvSpPr>
            <a:spLocks noGrp="1"/>
          </p:cNvSpPr>
          <p:nvPr/>
        </p:nvSpPr>
        <p:spPr>
          <a:xfrm>
            <a:off x="838200" y="2686050"/>
            <a:ext cx="46101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星河天文社资料</a:t>
            </a:r>
          </a:p>
        </p:txBody>
      </p:sp>
      <p:sp>
        <p:nvSpPr>
          <p:cNvPr id="10" name="每周五16:30，科学楼302。&#10;活动：星空观察、模型制作。&#10;报名：找社团老师。">
            <a:extLst>
              <a:ext uri="{FF2B5EF4-FFF2-40B4-BE49-F238E27FC236}">
                <ns2:creationId id="{9C0A6CB3-A9AF-4A0B-8900-D725144A318B}"/>
              </a:ext>
            </a:extLst>
          </p:cNvPr>
          <p:cNvSpPr>
            <a:spLocks noGrp="1"/>
          </p:cNvSpPr>
          <p:nvPr/>
        </p:nvSpPr>
        <p:spPr>
          <a:xfrm>
            <a:off x="838200" y="3305175"/>
            <a:ext cx="4610100" cy="1619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每周五16:30，科学楼302。</a:t>
            </a:r>
          </a:p>
          <a:p>
            <a:pPr algn="l">
              <a:lnSpc>
                <a:spcPct val="122000"/>
              </a:lnSpc>
              <a:buNone/>
              <a:defRPr sz="21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活动：星空观察、模型制作。</a:t>
            </a:r>
          </a:p>
          <a:p>
            <a:pPr algn="l">
              <a:lnSpc>
                <a:spcPct val="122000"/>
              </a:lnSpc>
              <a:buNone/>
              <a:defRPr sz="21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报名：找社团老师。</a:t>
            </a:r>
          </a:p>
        </p:txBody>
      </p:sp>
      <p:sp>
        <p:nvSpPr>
          <p:cNvPr id="11" name="待检查的回答">
            <a:extLst>
              <a:ext uri="{FF2B5EF4-FFF2-40B4-BE49-F238E27FC236}">
                <ns2:creationId id="{3B46BD43-08CF-4B61-946B-9B71F75A50BF}"/>
              </a:ext>
            </a:extLst>
          </p:cNvPr>
          <p:cNvSpPr>
            <a:spLocks noGrp="1"/>
          </p:cNvSpPr>
          <p:nvPr/>
        </p:nvSpPr>
        <p:spPr>
          <a:xfrm>
            <a:off x="6515100" y="2686050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待检查的回答</a:t>
            </a:r>
          </a:p>
        </p:txBody>
      </p:sp>
      <p:sp>
        <p:nvSpPr>
          <p:cNvPr id="12" name="“每周五16:30活动，&#10;每学期收取50元材料费。”">
            <a:extLst>
              <a:ext uri="{FF2B5EF4-FFF2-40B4-BE49-F238E27FC236}">
                <ns2:creationId id="{D33D6C26-A018-4893-8A83-33B683AAD692}"/>
              </a:ext>
            </a:extLst>
          </p:cNvPr>
          <p:cNvSpPr>
            <a:spLocks noGrp="1"/>
          </p:cNvSpPr>
          <p:nvPr/>
        </p:nvSpPr>
        <p:spPr>
          <a:xfrm>
            <a:off x="6515100" y="3305175"/>
            <a:ext cx="5067300" cy="1419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“每周五16:30活动，</a:t>
            </a:r>
          </a:p>
          <a:p>
            <a:pPr algn="l">
              <a:lnSpc>
                <a:spcPct val="122000"/>
              </a:lnSpc>
              <a:buNone/>
              <a:def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每学期收取50元材料费。”</a:t>
            </a:r>
          </a:p>
        </p:txBody>
      </p:sp>
      <p:sp>
        <p:nvSpPr>
          <p:cNvPr id="13" name="">
            <a:extLst>
              <a:ext uri="{FF2B5EF4-FFF2-40B4-BE49-F238E27FC236}">
                <ns2:creationId id="{03167569-D680-46AF-890D-DA5A32B9E1DD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4" name="分别核对：时间有没有依据？费用有没有依据？">
            <a:extLst>
              <a:ext uri="{FF2B5EF4-FFF2-40B4-BE49-F238E27FC236}">
                <ns2:creationId id="{2147E9E9-38D5-42FC-B70A-29F041476CD6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分别核对：时间有没有依据？费用有没有依据？</a:t>
            </a:r>
          </a:p>
        </p:txBody>
      </p:sp>
    </p:spTree>
    <p:extLst>
      <p:ext uri="{BB962C8B-B14F-4D97-AF65-F5344CB8AC3E}">
        <p14:creationId val="1749675682"/>
      </p:ext>
    </p:extLst>
  </p:cSld>
</p:sld>
</file>

<file path=ppt/slides/slide3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1FB7D961-0D5B-479E-857D-7E60F8E9085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核对回答与选择工具">
            <a:extLst>
              <a:ext uri="{FF2B5EF4-FFF2-40B4-BE49-F238E27FC236}">
                <ns2:creationId id="{E7E52D91-DE1E-4908-ADF2-BF7411D2B485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核对回答与选择工具</a:t>
            </a:r>
          </a:p>
        </p:txBody>
      </p:sp>
      <p:sp>
        <p:nvSpPr>
          <p:cNvPr id="3" name="有依据，还是需要核实？">
            <a:extLst>
              <a:ext uri="{FF2B5EF4-FFF2-40B4-BE49-F238E27FC236}">
                <ns2:creationId id="{A0CF3613-608A-4AD5-8979-846149C3673F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有依据，还是需要核实？</a:t>
            </a:r>
          </a:p>
        </p:txBody>
      </p:sp>
      <p:sp>
        <p:nvSpPr>
          <p:cNvPr id="4" name="">
            <a:extLst>
              <a:ext uri="{FF2B5EF4-FFF2-40B4-BE49-F238E27FC236}">
                <ns2:creationId id="{C02D9619-C41D-4805-B5E1-E9809F447D6C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D6E24CFF-EA35-43C7-AE5C-222D91B080B0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4">
            <a:extLst>
              <a:ext uri="{FF2B5EF4-FFF2-40B4-BE49-F238E27FC236}">
                <ns2:creationId id="{4A95A526-C252-42CF-BA3C-F542345376C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34</a:t>
            </a:r>
          </a:p>
        </p:txBody>
      </p:sp>
      <p:sp>
        <p:nvSpPr>
          <p:cNvPr id="7" name="">
            <a:extLst>
              <a:ext uri="{FF2B5EF4-FFF2-40B4-BE49-F238E27FC236}">
                <ns2:creationId id="{D8C8E51B-A557-4AC8-B7FC-765A62045F81}"/>
              </a:ext>
            </a:extLst>
          </p:cNvPr>
          <p:cNvSpPr>
            <a:spLocks noGrp="1"/>
          </p:cNvSpPr>
          <p:nvPr/>
        </p:nvSpPr>
        <p:spPr>
          <a:xfrm>
            <a:off x="6048375" y="2343150"/>
            <a:ext cx="9525" cy="261937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8" name="每周五16:30">
            <a:extLst>
              <a:ext uri="{FF2B5EF4-FFF2-40B4-BE49-F238E27FC236}">
                <ns2:creationId id="{018E6F22-3E7A-4F96-9C0F-9578D56B6A61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每周五16:30</a:t>
            </a:r>
          </a:p>
        </p:txBody>
      </p:sp>
      <p:sp>
        <p:nvSpPr>
          <p:cNvPr id="9" name="原资料明确写了活动时间。&#10;这条说法有依据。">
            <a:extLst>
              <a:ext uri="{FF2B5EF4-FFF2-40B4-BE49-F238E27FC236}">
                <ns2:creationId id="{0F621831-9A7D-4CA1-8F46-831D522DED44}"/>
              </a:ext>
            </a:extLst>
          </p:cNvPr>
          <p:cNvSpPr>
            <a:spLocks noGrp="1"/>
          </p:cNvSpPr>
          <p:nvPr/>
        </p:nvSpPr>
        <p:spPr>
          <a:xfrm>
            <a:off x="609600" y="296227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原资料明确写了活动时间。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这条说法有依据。</a:t>
            </a:r>
          </a:p>
        </p:txBody>
      </p:sp>
      <p:sp>
        <p:nvSpPr>
          <p:cNvPr id="10" name="每学期50元材料费">
            <a:extLst>
              <a:ext uri="{FF2B5EF4-FFF2-40B4-BE49-F238E27FC236}">
                <ns2:creationId id="{53B397D6-9754-4879-AD8C-65E588C38C76}"/>
              </a:ext>
            </a:extLst>
          </p:cNvPr>
          <p:cNvSpPr>
            <a:spLocks noGrp="1"/>
          </p:cNvSpPr>
          <p:nvPr/>
        </p:nvSpPr>
        <p:spPr>
          <a:xfrm>
            <a:off x="6515100" y="239077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每学期50元材料费</a:t>
            </a:r>
          </a:p>
        </p:txBody>
      </p:sp>
      <p:sp>
        <p:nvSpPr>
          <p:cNvPr id="11" name="原资料没有收费信息。&#10;目前无法据此确认。">
            <a:extLst>
              <a:ext uri="{FF2B5EF4-FFF2-40B4-BE49-F238E27FC236}">
                <ns2:creationId id="{28389FDB-7003-4A12-B6DF-121A7A60E7DC}"/>
              </a:ext>
            </a:extLst>
          </p:cNvPr>
          <p:cNvSpPr>
            <a:spLocks noGrp="1"/>
          </p:cNvSpPr>
          <p:nvPr/>
        </p:nvSpPr>
        <p:spPr>
          <a:xfrm>
            <a:off x="6515100" y="296227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原资料没有收费信息。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目前无法据此确认。</a:t>
            </a:r>
          </a:p>
        </p:txBody>
      </p:sp>
      <p:sp>
        <p:nvSpPr>
          <p:cNvPr id="12" name="下一步：查社团正式通知，或向社团老师询问。">
            <a:extLst>
              <a:ext uri="{FF2B5EF4-FFF2-40B4-BE49-F238E27FC236}">
                <ns2:creationId id="{4FECDEDA-AD5E-40A1-B713-B8E12CD22627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109728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下一步：查社团正式通知，或向社团老师询问。</a:t>
            </a:r>
          </a:p>
        </p:txBody>
      </p:sp>
      <p:sp>
        <p:nvSpPr>
          <p:cNvPr id="13" name="">
            <a:extLst>
              <a:ext uri="{FF2B5EF4-FFF2-40B4-BE49-F238E27FC236}">
                <ns2:creationId id="{68D9A7A5-9129-43E7-8F83-4FAEBA71E835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4" name="“资料没写”不等于“现实中一定不存在”。">
            <a:extLst>
              <a:ext uri="{FF2B5EF4-FFF2-40B4-BE49-F238E27FC236}">
                <ns2:creationId id="{402A3725-7C1F-4E5A-B24E-E5004DE43E0C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“资料没写”不等于“现实中一定不存在”。</a:t>
            </a:r>
          </a:p>
        </p:txBody>
      </p:sp>
    </p:spTree>
    <p:extLst>
      <p:ext uri="{BB962C8B-B14F-4D97-AF65-F5344CB8AC3E}">
        <p14:creationId val="1066443192"/>
      </p:ext>
    </p:extLst>
  </p:cSld>
</p:sld>
</file>

<file path=ppt/slides/slide3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20D10073-2349-4A54-8C69-D7782795EB2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核对回答与选择工具">
            <a:extLst>
              <a:ext uri="{FF2B5EF4-FFF2-40B4-BE49-F238E27FC236}">
                <ns2:creationId id="{8B08B63A-9162-4C1A-9AE9-6E6873CE7596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核对回答与选择工具</a:t>
            </a:r>
          </a:p>
        </p:txBody>
      </p:sp>
      <p:sp>
        <p:nvSpPr>
          <p:cNvPr id="3" name="按任务选择工具">
            <a:extLst>
              <a:ext uri="{FF2B5EF4-FFF2-40B4-BE49-F238E27FC236}">
                <ns2:creationId id="{AE1DE591-933B-4E72-8CFA-CD284F472F4C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按任务选择工具</a:t>
            </a:r>
          </a:p>
        </p:txBody>
      </p:sp>
      <p:sp>
        <p:nvSpPr>
          <p:cNvPr id="4" name="">
            <a:extLst>
              <a:ext uri="{FF2B5EF4-FFF2-40B4-BE49-F238E27FC236}">
                <ns2:creationId id="{23766741-AFD7-4828-8C00-8A546C8FF7F4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C7C421E1-F718-4D41-A19C-6D9818C72736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5">
            <a:extLst>
              <a:ext uri="{FF2B5EF4-FFF2-40B4-BE49-F238E27FC236}">
                <ns2:creationId id="{8BB8B716-590A-4254-A8AC-1030DB7E4894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35</a:t>
            </a:r>
          </a:p>
        </p:txBody>
      </p:sp>
      <p:sp>
        <p:nvSpPr>
          <p:cNvPr id="7" name="先说明需要完成什么，再选择做法。">
            <a:extLst>
              <a:ext uri="{FF2B5EF4-FFF2-40B4-BE49-F238E27FC236}">
                <ns2:creationId id="{656A11DE-0D2F-4114-9964-A710D5788BDA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先说明需要完成什么，再选择做法。</a:t>
            </a:r>
          </a:p>
        </p:txBody>
      </p:sp>
      <p:sp>
        <p:nvSpPr>
          <p:cNvPr id="8" name="">
            <a:extLst>
              <a:ext uri="{FF2B5EF4-FFF2-40B4-BE49-F238E27FC236}">
                <ns2:creationId id="{AD28421A-5422-4648-8B46-647A05EE80A3}"/>
              </a:ext>
            </a:extLst>
          </p:cNvPr>
          <p:cNvSpPr>
            <a:spLocks noGrp="1"/>
          </p:cNvSpPr>
          <p:nvPr/>
        </p:nvSpPr>
        <p:spPr>
          <a:xfrm>
            <a:off x="6048375" y="2343150"/>
            <a:ext cx="9525" cy="261937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9" name="固定时间提醒">
            <a:extLst>
              <a:ext uri="{FF2B5EF4-FFF2-40B4-BE49-F238E27FC236}">
                <ns2:creationId id="{29105281-4C12-436C-9A9D-F1C4472A6B52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固定时间提醒</a:t>
            </a:r>
          </a:p>
        </p:txBody>
      </p:sp>
      <p:sp>
        <p:nvSpPr>
          <p:cNvPr id="10" name="每周五17:00提醒带运动鞋。&#10;&#10;时间与内容固定，&#10;日历或定时程序就能完成。">
            <a:extLst>
              <a:ext uri="{FF2B5EF4-FFF2-40B4-BE49-F238E27FC236}">
                <ns2:creationId id="{6578EF28-2656-4380-A82B-88A088F25A03}"/>
              </a:ext>
            </a:extLst>
          </p:cNvPr>
          <p:cNvSpPr>
            <a:spLocks noGrp="1"/>
          </p:cNvSpPr>
          <p:nvPr/>
        </p:nvSpPr>
        <p:spPr>
          <a:xfrm>
            <a:off x="609600" y="296227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每周五17:00提醒带运动鞋。</a:t>
            </a:r>
          </a:p>
          <a:p>
            <a:r>
              <a:t/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时间与内容固定，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日历或定时程序就能完成。</a:t>
            </a:r>
          </a:p>
        </p:txBody>
      </p:sp>
      <p:sp>
        <p:nvSpPr>
          <p:cNvPr id="11" name="回答社团的不同问题">
            <a:extLst>
              <a:ext uri="{FF2B5EF4-FFF2-40B4-BE49-F238E27FC236}">
                <ns2:creationId id="{E0E21466-C4ED-46F4-A184-E0A531BB9192}"/>
              </a:ext>
            </a:extLst>
          </p:cNvPr>
          <p:cNvSpPr>
            <a:spLocks noGrp="1"/>
          </p:cNvSpPr>
          <p:nvPr/>
        </p:nvSpPr>
        <p:spPr>
          <a:xfrm>
            <a:off x="6515100" y="2390775"/>
            <a:ext cx="5067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回答社团的不同问题</a:t>
            </a:r>
          </a:p>
        </p:txBody>
      </p:sp>
      <p:sp>
        <p:nvSpPr>
          <p:cNvPr id="12" name="问题表达不同，资料内容较多。&#10;&#10;可考虑语言模型配资料检索，&#10;并核对关键事实。">
            <a:extLst>
              <a:ext uri="{FF2B5EF4-FFF2-40B4-BE49-F238E27FC236}">
                <ns2:creationId id="{0A810415-0F12-4FED-9AFC-A39F9ACB4056}"/>
              </a:ext>
            </a:extLst>
          </p:cNvPr>
          <p:cNvSpPr>
            <a:spLocks noGrp="1"/>
          </p:cNvSpPr>
          <p:nvPr/>
        </p:nvSpPr>
        <p:spPr>
          <a:xfrm>
            <a:off x="6515100" y="2962275"/>
            <a:ext cx="5067300" cy="2114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问题表达不同，资料内容较多。</a:t>
            </a:r>
          </a:p>
          <a:p>
            <a:r>
              <a:t/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可考虑语言模型配资料检索，</a:t>
            </a:r>
          </a:p>
          <a:p>
            <a:pPr algn="l">
              <a:lnSpc>
                <a:spcPct val="122000"/>
              </a:lnSpc>
              <a:buNone/>
              <a:def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并核对关键事实。</a:t>
            </a:r>
          </a:p>
        </p:txBody>
      </p:sp>
      <p:sp>
        <p:nvSpPr>
          <p:cNvPr id="13" name="">
            <a:extLst>
              <a:ext uri="{FF2B5EF4-FFF2-40B4-BE49-F238E27FC236}">
                <ns2:creationId id="{81C271F1-62DA-43BC-8BC1-1A4DB02A94F0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4" name="资料少、问题固定时，整理好的问答页也可能够用。">
            <a:extLst>
              <a:ext uri="{FF2B5EF4-FFF2-40B4-BE49-F238E27FC236}">
                <ns2:creationId id="{A1BB4DEC-2A6E-4C1D-B750-6FDD3086EAC9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资料少、问题固定时，整理好的问答页也可能够用。</a:t>
            </a:r>
          </a:p>
        </p:txBody>
      </p:sp>
    </p:spTree>
    <p:extLst>
      <p:ext uri="{BB962C8B-B14F-4D97-AF65-F5344CB8AC3E}">
        <p14:creationId val="1877568111"/>
      </p:ext>
    </p:extLst>
  </p:cSld>
</p:sld>
</file>

<file path=ppt/slides/slide3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E55DF347-DF0A-4C11-A5C6-BE7ABC9D402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理解 AI 的表达">
            <a:extLst>
              <a:ext uri="{FF2B5EF4-FFF2-40B4-BE49-F238E27FC236}">
                <ns2:creationId id="{B3E53439-3E3E-4B6F-B957-1D20FACAEC9E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理解 AI 的表达</a:t>
            </a:r>
          </a:p>
        </p:txBody>
      </p:sp>
      <p:sp>
        <p:nvSpPr>
          <p:cNvPr id="3" name="怎样理解AI说的“很高兴”">
            <a:extLst>
              <a:ext uri="{FF2B5EF4-FFF2-40B4-BE49-F238E27FC236}">
                <ns2:creationId id="{317904C1-03AF-4F2C-9189-CC6F40056D2A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怎样理解AI说的“很高兴”</a:t>
            </a:r>
          </a:p>
        </p:txBody>
      </p:sp>
      <p:sp>
        <p:nvSpPr>
          <p:cNvPr id="4" name="">
            <a:extLst>
              <a:ext uri="{FF2B5EF4-FFF2-40B4-BE49-F238E27FC236}">
                <ns2:creationId id="{18EAEA15-A421-4B0D-8263-9D5B68EA971E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F4F650C9-0C3A-4703-BEBF-8B83E9CB34CB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6">
            <a:extLst>
              <a:ext uri="{FF2B5EF4-FFF2-40B4-BE49-F238E27FC236}">
                <ns2:creationId id="{5F61AD9D-F8C8-4AED-B726-CC62C60CC3DD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36</a:t>
            </a:r>
          </a:p>
        </p:txBody>
      </p:sp>
      <p:sp>
        <p:nvSpPr>
          <p:cNvPr id="7" name="“很高兴帮你完成这个作品。”">
            <a:extLst>
              <a:ext uri="{FF2B5EF4-FFF2-40B4-BE49-F238E27FC236}">
                <ns2:creationId id="{D441CFEF-950B-48D9-9A8C-CAF4228F1B64}"/>
              </a:ext>
            </a:extLst>
          </p:cNvPr>
          <p:cNvSpPr>
            <a:spLocks noGrp="1"/>
          </p:cNvSpPr>
          <p:nvPr/>
        </p:nvSpPr>
        <p:spPr>
          <a:xfrm>
            <a:off x="609600" y="25527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4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“很高兴帮你完成这个作品。”</a:t>
            </a:r>
          </a:p>
        </p:txBody>
      </p:sp>
      <p:sp>
        <p:nvSpPr>
          <p:cNvPr id="8" name="">
            <a:extLst>
              <a:ext uri="{FF2B5EF4-FFF2-40B4-BE49-F238E27FC236}">
                <ns2:creationId id="{6555D965-EF0B-4729-A586-6442D8440F7F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9" name="语言模型能根据上下文生成合适的表达。&#10;仅凭这句话，不能判断它有人的感受和经历。">
            <a:extLst>
              <a:ext uri="{FF2B5EF4-FFF2-40B4-BE49-F238E27FC236}">
                <ns2:creationId id="{3ADDF38B-ABC4-4B8E-838F-9FD3B29A723C}"/>
              </a:ext>
            </a:extLst>
          </p:cNvPr>
          <p:cNvSpPr>
            <a:spLocks noGrp="1"/>
          </p:cNvSpPr>
          <p:nvPr/>
        </p:nvSpPr>
        <p:spPr>
          <a:xfrm>
            <a:off x="609600" y="4286250"/>
            <a:ext cx="10972800" cy="1114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语言模型能根据上下文生成合适的表达。</a:t>
            </a:r>
          </a:p>
          <a:p>
            <a:pPr algn="l">
              <a:lnSpc>
                <a:spcPct val="122000"/>
              </a:lnSpc>
              <a:buNone/>
              <a:defRPr sz="24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仅凭这句话，不能判断它有人的感受和经历。</a:t>
            </a:r>
          </a:p>
        </p:txBody>
      </p:sp>
      <p:sp>
        <p:nvSpPr>
          <p:cNvPr id="10" name="">
            <a:extLst>
              <a:ext uri="{FF2B5EF4-FFF2-40B4-BE49-F238E27FC236}">
                <ns2:creationId id="{05C4C5AF-1017-48CF-ACA1-01D5D4EC8F13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1" name="可以自然交流，也要理解它怎样生成回答。">
            <a:extLst>
              <a:ext uri="{FF2B5EF4-FFF2-40B4-BE49-F238E27FC236}">
                <ns2:creationId id="{BEC910EC-41E9-447B-B79D-FA668EC416D1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可以自然交流，也要理解它怎样生成回答。</a:t>
            </a:r>
          </a:p>
        </p:txBody>
      </p:sp>
    </p:spTree>
    <p:extLst>
      <p:ext uri="{BB962C8B-B14F-4D97-AF65-F5344CB8AC3E}">
        <p14:creationId val="2047208276"/>
      </p:ext>
    </p:extLst>
  </p:cSld>
</p:sld>
</file>

<file path=ppt/slides/slide3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1" name="">
            <a:extLst>
              <a:ext uri="{FF2B5EF4-FFF2-40B4-BE49-F238E27FC236}">
                <ns2:creationId id="{81544690-E5DC-4420-A431-1AD12E23691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使用 AI 的具体做法">
            <a:extLst>
              <a:ext uri="{FF2B5EF4-FFF2-40B4-BE49-F238E27FC236}">
                <ns2:creationId id="{6441B70C-4EE4-4173-BB32-76581DF64186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使用 AI 的具体做法</a:t>
            </a:r>
          </a:p>
        </p:txBody>
      </p:sp>
      <p:sp>
        <p:nvSpPr>
          <p:cNvPr id="3" name="使用AI时的三次检查">
            <a:extLst>
              <a:ext uri="{FF2B5EF4-FFF2-40B4-BE49-F238E27FC236}">
                <ns2:creationId id="{25556618-DC0F-4450-B9E7-F029436958F3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使用AI时的三次检查</a:t>
            </a:r>
          </a:p>
        </p:txBody>
      </p:sp>
      <p:sp>
        <p:nvSpPr>
          <p:cNvPr id="4" name="">
            <a:extLst>
              <a:ext uri="{FF2B5EF4-FFF2-40B4-BE49-F238E27FC236}">
                <ns2:creationId id="{7F4FB90F-83EF-4CCD-8241-9FAC2E5CB9CD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85AF6938-3C06-4D28-88B1-A96431668502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7">
            <a:extLst>
              <a:ext uri="{FF2B5EF4-FFF2-40B4-BE49-F238E27FC236}">
                <ns2:creationId id="{34EC8A67-C953-4909-B98D-B842F9D18D19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37</a:t>
            </a:r>
          </a:p>
        </p:txBody>
      </p:sp>
      <p:sp>
        <p:nvSpPr>
          <p:cNvPr id="7" name="01">
            <a:extLst>
              <a:ext uri="{FF2B5EF4-FFF2-40B4-BE49-F238E27FC236}">
                <ns2:creationId id="{226CB3FB-8323-42C9-85CD-84110A8623DD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8" name="">
            <a:extLst>
              <a:ext uri="{FF2B5EF4-FFF2-40B4-BE49-F238E27FC236}">
                <ns2:creationId id="{303273B5-F148-4142-8840-A90BCFA6C85B}"/>
              </a:ext>
            </a:extLst>
          </p:cNvPr>
          <p:cNvSpPr>
            <a:spLocks noGrp="1"/>
          </p:cNvSpPr>
          <p:nvPr/>
        </p:nvSpPr>
        <p:spPr>
          <a:xfrm>
            <a:off x="609600" y="3076575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9" name="提交资料前">
            <a:extLst>
              <a:ext uri="{FF2B5EF4-FFF2-40B4-BE49-F238E27FC236}">
                <ns2:creationId id="{B9CF26E7-9F04-452E-8C65-B03FBDEE5DD9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提交资料前</a:t>
            </a:r>
          </a:p>
        </p:txBody>
      </p:sp>
      <p:sp>
        <p:nvSpPr>
          <p:cNvPr id="10" name="删除不必要的姓名、&#10;电话、住址和密码。">
            <a:extLst>
              <a:ext uri="{FF2B5EF4-FFF2-40B4-BE49-F238E27FC236}">
                <ns2:creationId id="{4191BA54-F792-4710-AD8D-0AC5DC19E43A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删除不必要的姓名、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电话、住址和密码。</a:t>
            </a:r>
          </a:p>
        </p:txBody>
      </p:sp>
      <p:sp>
        <p:nvSpPr>
          <p:cNvPr id="11" name="02">
            <a:extLst>
              <a:ext uri="{FF2B5EF4-FFF2-40B4-BE49-F238E27FC236}">
                <ns2:creationId id="{5C9F7283-4CA6-4B4C-BA81-5A6771D54D77}"/>
              </a:ext>
            </a:extLst>
          </p:cNvPr>
          <p:cNvSpPr>
            <a:spLocks noGrp="1"/>
          </p:cNvSpPr>
          <p:nvPr/>
        </p:nvSpPr>
        <p:spPr>
          <a:xfrm>
            <a:off x="4400550" y="2333625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2" name="">
            <a:extLst>
              <a:ext uri="{FF2B5EF4-FFF2-40B4-BE49-F238E27FC236}">
                <ns2:creationId id="{643434F9-89C7-43B8-97A3-013FA3A92660}"/>
              </a:ext>
            </a:extLst>
          </p:cNvPr>
          <p:cNvSpPr>
            <a:spLocks noGrp="1"/>
          </p:cNvSpPr>
          <p:nvPr/>
        </p:nvSpPr>
        <p:spPr>
          <a:xfrm>
            <a:off x="4400550" y="3076575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3" name="采用回答前">
            <a:extLst>
              <a:ext uri="{FF2B5EF4-FFF2-40B4-BE49-F238E27FC236}">
                <ns2:creationId id="{2509E911-7B7C-4381-9D4F-CCC3F38F539B}"/>
              </a:ext>
            </a:extLst>
          </p:cNvPr>
          <p:cNvSpPr>
            <a:spLocks noGrp="1"/>
          </p:cNvSpPr>
          <p:nvPr/>
        </p:nvSpPr>
        <p:spPr>
          <a:xfrm>
            <a:off x="4400550" y="3286125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采用回答前</a:t>
            </a:r>
          </a:p>
        </p:txBody>
      </p:sp>
      <p:sp>
        <p:nvSpPr>
          <p:cNvPr id="14" name="核对日期、费用等&#10;关键事实，找到来源。">
            <a:extLst>
              <a:ext uri="{FF2B5EF4-FFF2-40B4-BE49-F238E27FC236}">
                <ns2:creationId id="{FD37AB44-4F66-4DAC-B501-92DC6080D475}"/>
              </a:ext>
            </a:extLst>
          </p:cNvPr>
          <p:cNvSpPr>
            <a:spLocks noGrp="1"/>
          </p:cNvSpPr>
          <p:nvPr/>
        </p:nvSpPr>
        <p:spPr>
          <a:xfrm>
            <a:off x="4400550" y="3962400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核对日期、费用等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关键事实，找到来源。</a:t>
            </a:r>
          </a:p>
        </p:txBody>
      </p:sp>
      <p:sp>
        <p:nvSpPr>
          <p:cNvPr id="15" name="03">
            <a:extLst>
              <a:ext uri="{FF2B5EF4-FFF2-40B4-BE49-F238E27FC236}">
                <ns2:creationId id="{CF8B392C-8A80-483E-8DFA-1A1423E5E21E}"/>
              </a:ext>
            </a:extLst>
          </p:cNvPr>
          <p:cNvSpPr>
            <a:spLocks noGrp="1"/>
          </p:cNvSpPr>
          <p:nvPr/>
        </p:nvSpPr>
        <p:spPr>
          <a:xfrm>
            <a:off x="8191500" y="2333625"/>
            <a:ext cx="33909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">
            <a:extLst>
              <a:ext uri="{FF2B5EF4-FFF2-40B4-BE49-F238E27FC236}">
                <ns2:creationId id="{EB489698-1BAC-4765-84CC-1DFF27071FBA}"/>
              </a:ext>
            </a:extLst>
          </p:cNvPr>
          <p:cNvSpPr>
            <a:spLocks noGrp="1"/>
          </p:cNvSpPr>
          <p:nvPr/>
        </p:nvSpPr>
        <p:spPr>
          <a:xfrm>
            <a:off x="8191500" y="3076575"/>
            <a:ext cx="33909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7" name="交付作品前">
            <a:extLst>
              <a:ext uri="{FF2B5EF4-FFF2-40B4-BE49-F238E27FC236}">
                <ns2:creationId id="{CA6097EA-609F-493F-BA77-E36B2E365A3D}"/>
              </a:ext>
            </a:extLst>
          </p:cNvPr>
          <p:cNvSpPr>
            <a:spLocks noGrp="1"/>
          </p:cNvSpPr>
          <p:nvPr/>
        </p:nvSpPr>
        <p:spPr>
          <a:xfrm>
            <a:off x="8191500" y="3286125"/>
            <a:ext cx="33909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交付作品前</a:t>
            </a:r>
          </a:p>
        </p:txBody>
      </p:sp>
      <p:sp>
        <p:nvSpPr>
          <p:cNvPr id="18" name="自己运行一次，&#10;再请同学按说明试用。">
            <a:extLst>
              <a:ext uri="{FF2B5EF4-FFF2-40B4-BE49-F238E27FC236}">
                <ns2:creationId id="{A4AFD533-0EE5-42E0-9602-D337A9439385}"/>
              </a:ext>
            </a:extLst>
          </p:cNvPr>
          <p:cNvSpPr>
            <a:spLocks noGrp="1"/>
          </p:cNvSpPr>
          <p:nvPr/>
        </p:nvSpPr>
        <p:spPr>
          <a:xfrm>
            <a:off x="8191500" y="3962400"/>
            <a:ext cx="3390900" cy="1457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自己运行一次，</a:t>
            </a:r>
          </a:p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再请同学按说明试用。</a:t>
            </a:r>
          </a:p>
        </p:txBody>
      </p:sp>
      <p:sp>
        <p:nvSpPr>
          <p:cNvPr id="19" name="">
            <a:extLst>
              <a:ext uri="{FF2B5EF4-FFF2-40B4-BE49-F238E27FC236}">
                <ns2:creationId id="{41026677-3B71-41FA-BDBC-7E5967119793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0" name="把检查落实到具体的资料、事实和操作。">
            <a:extLst>
              <a:ext uri="{FF2B5EF4-FFF2-40B4-BE49-F238E27FC236}">
                <ns2:creationId id="{09A5CE2A-3F07-4883-A49C-879563ABA448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把检查落实到具体的资料、事实和操作。</a:t>
            </a:r>
          </a:p>
        </p:txBody>
      </p:sp>
    </p:spTree>
    <p:extLst>
      <p:ext uri="{BB962C8B-B14F-4D97-AF65-F5344CB8AC3E}">
        <p14:creationId val="1418683266"/>
      </p:ext>
    </p:extLst>
  </p:cSld>
</p:sld>
</file>

<file path=ppt/slides/slide3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1" name="">
            <a:extLst>
              <a:ext uri="{FF2B5EF4-FFF2-40B4-BE49-F238E27FC236}">
                <ns2:creationId id="{BFB1E5B4-77A0-49E0-81DF-7558531C7BF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提出作品想法">
            <a:extLst>
              <a:ext uri="{FF2B5EF4-FFF2-40B4-BE49-F238E27FC236}">
                <ns2:creationId id="{688FFD5E-06E1-4639-82AD-DCA709CF9BC0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提出作品想法</a:t>
            </a:r>
          </a:p>
        </p:txBody>
      </p:sp>
      <p:sp>
        <p:nvSpPr>
          <p:cNvPr id="3" name="一个小工具，需要想清什么？">
            <a:extLst>
              <a:ext uri="{FF2B5EF4-FFF2-40B4-BE49-F238E27FC236}">
                <ns2:creationId id="{0E743F54-312B-4730-BB82-3E5EB9E41221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一个小工具，需要想清什么？</a:t>
            </a:r>
          </a:p>
        </p:txBody>
      </p:sp>
      <p:sp>
        <p:nvSpPr>
          <p:cNvPr id="4" name="">
            <a:extLst>
              <a:ext uri="{FF2B5EF4-FFF2-40B4-BE49-F238E27FC236}">
                <ns2:creationId id="{C3FB092F-D7B5-45EB-A14E-2F967E9D680E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B5BF53CE-B8E1-498B-B090-24C0D3C42BBD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8">
            <a:extLst>
              <a:ext uri="{FF2B5EF4-FFF2-40B4-BE49-F238E27FC236}">
                <ns2:creationId id="{B0AE4A16-EB64-47C6-870A-B62EBEFC49E9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38</a:t>
            </a:r>
          </a:p>
        </p:txBody>
      </p:sp>
      <p:sp>
        <p:nvSpPr>
          <p:cNvPr id="7" name="示例：帮助第一次参观校园展览的同学。">
            <a:extLst>
              <a:ext uri="{FF2B5EF4-FFF2-40B4-BE49-F238E27FC236}">
                <ns2:creationId id="{99B386EC-48E1-4EC4-A258-2DE7CBE4B5D0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示例：帮助第一次参观校园展览的同学。</a:t>
            </a:r>
          </a:p>
        </p:txBody>
      </p:sp>
      <p:sp>
        <p:nvSpPr>
          <p:cNvPr id="8" name="给谁用">
            <a:extLst>
              <a:ext uri="{FF2B5EF4-FFF2-40B4-BE49-F238E27FC236}">
                <ns2:creationId id="{4687F957-4ABE-4F0C-846B-4DA237989157}"/>
              </a:ext>
            </a:extLst>
          </p:cNvPr>
          <p:cNvSpPr>
            <a:spLocks noGrp="1"/>
          </p:cNvSpPr>
          <p:nvPr/>
        </p:nvSpPr>
        <p:spPr>
          <a:xfrm>
            <a:off x="609600" y="2466975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给谁用</a:t>
            </a:r>
          </a:p>
        </p:txBody>
      </p:sp>
      <p:sp>
        <p:nvSpPr>
          <p:cNvPr id="9" name="第一次参观展览的同学">
            <a:extLst>
              <a:ext uri="{FF2B5EF4-FFF2-40B4-BE49-F238E27FC236}">
                <ns2:creationId id="{FE160CE0-8BB7-4F96-946D-A5CAC921BCA0}"/>
              </a:ext>
            </a:extLst>
          </p:cNvPr>
          <p:cNvSpPr>
            <a:spLocks noGrp="1"/>
          </p:cNvSpPr>
          <p:nvPr/>
        </p:nvSpPr>
        <p:spPr>
          <a:xfrm>
            <a:off x="3762375" y="2438400"/>
            <a:ext cx="78200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第一次参观展览的同学</a:t>
            </a:r>
          </a:p>
        </p:txBody>
      </p:sp>
      <p:sp>
        <p:nvSpPr>
          <p:cNvPr id="10" name="">
            <a:extLst>
              <a:ext uri="{FF2B5EF4-FFF2-40B4-BE49-F238E27FC236}">
                <ns2:creationId id="{7C18E000-4037-45A6-924C-2D10A1F2D679}"/>
              </a:ext>
            </a:extLst>
          </p:cNvPr>
          <p:cNvSpPr>
            <a:spLocks noGrp="1"/>
          </p:cNvSpPr>
          <p:nvPr/>
        </p:nvSpPr>
        <p:spPr>
          <a:xfrm>
            <a:off x="3762375" y="3009900"/>
            <a:ext cx="7820025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1" name="做什么">
            <a:extLst>
              <a:ext uri="{FF2B5EF4-FFF2-40B4-BE49-F238E27FC236}">
                <ns2:creationId id="{6910C9A2-5FD2-40B5-9CDD-1D31CDEBD0C0}"/>
              </a:ext>
            </a:extLst>
          </p:cNvPr>
          <p:cNvSpPr>
            <a:spLocks noGrp="1"/>
          </p:cNvSpPr>
          <p:nvPr/>
        </p:nvSpPr>
        <p:spPr>
          <a:xfrm>
            <a:off x="609600" y="321945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12" name="介绍一件展品，回答相关问题">
            <a:extLst>
              <a:ext uri="{FF2B5EF4-FFF2-40B4-BE49-F238E27FC236}">
                <ns2:creationId id="{7F45E58E-20E5-4C8F-8804-5F7769DD1586}"/>
              </a:ext>
            </a:extLst>
          </p:cNvPr>
          <p:cNvSpPr>
            <a:spLocks noGrp="1"/>
          </p:cNvSpPr>
          <p:nvPr/>
        </p:nvSpPr>
        <p:spPr>
          <a:xfrm>
            <a:off x="3762375" y="3190875"/>
            <a:ext cx="78200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介绍一件展品，回答相关问题</a:t>
            </a:r>
          </a:p>
        </p:txBody>
      </p:sp>
      <p:sp>
        <p:nvSpPr>
          <p:cNvPr id="13" name="">
            <a:extLst>
              <a:ext uri="{FF2B5EF4-FFF2-40B4-BE49-F238E27FC236}">
                <ns2:creationId id="{07C1E49B-4339-414E-81C8-DF49603FE33B}"/>
              </a:ext>
            </a:extLst>
          </p:cNvPr>
          <p:cNvSpPr>
            <a:spLocks noGrp="1"/>
          </p:cNvSpPr>
          <p:nvPr/>
        </p:nvSpPr>
        <p:spPr>
          <a:xfrm>
            <a:off x="3762375" y="3762375"/>
            <a:ext cx="7820025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4" name="需要什么信息">
            <a:extLst>
              <a:ext uri="{FF2B5EF4-FFF2-40B4-BE49-F238E27FC236}">
                <ns2:creationId id="{BB1E7F97-D0FB-452A-B663-04F7FC042634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需要什么信息</a:t>
            </a:r>
          </a:p>
        </p:txBody>
      </p:sp>
      <p:sp>
        <p:nvSpPr>
          <p:cNvPr id="15" name="可靠的展品资料、参观者的问题">
            <a:extLst>
              <a:ext uri="{FF2B5EF4-FFF2-40B4-BE49-F238E27FC236}">
                <ns2:creationId id="{CE139E2D-95A1-428F-BC8C-0BEB675E5A06}"/>
              </a:ext>
            </a:extLst>
          </p:cNvPr>
          <p:cNvSpPr>
            <a:spLocks noGrp="1"/>
          </p:cNvSpPr>
          <p:nvPr/>
        </p:nvSpPr>
        <p:spPr>
          <a:xfrm>
            <a:off x="3762375" y="3943350"/>
            <a:ext cx="78200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可靠的展品资料、参观者的问题</a:t>
            </a:r>
          </a:p>
        </p:txBody>
      </p:sp>
      <p:sp>
        <p:nvSpPr>
          <p:cNvPr id="16" name="">
            <a:extLst>
              <a:ext uri="{FF2B5EF4-FFF2-40B4-BE49-F238E27FC236}">
                <ns2:creationId id="{9E008DF7-689C-4913-B707-F8C14417272F}"/>
              </a:ext>
            </a:extLst>
          </p:cNvPr>
          <p:cNvSpPr>
            <a:spLocks noGrp="1"/>
          </p:cNvSpPr>
          <p:nvPr/>
        </p:nvSpPr>
        <p:spPr>
          <a:xfrm>
            <a:off x="3762375" y="4514850"/>
            <a:ext cx="7820025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7" name="怎样检查">
            <a:extLst>
              <a:ext uri="{FF2B5EF4-FFF2-40B4-BE49-F238E27FC236}">
                <ns2:creationId id="{714E3329-877E-45C3-8CB8-57E6CEB430DE}"/>
              </a:ext>
            </a:extLst>
          </p:cNvPr>
          <p:cNvSpPr>
            <a:spLocks noGrp="1"/>
          </p:cNvSpPr>
          <p:nvPr/>
        </p:nvSpPr>
        <p:spPr>
          <a:xfrm>
            <a:off x="609600" y="47244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怎样检查</a:t>
            </a:r>
          </a:p>
        </p:txBody>
      </p:sp>
      <p:sp>
        <p:nvSpPr>
          <p:cNvPr id="18" name="请另一组核对回答依据，并试用">
            <a:extLst>
              <a:ext uri="{FF2B5EF4-FFF2-40B4-BE49-F238E27FC236}">
                <ns2:creationId id="{CEC7EA4C-6C16-45E1-BDC1-7CBC0540CF53}"/>
              </a:ext>
            </a:extLst>
          </p:cNvPr>
          <p:cNvSpPr>
            <a:spLocks noGrp="1"/>
          </p:cNvSpPr>
          <p:nvPr/>
        </p:nvSpPr>
        <p:spPr>
          <a:xfrm>
            <a:off x="3762375" y="4695825"/>
            <a:ext cx="78200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请另一组核对回答依据，并试用</a:t>
            </a:r>
          </a:p>
        </p:txBody>
      </p:sp>
      <p:sp>
        <p:nvSpPr>
          <p:cNvPr id="19" name="">
            <a:extLst>
              <a:ext uri="{FF2B5EF4-FFF2-40B4-BE49-F238E27FC236}">
                <ns2:creationId id="{D99E1965-23B4-4343-B510-B1F9CB562439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0" name="主题可以不同，但使用者和任务要具体。">
            <a:extLst>
              <a:ext uri="{FF2B5EF4-FFF2-40B4-BE49-F238E27FC236}">
                <ns2:creationId id="{00E2ED86-7F40-480E-97BC-FF9E19F4384F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主题可以不同，但使用者和任务要具体。</a:t>
            </a:r>
          </a:p>
        </p:txBody>
      </p:sp>
    </p:spTree>
    <p:extLst>
      <p:ext uri="{BB962C8B-B14F-4D97-AF65-F5344CB8AC3E}">
        <p14:creationId val="1697657494"/>
      </p:ext>
    </p:extLst>
  </p:cSld>
</p:sld>
</file>

<file path=ppt/slides/slide3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" name="">
            <a:extLst>
              <a:ext uri="{FF2B5EF4-FFF2-40B4-BE49-F238E27FC236}">
                <ns2:creationId id="{85302A54-A215-4272-ACD0-3AD788F699C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课末记录">
            <a:extLst>
              <a:ext uri="{FF2B5EF4-FFF2-40B4-BE49-F238E27FC236}">
                <ns2:creationId id="{DBFA553E-4659-413C-A13D-B94F837D6DD9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课末记录</a:t>
            </a:r>
          </a:p>
        </p:txBody>
      </p:sp>
      <p:sp>
        <p:nvSpPr>
          <p:cNvPr id="3" name="用四个问题回顾今天">
            <a:extLst>
              <a:ext uri="{FF2B5EF4-FFF2-40B4-BE49-F238E27FC236}">
                <ns2:creationId id="{82DCCDBE-C055-4531-9DB8-BC71186769C6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用四个问题回顾今天</a:t>
            </a:r>
          </a:p>
        </p:txBody>
      </p:sp>
      <p:sp>
        <p:nvSpPr>
          <p:cNvPr id="4" name="">
            <a:extLst>
              <a:ext uri="{FF2B5EF4-FFF2-40B4-BE49-F238E27FC236}">
                <ns2:creationId id="{3DCD327D-659D-4913-8860-A1B4DDDBFF2C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49BE302A-07EA-4CFD-809A-9A9691D2C53F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39">
            <a:extLst>
              <a:ext uri="{FF2B5EF4-FFF2-40B4-BE49-F238E27FC236}">
                <ns2:creationId id="{071D31C8-120D-4549-B0F4-47C80FB1CC4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39</a:t>
            </a:r>
          </a:p>
        </p:txBody>
      </p:sp>
      <p:sp>
        <p:nvSpPr>
          <p:cNvPr id="7" name="独立填写，每题简短回答。第二题可以选今天的分类器。">
            <a:extLst>
              <a:ext uri="{FF2B5EF4-FFF2-40B4-BE49-F238E27FC236}">
                <ns2:creationId id="{60846F12-E3D3-47BE-914F-AD0F10265B0C}"/>
              </a:ext>
            </a:extLst>
          </p:cNvPr>
          <p:cNvSpPr>
            <a:spLocks noGrp="1"/>
          </p:cNvSpPr>
          <p:nvPr/>
        </p:nvSpPr>
        <p:spPr>
          <a:xfrm>
            <a:off x="628650" y="1619250"/>
            <a:ext cx="109347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独立填写，每题简短回答。第二题可以选今天的分类器。</a:t>
            </a:r>
          </a:p>
        </p:txBody>
      </p:sp>
      <p:sp>
        <p:nvSpPr>
          <p:cNvPr id="8" name="4分钟">
            <a:extLst>
              <a:ext uri="{FF2B5EF4-FFF2-40B4-BE49-F238E27FC236}">
                <ns2:creationId id="{A7C79E7C-DE7E-4592-B191-E3C5D5462471}"/>
              </a:ext>
            </a:extLst>
          </p:cNvPr>
          <p:cNvSpPr>
            <a:spLocks noGrp="1"/>
          </p:cNvSpPr>
          <p:nvPr/>
        </p:nvSpPr>
        <p:spPr>
          <a:xfrm>
            <a:off x="10248900" y="2000250"/>
            <a:ext cx="133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80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4分钟</a:t>
            </a:r>
          </a:p>
        </p:txBody>
      </p:sp>
      <p:sp>
        <p:nvSpPr>
          <p:cNvPr id="9" name="01">
            <a:extLst>
              <a:ext uri="{FF2B5EF4-FFF2-40B4-BE49-F238E27FC236}">
                <ns2:creationId id="{64217894-A96A-43AF-B691-27FF7F0674DD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6858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0" name="你还想尝试哪项AI能力？为什么？">
            <a:extLst>
              <a:ext uri="{FF2B5EF4-FFF2-40B4-BE49-F238E27FC236}">
                <ns2:creationId id="{49125855-64F7-4EFE-AB15-1C41603AEF0C}"/>
              </a:ext>
            </a:extLst>
          </p:cNvPr>
          <p:cNvSpPr>
            <a:spLocks noGrp="1"/>
          </p:cNvSpPr>
          <p:nvPr/>
        </p:nvSpPr>
        <p:spPr>
          <a:xfrm>
            <a:off x="1619250" y="2571750"/>
            <a:ext cx="99631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你还想尝试哪项AI能力？为什么？</a:t>
            </a:r>
          </a:p>
        </p:txBody>
      </p:sp>
      <p:sp>
        <p:nvSpPr>
          <p:cNvPr id="11" name="">
            <a:extLst>
              <a:ext uri="{FF2B5EF4-FFF2-40B4-BE49-F238E27FC236}">
                <ns2:creationId id="{B7A797CF-0ECA-41C6-A14C-D13A00BC8B92}"/>
              </a:ext>
            </a:extLst>
          </p:cNvPr>
          <p:cNvSpPr>
            <a:spLocks noGrp="1"/>
          </p:cNvSpPr>
          <p:nvPr/>
        </p:nvSpPr>
        <p:spPr>
          <a:xfrm>
            <a:off x="1619250" y="3143250"/>
            <a:ext cx="996315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2" name="02">
            <a:extLst>
              <a:ext uri="{FF2B5EF4-FFF2-40B4-BE49-F238E27FC236}">
                <ns2:creationId id="{1B767B8A-39E0-4A4D-8FB1-88EA48995E71}"/>
              </a:ext>
            </a:extLst>
          </p:cNvPr>
          <p:cNvSpPr>
            <a:spLocks noGrp="1"/>
          </p:cNvSpPr>
          <p:nvPr/>
        </p:nvSpPr>
        <p:spPr>
          <a:xfrm>
            <a:off x="609600" y="3343275"/>
            <a:ext cx="6858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3" name="选一个例子，说明输入、处理和输出。">
            <a:extLst>
              <a:ext uri="{FF2B5EF4-FFF2-40B4-BE49-F238E27FC236}">
                <ns2:creationId id="{36E117C5-B893-4671-84BA-54F744EE6389}"/>
              </a:ext>
            </a:extLst>
          </p:cNvPr>
          <p:cNvSpPr>
            <a:spLocks noGrp="1"/>
          </p:cNvSpPr>
          <p:nvPr/>
        </p:nvSpPr>
        <p:spPr>
          <a:xfrm>
            <a:off x="1619250" y="3381375"/>
            <a:ext cx="99631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选一个例子，说明输入、处理和输出。</a:t>
            </a:r>
          </a:p>
        </p:txBody>
      </p:sp>
      <p:sp>
        <p:nvSpPr>
          <p:cNvPr id="14" name="">
            <a:extLst>
              <a:ext uri="{FF2B5EF4-FFF2-40B4-BE49-F238E27FC236}">
                <ns2:creationId id="{AA208A42-DAFD-4C32-B7BF-B15FBECDDCAE}"/>
              </a:ext>
            </a:extLst>
          </p:cNvPr>
          <p:cNvSpPr>
            <a:spLocks noGrp="1"/>
          </p:cNvSpPr>
          <p:nvPr/>
        </p:nvSpPr>
        <p:spPr>
          <a:xfrm>
            <a:off x="1619250" y="3952875"/>
            <a:ext cx="996315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5" name="03">
            <a:extLst>
              <a:ext uri="{FF2B5EF4-FFF2-40B4-BE49-F238E27FC236}">
                <ns2:creationId id="{76AB5595-3CF7-4D8B-968B-384608C4F284}"/>
              </a:ext>
            </a:extLst>
          </p:cNvPr>
          <p:cNvSpPr>
            <a:spLocks noGrp="1"/>
          </p:cNvSpPr>
          <p:nvPr/>
        </p:nvSpPr>
        <p:spPr>
          <a:xfrm>
            <a:off x="609600" y="4152900"/>
            <a:ext cx="6858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怎样核实示例回答中的“50元材料费”？">
            <a:extLst>
              <a:ext uri="{FF2B5EF4-FFF2-40B4-BE49-F238E27FC236}">
                <ns2:creationId id="{D49E4AB8-7452-46E2-A94E-88B2F12B3E5F}"/>
              </a:ext>
            </a:extLst>
          </p:cNvPr>
          <p:cNvSpPr>
            <a:spLocks noGrp="1"/>
          </p:cNvSpPr>
          <p:nvPr/>
        </p:nvSpPr>
        <p:spPr>
          <a:xfrm>
            <a:off x="1619250" y="4191000"/>
            <a:ext cx="99631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怎样核实示例回答中的“50元材料费”？</a:t>
            </a:r>
          </a:p>
        </p:txBody>
      </p:sp>
      <p:sp>
        <p:nvSpPr>
          <p:cNvPr id="17" name="">
            <a:extLst>
              <a:ext uri="{FF2B5EF4-FFF2-40B4-BE49-F238E27FC236}">
                <ns2:creationId id="{D2BC2D42-3ECF-49D6-9B45-9B6086092C50}"/>
              </a:ext>
            </a:extLst>
          </p:cNvPr>
          <p:cNvSpPr>
            <a:spLocks noGrp="1"/>
          </p:cNvSpPr>
          <p:nvPr/>
        </p:nvSpPr>
        <p:spPr>
          <a:xfrm>
            <a:off x="1619250" y="4762500"/>
            <a:ext cx="996315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8" name="04">
            <a:extLst>
              <a:ext uri="{FF2B5EF4-FFF2-40B4-BE49-F238E27FC236}">
                <ns2:creationId id="{3A9F564C-A70D-4545-8000-D82740F0714F}"/>
              </a:ext>
            </a:extLst>
          </p:cNvPr>
          <p:cNvSpPr>
            <a:spLocks noGrp="1"/>
          </p:cNvSpPr>
          <p:nvPr/>
        </p:nvSpPr>
        <p:spPr>
          <a:xfrm>
            <a:off x="609600" y="4962525"/>
            <a:ext cx="6858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19" name="你想给谁做什么工具？准备怎样检查？">
            <a:extLst>
              <a:ext uri="{FF2B5EF4-FFF2-40B4-BE49-F238E27FC236}">
                <ns2:creationId id="{81309383-3259-48EB-8C39-044A9FAA0415}"/>
              </a:ext>
            </a:extLst>
          </p:cNvPr>
          <p:cNvSpPr>
            <a:spLocks noGrp="1"/>
          </p:cNvSpPr>
          <p:nvPr/>
        </p:nvSpPr>
        <p:spPr>
          <a:xfrm>
            <a:off x="1619250" y="5000625"/>
            <a:ext cx="99631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你想给谁做什么工具？准备怎样检查？</a:t>
            </a:r>
          </a:p>
        </p:txBody>
      </p:sp>
    </p:spTree>
    <p:extLst>
      <p:ext uri="{BB962C8B-B14F-4D97-AF65-F5344CB8AC3E}">
        <p14:creationId val="905330184"/>
      </p:ext>
    </p:extLst>
  </p:cSld>
</p:sld>
</file>

<file path=ppt/slides/slide4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8" name="">
            <a:extLst>
              <a:ext uri="{FF2B5EF4-FFF2-40B4-BE49-F238E27FC236}">
                <ns2:creationId id="{25466CD9-D8F1-4D58-87B3-31F20F21036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课堂回顾">
            <a:extLst>
              <a:ext uri="{FF2B5EF4-FFF2-40B4-BE49-F238E27FC236}">
                <ns2:creationId id="{B02D0189-E4B8-45BB-A149-F63142C06014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课堂回顾</a:t>
            </a:r>
          </a:p>
        </p:txBody>
      </p:sp>
      <p:sp>
        <p:nvSpPr>
          <p:cNvPr id="3" name="用分类器串起今天的发现">
            <a:extLst>
              <a:ext uri="{FF2B5EF4-FFF2-40B4-BE49-F238E27FC236}">
                <ns2:creationId id="{B04942F9-F586-41BD-93F2-77CE9055D606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用分类器串起今天的发现</a:t>
            </a:r>
          </a:p>
        </p:txBody>
      </p:sp>
      <p:sp>
        <p:nvSpPr>
          <p:cNvPr id="4" name="">
            <a:extLst>
              <a:ext uri="{FF2B5EF4-FFF2-40B4-BE49-F238E27FC236}">
                <ns2:creationId id="{F2E0B937-3992-4BA9-8705-B3A7D9E51F74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6B578BE9-6DD7-4444-A864-F3EB64821DAD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40">
            <a:extLst>
              <a:ext uri="{FF2B5EF4-FFF2-40B4-BE49-F238E27FC236}">
                <ns2:creationId id="{A767E49C-7496-4DC1-B5CE-16CCD9045B6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40</a:t>
            </a:r>
          </a:p>
        </p:txBody>
      </p:sp>
      <p:sp>
        <p:nvSpPr>
          <p:cNvPr id="7" name="任务">
            <a:extLst>
              <a:ext uri="{FF2B5EF4-FFF2-40B4-BE49-F238E27FC236}">
                <ns2:creationId id="{0CEE5E76-AA40-4244-8317-07A12F0027ED}"/>
              </a:ext>
            </a:extLst>
          </p:cNvPr>
          <p:cNvSpPr>
            <a:spLocks noGrp="1"/>
          </p:cNvSpPr>
          <p:nvPr/>
        </p:nvSpPr>
        <p:spPr>
          <a:xfrm>
            <a:off x="609600" y="2324100"/>
            <a:ext cx="2190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任务</a:t>
            </a:r>
          </a:p>
        </p:txBody>
      </p:sp>
      <p:sp>
        <p:nvSpPr>
          <p:cNvPr id="8" name="根据摄像头图片，预测物品类别。">
            <a:extLst>
              <a:ext uri="{FF2B5EF4-FFF2-40B4-BE49-F238E27FC236}">
                <ns2:creationId id="{B93EB505-DE17-4D1F-BBC3-35338BAF42B1}"/>
              </a:ext>
            </a:extLst>
          </p:cNvPr>
          <p:cNvSpPr>
            <a:spLocks noGrp="1"/>
          </p:cNvSpPr>
          <p:nvPr/>
        </p:nvSpPr>
        <p:spPr>
          <a:xfrm>
            <a:off x="3124200" y="2295525"/>
            <a:ext cx="84582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根据摄像头图片，预测物品类别。</a:t>
            </a:r>
          </a:p>
        </p:txBody>
      </p:sp>
      <p:sp>
        <p:nvSpPr>
          <p:cNvPr id="9" name="">
            <a:extLst>
              <a:ext uri="{FF2B5EF4-FFF2-40B4-BE49-F238E27FC236}">
                <ns2:creationId id="{337AE9DB-EA74-4CC7-B302-625EE427B44B}"/>
              </a:ext>
            </a:extLst>
          </p:cNvPr>
          <p:cNvSpPr>
            <a:spLocks noGrp="1"/>
          </p:cNvSpPr>
          <p:nvPr/>
        </p:nvSpPr>
        <p:spPr>
          <a:xfrm>
            <a:off x="609600" y="2962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10" name="学习">
            <a:extLst>
              <a:ext uri="{FF2B5EF4-FFF2-40B4-BE49-F238E27FC236}">
                <ns2:creationId id="{9BCAC4F6-328E-4771-996D-051EBA525072}"/>
              </a:ext>
            </a:extLst>
          </p:cNvPr>
          <p:cNvSpPr>
            <a:spLocks noGrp="1"/>
          </p:cNvSpPr>
          <p:nvPr/>
        </p:nvSpPr>
        <p:spPr>
          <a:xfrm>
            <a:off x="609600" y="3190875"/>
            <a:ext cx="2190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学习</a:t>
            </a:r>
          </a:p>
        </p:txBody>
      </p:sp>
      <p:sp>
        <p:nvSpPr>
          <p:cNvPr id="11" name="用标好类别的样本，建立分类模型。">
            <a:extLst>
              <a:ext uri="{FF2B5EF4-FFF2-40B4-BE49-F238E27FC236}">
                <ns2:creationId id="{72304BC7-7CEB-4C02-A19F-1C53F279B158}"/>
              </a:ext>
            </a:extLst>
          </p:cNvPr>
          <p:cNvSpPr>
            <a:spLocks noGrp="1"/>
          </p:cNvSpPr>
          <p:nvPr/>
        </p:nvSpPr>
        <p:spPr>
          <a:xfrm>
            <a:off x="3124200" y="3162300"/>
            <a:ext cx="84582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用标好类别的样本，建立分类模型。</a:t>
            </a:r>
          </a:p>
        </p:txBody>
      </p:sp>
      <p:sp>
        <p:nvSpPr>
          <p:cNvPr id="12" name="">
            <a:extLst>
              <a:ext uri="{FF2B5EF4-FFF2-40B4-BE49-F238E27FC236}">
                <ns2:creationId id="{7CA1C434-8A4D-485A-BD54-98BCC3869886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13" name="测试">
            <a:extLst>
              <a:ext uri="{FF2B5EF4-FFF2-40B4-BE49-F238E27FC236}">
                <ns2:creationId id="{0F738E4A-8E11-4733-8C76-510B6C105640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2190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测试</a:t>
            </a:r>
          </a:p>
        </p:txBody>
      </p:sp>
      <p:sp>
        <p:nvSpPr>
          <p:cNvPr id="14" name="换背景、角度或物品，检查预测是否改变。">
            <a:extLst>
              <a:ext uri="{FF2B5EF4-FFF2-40B4-BE49-F238E27FC236}">
                <ns2:creationId id="{584749DB-0982-4D58-BC67-94FA3B11F281}"/>
              </a:ext>
            </a:extLst>
          </p:cNvPr>
          <p:cNvSpPr>
            <a:spLocks noGrp="1"/>
          </p:cNvSpPr>
          <p:nvPr/>
        </p:nvSpPr>
        <p:spPr>
          <a:xfrm>
            <a:off x="3124200" y="4029075"/>
            <a:ext cx="84582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换背景、角度或物品，检查预测是否改变。</a:t>
            </a:r>
          </a:p>
        </p:txBody>
      </p:sp>
      <p:sp>
        <p:nvSpPr>
          <p:cNvPr id="15" name="">
            <a:extLst>
              <a:ext uri="{FF2B5EF4-FFF2-40B4-BE49-F238E27FC236}">
                <ns2:creationId id="{F207EC55-15D6-4ABB-ACD8-192A657BD91A}"/>
              </a:ext>
            </a:extLst>
          </p:cNvPr>
          <p:cNvSpPr>
            <a:spLocks noGrp="1"/>
          </p:cNvSpPr>
          <p:nvPr/>
        </p:nvSpPr>
        <p:spPr>
          <a:xfrm>
            <a:off x="609600" y="469582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16" name="改进">
            <a:extLst>
              <a:ext uri="{FF2B5EF4-FFF2-40B4-BE49-F238E27FC236}">
                <ns2:creationId id="{08E69154-4D26-4584-9C07-F077E6CDC272}"/>
              </a:ext>
            </a:extLst>
          </p:cNvPr>
          <p:cNvSpPr>
            <a:spLocks noGrp="1"/>
          </p:cNvSpPr>
          <p:nvPr/>
        </p:nvSpPr>
        <p:spPr>
          <a:xfrm>
            <a:off x="609600" y="4924425"/>
            <a:ext cx="2190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E8AE36"/>
                </a:solidFill>
                <a:latin typeface="Noto Sans CJK SC"/>
                <a:ea typeface="Noto Sans CJK SC"/>
                <a:cs typeface="Noto Sans CJK SC"/>
              </a:rPr>
              <a:t>改进</a:t>
            </a:r>
          </a:p>
        </p:txBody>
      </p:sp>
      <p:sp>
        <p:nvSpPr>
          <p:cNvPr id="17" name="记录现象，补充相关样本，再比较结果。">
            <a:extLst>
              <a:ext uri="{FF2B5EF4-FFF2-40B4-BE49-F238E27FC236}">
                <ns2:creationId id="{6F2A9702-3A91-438E-8BA9-EFE78187929B}"/>
              </a:ext>
            </a:extLst>
          </p:cNvPr>
          <p:cNvSpPr>
            <a:spLocks noGrp="1"/>
          </p:cNvSpPr>
          <p:nvPr/>
        </p:nvSpPr>
        <p:spPr>
          <a:xfrm>
            <a:off x="3124200" y="4895850"/>
            <a:ext cx="84582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4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记录现象，补充相关样本，再比较结果。</a:t>
            </a:r>
          </a:p>
        </p:txBody>
      </p:sp>
    </p:spTree>
    <p:extLst>
      <p:ext uri="{BB962C8B-B14F-4D97-AF65-F5344CB8AC3E}">
        <p14:creationId val="485778840"/>
      </p:ext>
    </p:extLst>
  </p:cSld>
</p:sld>
</file>

<file path=ppt/slides/slide4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122F4D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56E71189-4C0D-4E61-A9ED-8FED368667D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下一课准备">
            <a:extLst>
              <a:ext uri="{FF2B5EF4-FFF2-40B4-BE49-F238E27FC236}">
                <ns2:creationId id="{0367ADF8-D646-46F4-BD1F-0A150E78D8B9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下一课准备</a:t>
            </a:r>
          </a:p>
        </p:txBody>
      </p:sp>
      <p:sp>
        <p:nvSpPr>
          <p:cNvPr id="3" name="下一课：训练自己的分类器">
            <a:extLst>
              <a:ext uri="{FF2B5EF4-FFF2-40B4-BE49-F238E27FC236}">
                <ns2:creationId id="{36CB922B-6C91-4B58-AE3B-81BFCC123FC0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下一课：训练自己的分类器</a:t>
            </a:r>
          </a:p>
        </p:txBody>
      </p:sp>
      <p:sp>
        <p:nvSpPr>
          <p:cNvPr id="4" name="">
            <a:extLst>
              <a:ext uri="{FF2B5EF4-FFF2-40B4-BE49-F238E27FC236}">
                <ns2:creationId id="{6D404E78-6E99-4BE7-ABD4-D3C0F172C28F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42596E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AEE71413-E319-4B1C-AE6A-A99998E6D0C1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41">
            <a:extLst>
              <a:ext uri="{FF2B5EF4-FFF2-40B4-BE49-F238E27FC236}">
                <ns2:creationId id="{1FA13D1B-0215-4045-AAC9-22C972196D20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41</a:t>
            </a:r>
          </a:p>
        </p:txBody>
      </p:sp>
      <p:sp>
        <p:nvSpPr>
          <p:cNvPr id="7" name="准备两类小物品">
            <a:extLst>
              <a:ext uri="{FF2B5EF4-FFF2-40B4-BE49-F238E27FC236}">
                <ns2:creationId id="{C43D3C8B-EE7E-4FC7-BF47-41B1DEFC8528}"/>
              </a:ext>
            </a:extLst>
          </p:cNvPr>
          <p:cNvSpPr>
            <a:spLocks noGrp="1"/>
          </p:cNvSpPr>
          <p:nvPr/>
        </p:nvSpPr>
        <p:spPr>
          <a:xfrm>
            <a:off x="609600" y="2409825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准备两类小物品</a:t>
            </a:r>
          </a:p>
        </p:txBody>
      </p:sp>
      <p:sp>
        <p:nvSpPr>
          <p:cNvPr id="8" name="清洁、轻便、便于拍摄。&#10;例如胶棒和橡皮，每类可以有不同款式。">
            <a:extLst>
              <a:ext uri="{FF2B5EF4-FFF2-40B4-BE49-F238E27FC236}">
                <ns2:creationId id="{149E733B-30F8-41F1-9F7F-5E7B89F5477D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097280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清洁、轻便、便于拍摄。</a:t>
            </a:r>
          </a:p>
          <a:p>
            <a:pPr algn="l">
              <a:lnSpc>
                <a:spcPct val="122000"/>
              </a:lnSpc>
              <a:buNone/>
              <a:def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例如胶棒和橡皮，每类可以有不同款式。</a:t>
            </a:r>
          </a:p>
        </p:txBody>
      </p:sp>
      <p:sp>
        <p:nvSpPr>
          <p:cNvPr id="9" name="想一想：同一种物品，要拍哪些角度和背景？">
            <a:extLst>
              <a:ext uri="{FF2B5EF4-FFF2-40B4-BE49-F238E27FC236}">
                <ns2:creationId id="{0591E652-D7AC-42F6-9EED-CBE0F6DB898C}"/>
              </a:ext>
            </a:extLst>
          </p:cNvPr>
          <p:cNvSpPr>
            <a:spLocks noGrp="1"/>
          </p:cNvSpPr>
          <p:nvPr/>
        </p:nvSpPr>
        <p:spPr>
          <a:xfrm>
            <a:off x="609600" y="48387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想一想：同一种物品，要拍哪些角度和背景？</a:t>
            </a:r>
          </a:p>
        </p:txBody>
      </p:sp>
      <p:sp>
        <p:nvSpPr>
          <p:cNvPr id="10" name="课后观察一个熟悉的AI功能，记录它的输入和结果。">
            <a:extLst>
              <a:ext uri="{FF2B5EF4-FFF2-40B4-BE49-F238E27FC236}">
                <ns2:creationId id="{445B4D35-F75F-4B2B-91BD-91C7B13053AD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109728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8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CEDBE5"/>
                </a:solidFill>
                <a:latin typeface="Noto Sans CJK SC"/>
                <a:ea typeface="Noto Sans CJK SC"/>
                <a:cs typeface="Noto Sans CJK SC"/>
              </a:rPr>
              <a:t>课后观察一个熟悉的AI功能，记录它的输入和结果。</a:t>
            </a:r>
          </a:p>
        </p:txBody>
      </p:sp>
      <p:sp>
        <p:nvSpPr>
          <p:cNvPr id="11" name="">
            <a:extLst>
              <a:ext uri="{FF2B5EF4-FFF2-40B4-BE49-F238E27FC236}">
                <ns2:creationId id="{982340AD-E98A-4861-A0AA-FE9FA16A12C7}"/>
              </a:ext>
            </a:extLst>
          </p:cNvPr>
          <p:cNvSpPr>
            <a:spLocks noGrp="1"/>
          </p:cNvSpPr>
          <p:nvPr/>
        </p:nvSpPr>
        <p:spPr>
          <a:xfrm>
            <a:off x="609600" y="5829300"/>
            <a:ext cx="4381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12" name="不使用人脸、证件或带有私人信息的物品。">
            <a:extLst>
              <a:ext uri="{FF2B5EF4-FFF2-40B4-BE49-F238E27FC236}">
                <ns2:creationId id="{FFCBEF4C-D076-476E-AA96-142DCFC25E5C}"/>
              </a:ext>
            </a:extLst>
          </p:cNvPr>
          <p:cNvSpPr>
            <a:spLocks noGrp="1"/>
          </p:cNvSpPr>
          <p:nvPr/>
        </p:nvSpPr>
        <p:spPr>
          <a:xfrm>
            <a:off x="1238250" y="5715000"/>
            <a:ext cx="10344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不使用人脸、证件或带有私人信息的物品。</a:t>
            </a:r>
          </a:p>
        </p:txBody>
      </p:sp>
    </p:spTree>
    <p:extLst>
      <p:ext uri="{BB962C8B-B14F-4D97-AF65-F5344CB8AC3E}">
        <p14:creationId val="2139074731"/>
      </p:ext>
    </p:extLst>
  </p:cSld>
</p:sld>
</file>

<file path=ppt/slides/slide4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7" name="">
            <a:extLst>
              <a:ext uri="{FF2B5EF4-FFF2-40B4-BE49-F238E27FC236}">
                <ns2:creationId id="{514450B2-A9AD-4759-B9D3-B6B8AE9832B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285750" cy="38100"/>
          </a:xfrm>
          <a:prstGeom prst="rect">
            <a:avLst/>
          </a:prstGeom>
          <a:solidFill>
            <a:srgbClr val="E8AE36"/>
          </a:solidFill>
          <a:ln w="0">
            <a:noFill/>
          </a:ln>
        </p:spPr>
      </p:sp>
      <p:sp>
        <p:nvSpPr>
          <p:cNvPr id="2" name="资料来源">
            <a:extLst>
              <a:ext uri="{FF2B5EF4-FFF2-40B4-BE49-F238E27FC236}">
                <ns2:creationId id="{D60DEAD4-EEFF-464F-B3F1-2AD494C37C7C}"/>
              </a:ext>
            </a:extLst>
          </p:cNvPr>
          <p:cNvSpPr>
            <a:spLocks noGrp="1"/>
          </p:cNvSpPr>
          <p:nvPr/>
        </p:nvSpPr>
        <p:spPr>
          <a:xfrm>
            <a:off x="1028700" y="323850"/>
            <a:ext cx="10096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资料来源</a:t>
            </a:r>
          </a:p>
        </p:txBody>
      </p:sp>
      <p:sp>
        <p:nvSpPr>
          <p:cNvPr id="3" name="演示来源与延伸阅读">
            <a:extLst>
              <a:ext uri="{FF2B5EF4-FFF2-40B4-BE49-F238E27FC236}">
                <ns2:creationId id="{B210D128-0969-42F7-A7FB-C4FA60D43667}"/>
              </a:ext>
            </a:extLst>
          </p:cNvPr>
          <p:cNvSpPr>
            <a:spLocks noGrp="1"/>
          </p:cNvSpPr>
          <p:nvPr/>
        </p:nvSpPr>
        <p:spPr>
          <a:xfrm>
            <a:off x="609600" y="790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22F4D"/>
                </a:solidFill>
                <a:latin typeface="Noto Sans CJK SC"/>
                <a:ea typeface="Noto Sans CJK SC"/>
                <a:cs typeface="Noto Sans CJK SC"/>
              </a:rPr>
              <a:t>演示来源与延伸阅读</a:t>
            </a:r>
          </a:p>
        </p:txBody>
      </p:sp>
      <p:sp>
        <p:nvSpPr>
          <p:cNvPr id="4" name="">
            <a:extLst>
              <a:ext uri="{FF2B5EF4-FFF2-40B4-BE49-F238E27FC236}">
                <ns2:creationId id="{A0260669-940E-40B9-9E7A-9E991654F195}"/>
              </a:ext>
            </a:extLst>
          </p:cNvPr>
          <p:cNvSpPr>
            <a:spLocks noGrp="1"/>
          </p:cNvSpPr>
          <p:nvPr/>
        </p:nvSpPr>
        <p:spPr>
          <a:xfrm>
            <a:off x="609600" y="63912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5" name="AI 创想工坊  /  第一课 AI侦探">
            <a:extLst>
              <a:ext uri="{FF2B5EF4-FFF2-40B4-BE49-F238E27FC236}">
                <ns2:creationId id="{9A12B3FA-AA48-4372-BC85-8E3E869257FE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952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AI 创想工坊  /  第一课 AI侦探</a:t>
            </a:r>
          </a:p>
        </p:txBody>
      </p:sp>
      <p:sp>
        <p:nvSpPr>
          <p:cNvPr id="6" name="42">
            <a:extLst>
              <a:ext uri="{FF2B5EF4-FFF2-40B4-BE49-F238E27FC236}">
                <ns2:creationId id="{027BBA29-B612-45FB-AE9B-3AE0C7EAABF1}"/>
              </a:ext>
            </a:extLst>
          </p:cNvPr>
          <p:cNvSpPr>
            <a:spLocks noGrp="1"/>
          </p:cNvSpPr>
          <p:nvPr/>
        </p:nvSpPr>
        <p:spPr>
          <a:xfrm>
            <a:off x="10934700" y="6505575"/>
            <a:ext cx="6477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42</a:t>
            </a:r>
          </a:p>
        </p:txBody>
      </p:sp>
      <p:sp>
        <p:nvSpPr>
          <p:cNvPr id="7" name="OpenAI GPT-6 交互式讲解 ↗">
            <a:extLst>
              <a:ext uri="{FF2B5EF4-FFF2-40B4-BE49-F238E27FC236}">
                <ns2:creationId id="{688510AD-5513-4104-ADAC-5074400FFE8E}"/>
              </a:ext>
            </a:extLst>
            <a:hlinkClick r:id="Rbf08a44069cb47c1"/>
          </p:cNvPr>
          <p:cNvSpPr>
            <a:spLocks noGrp="1"/>
          </p:cNvSpPr>
          <p:nvPr/>
        </p:nvSpPr>
        <p:spPr>
          <a:xfrm>
            <a:off x="609600" y="2047875"/>
            <a:ext cx="809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OpenAI GPT-6 交互式讲解 ↗</a:t>
            </a:r>
          </a:p>
        </p:txBody>
      </p:sp>
      <p:sp>
        <p:nvSpPr>
          <p:cNvPr id="8" name="2026.10.07">
            <a:extLst>
              <a:ext uri="{FF2B5EF4-FFF2-40B4-BE49-F238E27FC236}">
                <ns2:creationId id="{5EC7A6E5-D6BA-4350-8381-2E042558859B}"/>
              </a:ext>
            </a:extLst>
          </p:cNvPr>
          <p:cNvSpPr>
            <a:spLocks noGrp="1"/>
          </p:cNvSpPr>
          <p:nvPr/>
        </p:nvSpPr>
        <p:spPr>
          <a:xfrm>
            <a:off x="8963025" y="2047875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2026.10.07</a:t>
            </a:r>
          </a:p>
        </p:txBody>
      </p:sp>
      <p:sp>
        <p:nvSpPr>
          <p:cNvPr id="9" name="">
            <a:extLst>
              <a:ext uri="{FF2B5EF4-FFF2-40B4-BE49-F238E27FC236}">
                <ns2:creationId id="{EF11CD7C-ED67-4DB0-BCA9-46ECA03FE348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0" name="OpenAI GPT-6 Astra 软件操作 ↗">
            <a:extLst>
              <a:ext uri="{FF2B5EF4-FFF2-40B4-BE49-F238E27FC236}">
                <ns2:creationId id="{2BDE9D0E-A277-41BE-BA87-A2947F93C880}"/>
              </a:ext>
            </a:extLst>
            <a:hlinkClick r:id="R0655324f4bf14315"/>
          </p:cNvPr>
          <p:cNvSpPr>
            <a:spLocks noGrp="1"/>
          </p:cNvSpPr>
          <p:nvPr/>
        </p:nvSpPr>
        <p:spPr>
          <a:xfrm>
            <a:off x="609600" y="2609850"/>
            <a:ext cx="809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OpenAI GPT-6 Astra 软件操作 ↗</a:t>
            </a:r>
          </a:p>
        </p:txBody>
      </p:sp>
      <p:sp>
        <p:nvSpPr>
          <p:cNvPr id="11" name="2026.09.03">
            <a:extLst>
              <a:ext uri="{FF2B5EF4-FFF2-40B4-BE49-F238E27FC236}">
                <ns2:creationId id="{87467DE3-6E1D-463D-98ED-A64694F83DDD}"/>
              </a:ext>
            </a:extLst>
          </p:cNvPr>
          <p:cNvSpPr>
            <a:spLocks noGrp="1"/>
          </p:cNvSpPr>
          <p:nvPr/>
        </p:nvSpPr>
        <p:spPr>
          <a:xfrm>
            <a:off x="8963025" y="2609850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2026.09.03</a:t>
            </a:r>
          </a:p>
        </p:txBody>
      </p:sp>
      <p:sp>
        <p:nvSpPr>
          <p:cNvPr id="12" name="">
            <a:extLst>
              <a:ext uri="{FF2B5EF4-FFF2-40B4-BE49-F238E27FC236}">
                <ns2:creationId id="{700A5AC3-BE55-4975-8EA3-62FA9BA3C7AF}"/>
              </a:ext>
            </a:extLst>
          </p:cNvPr>
          <p:cNvSpPr>
            <a:spLocks noGrp="1"/>
          </p:cNvSpPr>
          <p:nvPr/>
        </p:nvSpPr>
        <p:spPr>
          <a:xfrm>
            <a:off x="609600" y="301942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3" name="Kimi K3 可交互作品 ↗">
            <a:extLst>
              <a:ext uri="{FF2B5EF4-FFF2-40B4-BE49-F238E27FC236}">
                <ns2:creationId id="{BA3FF2FD-3D40-414C-A25E-1AAEB45D268B}"/>
              </a:ext>
            </a:extLst>
            <a:hlinkClick r:id="Reda496604643486b"/>
          </p:cNvPr>
          <p:cNvSpPr>
            <a:spLocks noGrp="1"/>
          </p:cNvSpPr>
          <p:nvPr/>
        </p:nvSpPr>
        <p:spPr>
          <a:xfrm>
            <a:off x="609600" y="3171825"/>
            <a:ext cx="809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Kimi K3 可交互作品 ↗</a:t>
            </a:r>
          </a:p>
        </p:txBody>
      </p:sp>
      <p:sp>
        <p:nvSpPr>
          <p:cNvPr id="14" name="2026.07">
            <a:extLst>
              <a:ext uri="{FF2B5EF4-FFF2-40B4-BE49-F238E27FC236}">
                <ns2:creationId id="{2D642A31-B44A-44F8-871D-4E3E9A319B67}"/>
              </a:ext>
            </a:extLst>
          </p:cNvPr>
          <p:cNvSpPr>
            <a:spLocks noGrp="1"/>
          </p:cNvSpPr>
          <p:nvPr/>
        </p:nvSpPr>
        <p:spPr>
          <a:xfrm>
            <a:off x="8963025" y="3171825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2026.07</a:t>
            </a:r>
          </a:p>
        </p:txBody>
      </p:sp>
      <p:sp>
        <p:nvSpPr>
          <p:cNvPr id="15" name="">
            <a:extLst>
              <a:ext uri="{FF2B5EF4-FFF2-40B4-BE49-F238E27FC236}">
                <ns2:creationId id="{B6465136-2C1E-4BE7-9855-43C4F7FCCAA1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6" name="SeedRealtime 音视频交流 ↗">
            <a:extLst>
              <a:ext uri="{FF2B5EF4-FFF2-40B4-BE49-F238E27FC236}">
                <ns2:creationId id="{FC0996AB-6992-458B-8116-A03CBD97039A}"/>
              </a:ext>
            </a:extLst>
            <a:hlinkClick r:id="Rb584ab33a71843af"/>
          </p:cNvPr>
          <p:cNvSpPr>
            <a:spLocks noGrp="1"/>
          </p:cNvSpPr>
          <p:nvPr/>
        </p:nvSpPr>
        <p:spPr>
          <a:xfrm>
            <a:off x="609600" y="3733800"/>
            <a:ext cx="809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SeedRealtime 音视频交流 ↗</a:t>
            </a:r>
          </a:p>
        </p:txBody>
      </p:sp>
      <p:sp>
        <p:nvSpPr>
          <p:cNvPr id="17" name="2026.08.05">
            <a:extLst>
              <a:ext uri="{FF2B5EF4-FFF2-40B4-BE49-F238E27FC236}">
                <ns2:creationId id="{BB6F7C3C-F5DB-4190-82EA-675AA3E545E1}"/>
              </a:ext>
            </a:extLst>
          </p:cNvPr>
          <p:cNvSpPr>
            <a:spLocks noGrp="1"/>
          </p:cNvSpPr>
          <p:nvPr/>
        </p:nvSpPr>
        <p:spPr>
          <a:xfrm>
            <a:off x="8963025" y="3733800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2026.08.05</a:t>
            </a:r>
          </a:p>
        </p:txBody>
      </p:sp>
      <p:sp>
        <p:nvSpPr>
          <p:cNvPr id="18" name="">
            <a:extLst>
              <a:ext uri="{FF2B5EF4-FFF2-40B4-BE49-F238E27FC236}">
                <ns2:creationId id="{3365F20F-B986-492D-B20F-F18D44C9CB9F}"/>
              </a:ext>
            </a:extLst>
          </p:cNvPr>
          <p:cNvSpPr>
            <a:spLocks noGrp="1"/>
          </p:cNvSpPr>
          <p:nvPr/>
        </p:nvSpPr>
        <p:spPr>
          <a:xfrm>
            <a:off x="609600" y="414337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19" name="Seedance 2.5 视听生成 ↗">
            <a:extLst>
              <a:ext uri="{FF2B5EF4-FFF2-40B4-BE49-F238E27FC236}">
                <ns2:creationId id="{8F8E97A9-FAD6-429B-8AFC-D20A3152FFC9}"/>
              </a:ext>
            </a:extLst>
            <a:hlinkClick r:id="R200482af5fd44647"/>
          </p:cNvPr>
          <p:cNvSpPr>
            <a:spLocks noGrp="1"/>
          </p:cNvSpPr>
          <p:nvPr/>
        </p:nvSpPr>
        <p:spPr>
          <a:xfrm>
            <a:off x="609600" y="4295775"/>
            <a:ext cx="809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Seedance 2.5 视听生成 ↗</a:t>
            </a:r>
          </a:p>
        </p:txBody>
      </p:sp>
      <p:sp>
        <p:nvSpPr>
          <p:cNvPr id="20" name="2026.07.31">
            <a:extLst>
              <a:ext uri="{FF2B5EF4-FFF2-40B4-BE49-F238E27FC236}">
                <ns2:creationId id="{3DCFCFDE-987A-4457-BA6F-67C93C283DB2}"/>
              </a:ext>
            </a:extLst>
          </p:cNvPr>
          <p:cNvSpPr>
            <a:spLocks noGrp="1"/>
          </p:cNvSpPr>
          <p:nvPr/>
        </p:nvSpPr>
        <p:spPr>
          <a:xfrm>
            <a:off x="8963025" y="4295775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2026.07.31</a:t>
            </a:r>
          </a:p>
        </p:txBody>
      </p:sp>
      <p:sp>
        <p:nvSpPr>
          <p:cNvPr id="21" name="">
            <a:extLst>
              <a:ext uri="{FF2B5EF4-FFF2-40B4-BE49-F238E27FC236}">
                <ns2:creationId id="{2D356863-D94C-46D9-84E5-D57FE3A99C62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22" name="Qwen3.8-Max 视觉与设计 ↗">
            <a:extLst>
              <a:ext uri="{FF2B5EF4-FFF2-40B4-BE49-F238E27FC236}">
                <ns2:creationId id="{5DA16317-E93E-44EC-8435-2896663818BC}"/>
              </a:ext>
            </a:extLst>
            <a:hlinkClick r:id="R56560282f7834aed"/>
          </p:cNvPr>
          <p:cNvSpPr>
            <a:spLocks noGrp="1"/>
          </p:cNvSpPr>
          <p:nvPr/>
        </p:nvSpPr>
        <p:spPr>
          <a:xfrm>
            <a:off x="609600" y="4857750"/>
            <a:ext cx="809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Qwen3.8-Max 视觉与设计 ↗</a:t>
            </a:r>
          </a:p>
        </p:txBody>
      </p:sp>
      <p:sp>
        <p:nvSpPr>
          <p:cNvPr id="23" name="2026.08.03">
            <a:extLst>
              <a:ext uri="{FF2B5EF4-FFF2-40B4-BE49-F238E27FC236}">
                <ns2:creationId id="{2A0218BF-D725-462E-8C91-C336940F712B}"/>
              </a:ext>
            </a:extLst>
          </p:cNvPr>
          <p:cNvSpPr>
            <a:spLocks noGrp="1"/>
          </p:cNvSpPr>
          <p:nvPr/>
        </p:nvSpPr>
        <p:spPr>
          <a:xfrm>
            <a:off x="8963025" y="4857750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2026.08.03</a:t>
            </a:r>
          </a:p>
        </p:txBody>
      </p:sp>
      <p:sp>
        <p:nvSpPr>
          <p:cNvPr id="24" name="">
            <a:extLst>
              <a:ext uri="{FF2B5EF4-FFF2-40B4-BE49-F238E27FC236}">
                <ns2:creationId id="{8CDEBD1E-5272-4969-91F6-9B1BF1CD9837}"/>
              </a:ext>
            </a:extLst>
          </p:cNvPr>
          <p:cNvSpPr>
            <a:spLocks noGrp="1"/>
          </p:cNvSpPr>
          <p:nvPr/>
        </p:nvSpPr>
        <p:spPr>
          <a:xfrm>
            <a:off x="609600" y="5267325"/>
            <a:ext cx="10972800" cy="9525"/>
          </a:xfrm>
          <a:prstGeom prst="rect">
            <a:avLst/>
          </a:prstGeom>
          <a:solidFill>
            <a:srgbClr val="CBD7E0"/>
          </a:solidFill>
          <a:ln w="0">
            <a:noFill/>
          </a:ln>
        </p:spPr>
      </p:sp>
      <p:sp>
        <p:nvSpPr>
          <p:cNvPr id="25" name="3Blue1Brown 神经网络科普 ↗">
            <a:extLst>
              <a:ext uri="{FF2B5EF4-FFF2-40B4-BE49-F238E27FC236}">
                <ns2:creationId id="{DFF9AE81-4C23-4E06-AAD1-7804BF7B42EB}"/>
              </a:ext>
            </a:extLst>
            <a:hlinkClick r:id="Ra421e4422852441e"/>
          </p:cNvPr>
          <p:cNvSpPr>
            <a:spLocks noGrp="1"/>
          </p:cNvSpPr>
          <p:nvPr/>
        </p:nvSpPr>
        <p:spPr>
          <a:xfrm>
            <a:off x="609600" y="5419725"/>
            <a:ext cx="809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  <a:def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56590"/>
                </a:solidFill>
                <a:latin typeface="Noto Sans CJK SC"/>
                <a:ea typeface="Noto Sans CJK SC"/>
                <a:cs typeface="Noto Sans CJK SC"/>
              </a:rPr>
              <a:t>3Blue1Brown 神经网络科普 ↗</a:t>
            </a:r>
          </a:p>
        </p:txBody>
      </p:sp>
      <p:sp>
        <p:nvSpPr>
          <p:cNvPr id="26" name="经典原理讲解">
            <a:extLst>
              <a:ext uri="{FF2B5EF4-FFF2-40B4-BE49-F238E27FC236}">
                <ns2:creationId id="{6AA2F82D-4490-4F4E-8B5D-EF9F35951FBD}"/>
              </a:ext>
            </a:extLst>
          </p:cNvPr>
          <p:cNvSpPr>
            <a:spLocks noGrp="1"/>
          </p:cNvSpPr>
          <p:nvPr/>
        </p:nvSpPr>
        <p:spPr>
          <a:xfrm>
            <a:off x="8963025" y="5419725"/>
            <a:ext cx="26193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2000"/>
              </a:lnSpc>
              <a:buNone/>
              <a:def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B6B7B"/>
                </a:solidFill>
                <a:latin typeface="Noto Sans CJK SC"/>
                <a:ea typeface="Noto Sans CJK SC"/>
                <a:cs typeface="Noto Sans CJK SC"/>
              </a:rPr>
              <a:t>经典原理讲解</a:t>
            </a:r>
          </a:p>
        </p:txBody>
      </p:sp>
    </p:spTree>
    <p:extLst>
      <p:ext uri="{BB962C8B-B14F-4D97-AF65-F5344CB8AC3E}">
        <p14:creationId val="5659749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EFB125"/>
      </a:hlink>
      <a:folHlink>
        <a:srgbClr val="EFB12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creator>AI 创想工坊</dc:creator>
  <ns0:lastModifiedBy>Walnut Exporter</ns0:lastModifiedBy>
  <dc:title>第一课 AI侦探：人工智能能做什么，怎样工作</dc:title>
  <ns2:created xsi:type="dcterms:W3CDTF">2026-10-18T06:00:25.5930000Z</ns2:created>
  <ns2:modified xsi:type="dcterms:W3CDTF">2026-10-18T06:00:25.5930000Z</ns2:modified>
  <dc:subject>初中生 AI 创想工坊</dc:subject>
</ns0:coreProperties>
</file>