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500a57cf3f4435" /><Relationship Type="http://schemas.openxmlformats.org/officeDocument/2006/relationships/extended-properties" Target="/docProps/app.xml" Id="R3187f47e87dc45de" /><Relationship Type="http://schemas.openxmlformats.org/officeDocument/2006/relationships/officeDocument" Target="/ppt/presentation.xml" Id="R6f0a3ee324a94c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e4d01c596b4722"/>
  </p:sldMasterIdLst>
  <p:notesMasterIdLst>
    <p:notesMasterId xmlns:r="http://schemas.openxmlformats.org/officeDocument/2006/relationships" r:id="Rac32950fce804ff5"/>
  </p:notesMasterIdLst>
  <p:sldIdLst>
    <p:sldId xmlns:r="http://schemas.openxmlformats.org/officeDocument/2006/relationships" id="256" r:id="Rf5e6c2561c274b7e"/>
    <p:sldId xmlns:r="http://schemas.openxmlformats.org/officeDocument/2006/relationships" id="257" r:id="R7d62b73f454e4b47"/>
    <p:sldId xmlns:r="http://schemas.openxmlformats.org/officeDocument/2006/relationships" id="258" r:id="R282ccd774b23435a"/>
    <p:sldId xmlns:r="http://schemas.openxmlformats.org/officeDocument/2006/relationships" id="259" r:id="R1e18815062374c0f"/>
    <p:sldId xmlns:r="http://schemas.openxmlformats.org/officeDocument/2006/relationships" id="260" r:id="R527032f120cf4051"/>
    <p:sldId xmlns:r="http://schemas.openxmlformats.org/officeDocument/2006/relationships" id="261" r:id="R61a381e996a944f4"/>
    <p:sldId xmlns:r="http://schemas.openxmlformats.org/officeDocument/2006/relationships" id="262" r:id="R0142edb0c2f04e5e"/>
    <p:sldId xmlns:r="http://schemas.openxmlformats.org/officeDocument/2006/relationships" id="263" r:id="R178e0e0c534b4e68"/>
    <p:sldId xmlns:r="http://schemas.openxmlformats.org/officeDocument/2006/relationships" id="264" r:id="Re51651d21b4f4c48"/>
    <p:sldId xmlns:r="http://schemas.openxmlformats.org/officeDocument/2006/relationships" id="265" r:id="R4410c946bfa44b2d"/>
    <p:sldId xmlns:r="http://schemas.openxmlformats.org/officeDocument/2006/relationships" id="266" r:id="R0fb89bf2ff8f44ce"/>
    <p:sldId xmlns:r="http://schemas.openxmlformats.org/officeDocument/2006/relationships" id="267" r:id="Ra6f2b5ebb4f44bd6"/>
    <p:sldId xmlns:r="http://schemas.openxmlformats.org/officeDocument/2006/relationships" id="268" r:id="R1dded32d29db40cb"/>
    <p:sldId xmlns:r="http://schemas.openxmlformats.org/officeDocument/2006/relationships" id="269" r:id="R5853366a443f4dd7"/>
    <p:sldId xmlns:r="http://schemas.openxmlformats.org/officeDocument/2006/relationships" id="270" r:id="R9dab03bdd53145d4"/>
    <p:sldId xmlns:r="http://schemas.openxmlformats.org/officeDocument/2006/relationships" id="271" r:id="R16a7ffa6b8054bb3"/>
    <p:sldId xmlns:r="http://schemas.openxmlformats.org/officeDocument/2006/relationships" id="272" r:id="R1a58fd6b83364679"/>
    <p:sldId xmlns:r="http://schemas.openxmlformats.org/officeDocument/2006/relationships" id="273" r:id="R6248266486fa4be3"/>
    <p:sldId xmlns:r="http://schemas.openxmlformats.org/officeDocument/2006/relationships" id="274" r:id="R0865eed38c1843c9"/>
    <p:sldId xmlns:r="http://schemas.openxmlformats.org/officeDocument/2006/relationships" id="275" r:id="Rf2bf5e1c090448f9"/>
    <p:sldId xmlns:r="http://schemas.openxmlformats.org/officeDocument/2006/relationships" id="276" r:id="R43ded42decc74546"/>
    <p:sldId xmlns:r="http://schemas.openxmlformats.org/officeDocument/2006/relationships" id="277" r:id="Reef6030c5e3548be"/>
    <p:sldId xmlns:r="http://schemas.openxmlformats.org/officeDocument/2006/relationships" id="278" r:id="R338c623eda0844f3"/>
    <p:sldId xmlns:r="http://schemas.openxmlformats.org/officeDocument/2006/relationships" id="279" r:id="Rb3c720f0f71a4b93"/>
    <p:sldId xmlns:r="http://schemas.openxmlformats.org/officeDocument/2006/relationships" id="280" r:id="Ree8d62c124874c39"/>
    <p:sldId xmlns:r="http://schemas.openxmlformats.org/officeDocument/2006/relationships" id="281" r:id="R2b31bc63769e42dc"/>
    <p:sldId xmlns:r="http://schemas.openxmlformats.org/officeDocument/2006/relationships" id="282" r:id="Rab9db5fb71f84710"/>
    <p:sldId xmlns:r="http://schemas.openxmlformats.org/officeDocument/2006/relationships" id="283" r:id="Rb25ff269e0ad478d"/>
    <p:sldId xmlns:r="http://schemas.openxmlformats.org/officeDocument/2006/relationships" id="284" r:id="R93739239e4aa4d36"/>
    <p:sldId xmlns:r="http://schemas.openxmlformats.org/officeDocument/2006/relationships" id="285" r:id="Re46476cb090d42f7"/>
    <p:sldId xmlns:r="http://schemas.openxmlformats.org/officeDocument/2006/relationships" id="286" r:id="R9702a14196234a67"/>
    <p:sldId xmlns:r="http://schemas.openxmlformats.org/officeDocument/2006/relationships" id="287" r:id="Rba628fad030741f5"/>
    <p:sldId xmlns:r="http://schemas.openxmlformats.org/officeDocument/2006/relationships" id="288" r:id="Ra658788eaac94d49"/>
    <p:sldId xmlns:r="http://schemas.openxmlformats.org/officeDocument/2006/relationships" id="289" r:id="R96cea1b5f1d64969"/>
    <p:sldId xmlns:r="http://schemas.openxmlformats.org/officeDocument/2006/relationships" id="290" r:id="Ref8e13ced0b5440a"/>
    <p:sldId xmlns:r="http://schemas.openxmlformats.org/officeDocument/2006/relationships" id="291" r:id="R152c47513752406b"/>
    <p:sldId xmlns:r="http://schemas.openxmlformats.org/officeDocument/2006/relationships" id="292" r:id="R0cf929cf930a4021"/>
    <p:sldId xmlns:r="http://schemas.openxmlformats.org/officeDocument/2006/relationships" id="293" r:id="Re066aa6a55254eb5"/>
    <p:sldId xmlns:r="http://schemas.openxmlformats.org/officeDocument/2006/relationships" id="294" r:id="R4f963dbd29244562"/>
    <p:sldId xmlns:r="http://schemas.openxmlformats.org/officeDocument/2006/relationships" id="295" r:id="R29fa220d832a4b73"/>
    <p:sldId xmlns:r="http://schemas.openxmlformats.org/officeDocument/2006/relationships" id="296" r:id="R8e5383b0c2e14804"/>
    <p:sldId xmlns:r="http://schemas.openxmlformats.org/officeDocument/2006/relationships" id="297" r:id="R5401fa9dc77e4e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617b55572f439e" /><Relationship Type="http://schemas.openxmlformats.org/officeDocument/2006/relationships/slideMaster" Target="/ppt/slideMasters/slideMaster1.xml" Id="Rdbe4d01c596b4722" /><Relationship Type="http://schemas.openxmlformats.org/officeDocument/2006/relationships/notesMaster" Target="/ppt/notesMasters/notesMaster1.xml" Id="Rac32950fce804ff5" /><Relationship Type="http://schemas.openxmlformats.org/officeDocument/2006/relationships/presProps" Target="/ppt/presProps.xml" Id="R3328215749704ec9" /><Relationship Type="http://schemas.openxmlformats.org/officeDocument/2006/relationships/tableStyles" Target="/ppt/tableStyles.xml" Id="R5f28825614404962" /><Relationship Type="http://schemas.openxmlformats.org/officeDocument/2006/relationships/slide" Target="/ppt/slides/slide1.xml" Id="Rf5e6c2561c274b7e" /><Relationship Type="http://schemas.openxmlformats.org/officeDocument/2006/relationships/slide" Target="/ppt/slides/slide2.xml" Id="R7d62b73f454e4b47" /><Relationship Type="http://schemas.openxmlformats.org/officeDocument/2006/relationships/slide" Target="/ppt/slides/slide3.xml" Id="R282ccd774b23435a" /><Relationship Type="http://schemas.openxmlformats.org/officeDocument/2006/relationships/slide" Target="/ppt/slides/slide4.xml" Id="R1e18815062374c0f" /><Relationship Type="http://schemas.openxmlformats.org/officeDocument/2006/relationships/slide" Target="/ppt/slides/slide5.xml" Id="R527032f120cf4051" /><Relationship Type="http://schemas.openxmlformats.org/officeDocument/2006/relationships/slide" Target="/ppt/slides/slide6.xml" Id="R61a381e996a944f4" /><Relationship Type="http://schemas.openxmlformats.org/officeDocument/2006/relationships/slide" Target="/ppt/slides/slide7.xml" Id="R0142edb0c2f04e5e" /><Relationship Type="http://schemas.openxmlformats.org/officeDocument/2006/relationships/slide" Target="/ppt/slides/slide8.xml" Id="R178e0e0c534b4e68" /><Relationship Type="http://schemas.openxmlformats.org/officeDocument/2006/relationships/slide" Target="/ppt/slides/slide9.xml" Id="Re51651d21b4f4c48" /><Relationship Type="http://schemas.openxmlformats.org/officeDocument/2006/relationships/slide" Target="/ppt/slides/slide10.xml" Id="R4410c946bfa44b2d" /><Relationship Type="http://schemas.openxmlformats.org/officeDocument/2006/relationships/slide" Target="/ppt/slides/slide11.xml" Id="R0fb89bf2ff8f44ce" /><Relationship Type="http://schemas.openxmlformats.org/officeDocument/2006/relationships/slide" Target="/ppt/slides/slide12.xml" Id="Ra6f2b5ebb4f44bd6" /><Relationship Type="http://schemas.openxmlformats.org/officeDocument/2006/relationships/slide" Target="/ppt/slides/slide13.xml" Id="R1dded32d29db40cb" /><Relationship Type="http://schemas.openxmlformats.org/officeDocument/2006/relationships/slide" Target="/ppt/slides/slide14.xml" Id="R5853366a443f4dd7" /><Relationship Type="http://schemas.openxmlformats.org/officeDocument/2006/relationships/slide" Target="/ppt/slides/slide15.xml" Id="R9dab03bdd53145d4" /><Relationship Type="http://schemas.openxmlformats.org/officeDocument/2006/relationships/slide" Target="/ppt/slides/slide16.xml" Id="R16a7ffa6b8054bb3" /><Relationship Type="http://schemas.openxmlformats.org/officeDocument/2006/relationships/slide" Target="/ppt/slides/slide17.xml" Id="R1a58fd6b83364679" /><Relationship Type="http://schemas.openxmlformats.org/officeDocument/2006/relationships/slide" Target="/ppt/slides/slide18.xml" Id="R6248266486fa4be3" /><Relationship Type="http://schemas.openxmlformats.org/officeDocument/2006/relationships/slide" Target="/ppt/slides/slide19.xml" Id="R0865eed38c1843c9" /><Relationship Type="http://schemas.openxmlformats.org/officeDocument/2006/relationships/slide" Target="/ppt/slides/slide20.xml" Id="Rf2bf5e1c090448f9" /><Relationship Type="http://schemas.openxmlformats.org/officeDocument/2006/relationships/slide" Target="/ppt/slides/slide21.xml" Id="R43ded42decc74546" /><Relationship Type="http://schemas.openxmlformats.org/officeDocument/2006/relationships/slide" Target="/ppt/slides/slide22.xml" Id="Reef6030c5e3548be" /><Relationship Type="http://schemas.openxmlformats.org/officeDocument/2006/relationships/slide" Target="/ppt/slides/slide23.xml" Id="R338c623eda0844f3" /><Relationship Type="http://schemas.openxmlformats.org/officeDocument/2006/relationships/slide" Target="/ppt/slides/slide24.xml" Id="Rb3c720f0f71a4b93" /><Relationship Type="http://schemas.openxmlformats.org/officeDocument/2006/relationships/slide" Target="/ppt/slides/slide25.xml" Id="Ree8d62c124874c39" /><Relationship Type="http://schemas.openxmlformats.org/officeDocument/2006/relationships/slide" Target="/ppt/slides/slide26.xml" Id="R2b31bc63769e42dc" /><Relationship Type="http://schemas.openxmlformats.org/officeDocument/2006/relationships/slide" Target="/ppt/slides/slide27.xml" Id="Rab9db5fb71f84710" /><Relationship Type="http://schemas.openxmlformats.org/officeDocument/2006/relationships/slide" Target="/ppt/slides/slide28.xml" Id="Rb25ff269e0ad478d" /><Relationship Type="http://schemas.openxmlformats.org/officeDocument/2006/relationships/slide" Target="/ppt/slides/slide29.xml" Id="R93739239e4aa4d36" /><Relationship Type="http://schemas.openxmlformats.org/officeDocument/2006/relationships/slide" Target="/ppt/slides/slide30.xml" Id="Re46476cb090d42f7" /><Relationship Type="http://schemas.openxmlformats.org/officeDocument/2006/relationships/slide" Target="/ppt/slides/slide31.xml" Id="R9702a14196234a67" /><Relationship Type="http://schemas.openxmlformats.org/officeDocument/2006/relationships/slide" Target="/ppt/slides/slide32.xml" Id="Rba628fad030741f5" /><Relationship Type="http://schemas.openxmlformats.org/officeDocument/2006/relationships/slide" Target="/ppt/slides/slide33.xml" Id="Ra658788eaac94d49" /><Relationship Type="http://schemas.openxmlformats.org/officeDocument/2006/relationships/slide" Target="/ppt/slides/slide34.xml" Id="R96cea1b5f1d64969" /><Relationship Type="http://schemas.openxmlformats.org/officeDocument/2006/relationships/slide" Target="/ppt/slides/slide35.xml" Id="Ref8e13ced0b5440a" /><Relationship Type="http://schemas.openxmlformats.org/officeDocument/2006/relationships/slide" Target="/ppt/slides/slide36.xml" Id="R152c47513752406b" /><Relationship Type="http://schemas.openxmlformats.org/officeDocument/2006/relationships/slide" Target="/ppt/slides/slide37.xml" Id="R0cf929cf930a4021" /><Relationship Type="http://schemas.openxmlformats.org/officeDocument/2006/relationships/slide" Target="/ppt/slides/slide38.xml" Id="Re066aa6a55254eb5" /><Relationship Type="http://schemas.openxmlformats.org/officeDocument/2006/relationships/slide" Target="/ppt/slides/slide39.xml" Id="R4f963dbd29244562" /><Relationship Type="http://schemas.openxmlformats.org/officeDocument/2006/relationships/slide" Target="/ppt/slides/slide40.xml" Id="R29fa220d832a4b73" /><Relationship Type="http://schemas.openxmlformats.org/officeDocument/2006/relationships/slide" Target="/ppt/slides/slide41.xml" Id="R8e5383b0c2e14804" /><Relationship Type="http://schemas.openxmlformats.org/officeDocument/2006/relationships/slide" Target="/ppt/slides/slide42.xml" Id="R5401fa9dc77e4e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463d8df8da41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a35e2d92c149e0" /><Relationship Type="http://schemas.openxmlformats.org/officeDocument/2006/relationships/notesMaster" Target="/ppt/notesMasters/notesMaster1.xml" Id="R5d1ba1f493e141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e239ceba064160" /><Relationship Type="http://schemas.openxmlformats.org/officeDocument/2006/relationships/notesMaster" Target="/ppt/notesMasters/notesMaster1.xml" Id="Rf0736db52b724d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e0de35bfe34b6b" /><Relationship Type="http://schemas.openxmlformats.org/officeDocument/2006/relationships/notesMaster" Target="/ppt/notesMasters/notesMaster1.xml" Id="Rb576ac08e6064a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e03bcf1b65426f" /><Relationship Type="http://schemas.openxmlformats.org/officeDocument/2006/relationships/notesMaster" Target="/ppt/notesMasters/notesMaster1.xml" Id="Racebc297d4a849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ed023eba7441fa" /><Relationship Type="http://schemas.openxmlformats.org/officeDocument/2006/relationships/notesMaster" Target="/ppt/notesMasters/notesMaster1.xml" Id="Rc7586ef76afc49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02b5895fda4ce9" /><Relationship Type="http://schemas.openxmlformats.org/officeDocument/2006/relationships/notesMaster" Target="/ppt/notesMasters/notesMaster1.xml" Id="R466c75236c2a4d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880e7724984852" /><Relationship Type="http://schemas.openxmlformats.org/officeDocument/2006/relationships/notesMaster" Target="/ppt/notesMasters/notesMaster1.xml" Id="R61d3ad1ee4c249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ceaf1e1a364c62" /><Relationship Type="http://schemas.openxmlformats.org/officeDocument/2006/relationships/notesMaster" Target="/ppt/notesMasters/notesMaster1.xml" Id="R0e0e7533bf8c46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d0114663fb434e" /><Relationship Type="http://schemas.openxmlformats.org/officeDocument/2006/relationships/notesMaster" Target="/ppt/notesMasters/notesMaster1.xml" Id="Rab26f822adf742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b7be80b5da4cfe" /><Relationship Type="http://schemas.openxmlformats.org/officeDocument/2006/relationships/notesMaster" Target="/ppt/notesMasters/notesMaster1.xml" Id="R3e58930c50dd45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351e5b22704c2a" /><Relationship Type="http://schemas.openxmlformats.org/officeDocument/2006/relationships/notesMaster" Target="/ppt/notesMasters/notesMaster1.xml" Id="Rcea0eecff58e49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e50bf3147e4db5" /><Relationship Type="http://schemas.openxmlformats.org/officeDocument/2006/relationships/notesMaster" Target="/ppt/notesMasters/notesMaster1.xml" Id="Rf939f641051441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d76022b2fc4fd7" /><Relationship Type="http://schemas.openxmlformats.org/officeDocument/2006/relationships/notesMaster" Target="/ppt/notesMasters/notesMaster1.xml" Id="R52ee11b980834d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9e4d1c9ba54135" /><Relationship Type="http://schemas.openxmlformats.org/officeDocument/2006/relationships/notesMaster" Target="/ppt/notesMasters/notesMaster1.xml" Id="R4cb1e51e1a3841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932d8e67dc4e13" /><Relationship Type="http://schemas.openxmlformats.org/officeDocument/2006/relationships/notesMaster" Target="/ppt/notesMasters/notesMaster1.xml" Id="R714a6784b06642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6269828cfd4393" /><Relationship Type="http://schemas.openxmlformats.org/officeDocument/2006/relationships/notesMaster" Target="/ppt/notesMasters/notesMaster1.xml" Id="R164265d6455c4b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8a60fa11864d2e" /><Relationship Type="http://schemas.openxmlformats.org/officeDocument/2006/relationships/notesMaster" Target="/ppt/notesMasters/notesMaster1.xml" Id="Rf6485f4fb54e40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c59a0cc63c42df" /><Relationship Type="http://schemas.openxmlformats.org/officeDocument/2006/relationships/notesMaster" Target="/ppt/notesMasters/notesMaster1.xml" Id="Rfcb15f37719245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2341dead8b4018" /><Relationship Type="http://schemas.openxmlformats.org/officeDocument/2006/relationships/notesMaster" Target="/ppt/notesMasters/notesMaster1.xml" Id="Rac335c7e02394b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78c7db2a6d04c0e" /><Relationship Type="http://schemas.openxmlformats.org/officeDocument/2006/relationships/notesMaster" Target="/ppt/notesMasters/notesMaster1.xml" Id="Rad3fa6cd42764b9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1004ff346284111" /><Relationship Type="http://schemas.openxmlformats.org/officeDocument/2006/relationships/notesMaster" Target="/ppt/notesMasters/notesMaster1.xml" Id="R54f6996f599246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b5986feea747c0" /><Relationship Type="http://schemas.openxmlformats.org/officeDocument/2006/relationships/notesMaster" Target="/ppt/notesMasters/notesMaster1.xml" Id="Rab392d22985040e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4281545f1a4a29" /><Relationship Type="http://schemas.openxmlformats.org/officeDocument/2006/relationships/notesMaster" Target="/ppt/notesMasters/notesMaster1.xml" Id="R2e90fdd82365494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c4bff8d6cd4760" /><Relationship Type="http://schemas.openxmlformats.org/officeDocument/2006/relationships/notesMaster" Target="/ppt/notesMasters/notesMaster1.xml" Id="R9f434da5fca3499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9cedb2f7e6d4894" /><Relationship Type="http://schemas.openxmlformats.org/officeDocument/2006/relationships/notesMaster" Target="/ppt/notesMasters/notesMaster1.xml" Id="Rb1f900288da6408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58f3ef23b234d0f" /><Relationship Type="http://schemas.openxmlformats.org/officeDocument/2006/relationships/notesMaster" Target="/ppt/notesMasters/notesMaster1.xml" Id="Rffaad33a666c44b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f63d150684141eb" /><Relationship Type="http://schemas.openxmlformats.org/officeDocument/2006/relationships/notesMaster" Target="/ppt/notesMasters/notesMaster1.xml" Id="Rc70e431babae4af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0d26d7bcf864d94" /><Relationship Type="http://schemas.openxmlformats.org/officeDocument/2006/relationships/notesMaster" Target="/ppt/notesMasters/notesMaster1.xml" Id="R5ed019bdb26e47a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8d0c2dd525e45fa" /><Relationship Type="http://schemas.openxmlformats.org/officeDocument/2006/relationships/notesMaster" Target="/ppt/notesMasters/notesMaster1.xml" Id="Rf9b3478a1035417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aa1497e3e4f4e91" /><Relationship Type="http://schemas.openxmlformats.org/officeDocument/2006/relationships/notesMaster" Target="/ppt/notesMasters/notesMaster1.xml" Id="R6e931c05d4f94d9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a7b720c1709465e" /><Relationship Type="http://schemas.openxmlformats.org/officeDocument/2006/relationships/notesMaster" Target="/ppt/notesMasters/notesMaster1.xml" Id="Rf9e229cd5e1a483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6db70b8a4254c80" /><Relationship Type="http://schemas.openxmlformats.org/officeDocument/2006/relationships/notesMaster" Target="/ppt/notesMasters/notesMaster1.xml" Id="R16d18a01fae14b4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9fc7a7594184536" /><Relationship Type="http://schemas.openxmlformats.org/officeDocument/2006/relationships/notesMaster" Target="/ppt/notesMasters/notesMaster1.xml" Id="Re475661fc738444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884ee7fb2714f12" /><Relationship Type="http://schemas.openxmlformats.org/officeDocument/2006/relationships/notesMaster" Target="/ppt/notesMasters/notesMaster1.xml" Id="R9f1350e5bf4a482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51577f396b347bd" /><Relationship Type="http://schemas.openxmlformats.org/officeDocument/2006/relationships/notesMaster" Target="/ppt/notesMasters/notesMaster1.xml" Id="R9808a0f87a1444f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7d0111b59dd4c09" /><Relationship Type="http://schemas.openxmlformats.org/officeDocument/2006/relationships/notesMaster" Target="/ppt/notesMasters/notesMaster1.xml" Id="Rdfeca939e0d64a2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9d9b653d13c4bbf" /><Relationship Type="http://schemas.openxmlformats.org/officeDocument/2006/relationships/notesMaster" Target="/ppt/notesMasters/notesMaster1.xml" Id="R3d49c02606dc4e2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bda85e75dee4cd4" /><Relationship Type="http://schemas.openxmlformats.org/officeDocument/2006/relationships/notesMaster" Target="/ppt/notesMasters/notesMaster1.xml" Id="R8a2f3747cb1d484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d5dd4010fb943df" /><Relationship Type="http://schemas.openxmlformats.org/officeDocument/2006/relationships/notesMaster" Target="/ppt/notesMasters/notesMaster1.xml" Id="Re2915e904909460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5f1c095f04b42a2" /><Relationship Type="http://schemas.openxmlformats.org/officeDocument/2006/relationships/notesMaster" Target="/ppt/notesMasters/notesMaster1.xml" Id="R1d2e971904ae42f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a34a385f1d647df" /><Relationship Type="http://schemas.openxmlformats.org/officeDocument/2006/relationships/notesMaster" Target="/ppt/notesMasters/notesMaster1.xml" Id="R03ab29e47e8444c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cb6d0f3c6204a98" /><Relationship Type="http://schemas.openxmlformats.org/officeDocument/2006/relationships/notesMaster" Target="/ppt/notesMasters/notesMaster1.xml" Id="R04b0cfb8bc1c4c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教学目的：说明本课主题，建立观看和讨论的共同目标。</a:t>
            </a:r>
          </a:p>
          <a:p xmlns:a="http://schemas.openxmlformats.org/drawingml/2006/main">
            <a:r>
              <a:t>讲解：今天先看近期AI作品，再用几个简单例子解释工作过程。最后亲手测试分类器，提出自己的作品想法。</a:t>
            </a:r>
          </a:p>
          <a:p xmlns:a="http://schemas.openxmlformats.org/drawingml/2006/main">
            <a:r>
              <a:t>课堂提问：你平时使用过哪种AI功能？</a:t>
            </a:r>
          </a:p>
          <a:p xmlns:a="http://schemas.openxmlformats.org/drawingml/2006/main">
            <a:r>
              <a:t>衔接：先看这些能力具体表现在哪里。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https://www.kimi.ai/blog/kimi-k3</a:t>
            </a:r>
          </a:p>
          <a:p xmlns:a="http://schemas.openxmlformats.org/drawingml/2006/main">
            <a:r>
              <a:t>https://seed.bytedance.com/en/seedance2_5</a:t>
            </a:r>
          </a:p>
          <a:p xmlns:a="http://schemas.openxmlformats.org/drawingml/2006/main">
            <a:r>
              <a:t>https://qwen.ai/blog?id=qwen3.8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教学目的：先给学生一张能力概览，避免把AI等同于聊天或生成视频。</a:t>
            </a:r>
          </a:p>
          <a:p xmlns:a="http://schemas.openxmlformats.org/drawingml/2006/main">
            <a:r>
              <a:t>讲解：这四类能力并不互相排斥。一个作品可能同时理解图像、生成程序，并调用其他工具。演示展示的是具体成功案例，后面还要测试条件变化后的表现。</a:t>
            </a:r>
          </a:p>
          <a:p xmlns:a="http://schemas.openxmlformats.org/drawingml/2006/main">
            <a:r>
              <a:t>课堂提问：哪一类与你已经用过的功能相近？</a:t>
            </a:r>
          </a:p>
          <a:p xmlns:a="http://schemas.openxmlformats.org/drawingml/2006/main">
            <a:r>
              <a:t>衔接：先看一个按具体要求生成小工具的例子。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教学目的：通过费用分摊工具，展示AI按要求生成可操作界面的能力。</a:t>
            </a:r>
          </a:p>
          <a:p xmlns:a="http://schemas.openxmlformats.org/drawingml/2006/main">
            <a:r>
              <a:t>讲解：播放约16秒的官方公开工具操作实录。原始要求是按五个人各自吃的食物分摊餐费，并采用夹板式界面。录像展示已生成工具的实际运行，没有收录生成过程。课堂输入为披萨和果汁，姓名为虚构示例。工具使用美元，不将金额说成人民币。</a:t>
            </a:r>
          </a:p>
          <a:p xmlns:a="http://schemas.openxmlformats.org/drawingml/2006/main">
            <a:r>
              <a:t>观看顺序：先把披萨价格从50改成60，再取消小吴的果汁选项，最后查看各自费用。五人平分披萨，四人平分果汁，结果是四人各17、小吴12，总额80。可让学生用心算核对。</a:t>
            </a:r>
          </a:p>
          <a:p xmlns:a="http://schemas.openxmlformats.org/drawingml/2006/main">
            <a:r>
              <a:t>关键区分：AI帮助生成工具；这段录像中的勾选和计算由已有程序执行，不能把每次金额变化都解释成重新训练或再次调用模型。</a:t>
            </a:r>
          </a:p>
          <a:p xmlns:a="http://schemas.openxmlformats.org/drawingml/2006/main">
            <a:r>
              <a:t>课堂提问：为什么小吴的费用和其他人不同？如果改成分摊社团材料费，你还想加什么功能？</a:t>
            </a:r>
          </a:p>
          <a:p xmlns:a="http://schemas.openxmlformats.org/drawingml/2006/main">
            <a:r>
              <a:t>衔接：同样可以把要求变成能操作的游戏。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https://openai.com/index/gpt-6-for-everyone/</a:t>
            </a:r>
          </a:p>
          <a:p xmlns:a="http://schemas.openxmlformats.org/drawingml/2006/main">
            <a:r>
              <a:t>https://cdn.openai.com/ctf-cdn/intelligent-ui/bill-splitter-v5.html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教学目的：让学生看到生成程序的可见结果，并为后面的程序修改建立例子。</a:t>
            </a:r>
          </a:p>
          <a:p xmlns:a="http://schemas.openxmlformats.org/drawingml/2006/main">
            <a:r>
              <a:t>讲解：播放约19秒官方游戏录屏。它展示作品运行，不包含完整生成过程，也不能据此判断所有功能一次生成就成功。教师用中文说明创作要求和实际操作。</a:t>
            </a:r>
          </a:p>
          <a:p xmlns:a="http://schemas.openxmlformats.org/drawingml/2006/main">
            <a:r>
              <a:t>课堂提问：角色怎样移动？</a:t>
            </a:r>
          </a:p>
          <a:p xmlns:a="http://schemas.openxmlformats.org/drawingml/2006/main">
            <a:r>
              <a:t>天气或光照能否改变？</a:t>
            </a:r>
          </a:p>
          <a:p xmlns:a="http://schemas.openxmlformats.org/drawingml/2006/main">
            <a:r>
              <a:t>衔接：除了生成作品，模型也能结合眼前画面进行交流。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https://www.kimi.ai/blog/kimi-k3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教学目的：展示图像、语音和上下文共同参与回答，连接后续展品讲解助手。</a:t>
            </a:r>
          </a:p>
          <a:p xmlns:a="http://schemas.openxmlformats.org/drawingml/2006/main">
            <a:r>
              <a:t>讲解：播放38秒官方展馆片段。请学生注意镜头中的展品和回答内容的联系。官方演示同时涉及视觉理解与语音交互，不能由这段录屏推断展品事实均已核实。课程后续先做文字版讲解助手，不承诺复现所有实时功能。</a:t>
            </a:r>
          </a:p>
          <a:p xmlns:a="http://schemas.openxmlformats.org/drawingml/2006/main">
            <a:r>
              <a:t>课堂提问：镜头换到新展品时，</a:t>
            </a:r>
          </a:p>
          <a:p xmlns:a="http://schemas.openxmlformats.org/drawingml/2006/main">
            <a:r>
              <a:t>回答是否跟着改变？</a:t>
            </a:r>
          </a:p>
          <a:p xmlns:a="http://schemas.openxmlformats.org/drawingml/2006/main">
            <a:r>
              <a:t>衔接：模型还可以根据要求生成画面和声音。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https://seed.bytedance.com/en/seedrealtime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教学目的：通过古诗意境说明画面、人物和声音的生成。</a:t>
            </a:r>
          </a:p>
          <a:p xmlns:a="http://schemas.openxmlformats.org/drawingml/2006/main">
            <a:r>
              <a:t>讲解：播放30秒官方古诗意境示例。说明这是AI生成的艺术创作，不能当作南宋历史影像，也不能把镜头细节当成史实。可问学生若给校园科技节做开场，会怎样改主题、场景或声音。</a:t>
            </a:r>
          </a:p>
          <a:p xmlns:a="http://schemas.openxmlformats.org/drawingml/2006/main">
            <a:r>
              <a:t>课堂提问：场景怎样转换？</a:t>
            </a:r>
          </a:p>
          <a:p xmlns:a="http://schemas.openxmlformats.org/drawingml/2006/main">
            <a:r>
              <a:t>人物和声音是否连贯？</a:t>
            </a:r>
          </a:p>
          <a:p xmlns:a="http://schemas.openxmlformats.org/drawingml/2006/main">
            <a:r>
              <a:t>衔接：生成结果还可以是能旋转、观察和修改的三维模型。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https://seed.bytedance.com/en/blog/one-take-creation-flexible-referencing-introducing-seedance-2-5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教学目的：补充三维设计与视觉信息处理，拓宽展示范围。</a:t>
            </a:r>
          </a:p>
          <a:p xmlns:a="http://schemas.openxmlformats.org/drawingml/2006/main">
            <a:r>
              <a:t>讲解：播放38秒官方多模态示例节选。原片对部分过程采用可视化呈现，最终三维模型由Qwen3.8-Max生成；不把全部画面当作逐步实时操作录屏。可联系教室或社团活动室的布局设计，不讨论工程软件细节。</a:t>
            </a:r>
          </a:p>
          <a:p xmlns:a="http://schemas.openxmlformats.org/drawingml/2006/main">
            <a:r>
              <a:t>课堂提问：怎样安排家具？</a:t>
            </a:r>
          </a:p>
          <a:p xmlns:a="http://schemas.openxmlformats.org/drawingml/2006/main">
            <a:r>
              <a:t>能否从不同角度查看？</a:t>
            </a:r>
          </a:p>
          <a:p xmlns:a="http://schemas.openxmlformats.org/drawingml/2006/main">
            <a:r>
              <a:t>衔接：这些模型也开始操作软件完成多步任务。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https://qwen.ai/blog?id=qwen3.8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教学目的：通过图案修改与三维建模，展示AI使用软件完成任务的能力。</a:t>
            </a:r>
          </a:p>
          <a:p xmlns:a="http://schemas.openxmlformats.org/drawingml/2006/main">
            <a:r>
              <a:t>讲解：播放约32秒的OpenAI官方发布片节选。先观察人物怎样把圆形改成火箭图案，再要求模型使用Blender制作三维模型。最后提出用模型制作游戏的要求；此片段未展示游戏完成后的运行效果。中文字幕是课堂观看提示，不是逐句翻译。发布片已经剪辑，片中等待时间不能作为完成任务实际耗时的依据。</a:t>
            </a:r>
          </a:p>
          <a:p xmlns:a="http://schemas.openxmlformats.org/drawingml/2006/main">
            <a:r>
              <a:t>课堂提问：它用了什么软件？人又提出了什么要求？</a:t>
            </a:r>
          </a:p>
          <a:p xmlns:a="http://schemas.openxmlformats.org/drawingml/2006/main">
            <a:r>
              <a:t>衔接：把这些能力连接到学生自己能完成的两项课程作品。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https://openai.com/index/gpt-6-astra/</a:t>
            </a:r>
          </a:p>
          <a:p xmlns:a="http://schemas.openxmlformats.org/drawingml/2006/main">
            <a:r>
              <a:t>https://player.vimeo.com/video/1222553704?h=ee86f55524</a:t>
            </a:r>
          </a:p>
          <a:p xmlns:a="http://schemas.openxmlformats.org/drawingml/2006/main">
            <a:r>
              <a:t>节选：原片00:14～00:37、01:06～01:15。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教学目的：让兴趣落到具体任务，结束能力展示并连接课程目标。</a:t>
            </a:r>
          </a:p>
          <a:p xmlns:a="http://schemas.openxmlformats.org/drawingml/2006/main">
            <a:r>
              <a:t>讲解：请学生快速选择一个方向，两人各提一项修改。无需现场生成。把“更酷”“更智能”追问成能看见的变化，如速度、讲解顺序或场景。</a:t>
            </a:r>
          </a:p>
          <a:p xmlns:a="http://schemas.openxmlformats.org/drawingml/2006/main">
            <a:r>
              <a:t>课堂提问：你会改哪一处，怎样检查？</a:t>
            </a:r>
          </a:p>
          <a:p xmlns:a="http://schemas.openxmlformats.org/drawingml/2006/main">
            <a:r>
              <a:t>衔接：这十次课将用两项作品练习这些工作。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教学目的：明确学生能在课程中完成的作品及自己的工作。</a:t>
            </a:r>
          </a:p>
          <a:p xmlns:a="http://schemas.openxmlformats.org/drawingml/2006/main">
            <a:r>
              <a:t>讲解：这两项是课程作品要求，不是前沿演示的全部功能复现。视觉项目由电脑分类、micro:bit显示；语言项目先完成基于资料的文字讲解，再增加检索和分支。本课不进行主板编程。</a:t>
            </a:r>
          </a:p>
          <a:p xmlns:a="http://schemas.openxmlformats.org/drawingml/2006/main">
            <a:r>
              <a:t>课堂提问：你想先让哪一位同学来用作品？</a:t>
            </a:r>
          </a:p>
          <a:p xmlns:a="http://schemas.openxmlformats.org/drawingml/2006/main">
            <a:r>
              <a:t>衔接：查看十次课怎样分配这些任务。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教学目的：让学生知道课程进程和实践内容，形成继续学习的具体期待。</a:t>
            </a:r>
          </a:p>
          <a:p xmlns:a="http://schemas.openxmlformats.org/drawingml/2006/main">
            <a:r>
              <a:t>讲解：逐段介绍四个学习阶段，强调每次课的工作有先后关系。先学会分类，再连接显示；先有可靠资料，再做检索和挑战。</a:t>
            </a:r>
          </a:p>
          <a:p xmlns:a="http://schemas.openxmlformats.org/drawingml/2006/main">
            <a:r>
              <a:t>课堂提问：第4课为什么安排在第一次建模之后？</a:t>
            </a:r>
          </a:p>
          <a:p xmlns:a="http://schemas.openxmlformats.org/drawingml/2006/main">
            <a:r>
              <a:t>衔接：今天先练习解释工作过程和检查结果。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教学目的：说明每项活动要完成什么、练习什么。</a:t>
            </a:r>
          </a:p>
          <a:p xmlns:a="http://schemas.openxmlformats.org/drawingml/2006/main">
            <a:r>
              <a:t>讲解：这一页连接目标和任务。卡牌练习判断依据；分类器让每个人测试；资料核对检查回答；课末把想法写具体。</a:t>
            </a:r>
          </a:p>
          <a:p xmlns:a="http://schemas.openxmlformats.org/drawingml/2006/main">
            <a:r>
              <a:t>课堂提问：你最想先弄清哪一个过程？</a:t>
            </a:r>
          </a:p>
          <a:p xmlns:a="http://schemas.openxmlformats.org/drawingml/2006/main">
            <a:r>
              <a:t>衔接：先用同一种功能的两种做法说明判断依据。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教学目的：区分可见功能和实现方法，给卡牌活动一个清楚的起点。</a:t>
            </a:r>
          </a:p>
          <a:p xmlns:a="http://schemas.openxmlformats.org/drawingml/2006/main">
            <a:r>
              <a:t>讲解：先读两种做法，再归纳判断需要技术线索。这里比较的是两种具体答疑页，不把所有规则推理排除在AI之外。</a:t>
            </a:r>
          </a:p>
          <a:p xmlns:a="http://schemas.openxmlformats.org/drawingml/2006/main">
            <a:r>
              <a:t>课堂提问：如果只知道它“会回答”，还缺什么信息？</a:t>
            </a:r>
          </a:p>
          <a:p xmlns:a="http://schemas.openxmlformats.org/drawingml/2006/main">
            <a:r>
              <a:t>衔接：用八张卡练习根据说明判断。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教学目的：通过分类和解释练习证据判断，允许信息不足或分阶段回答。</a:t>
            </a:r>
          </a:p>
          <a:p xmlns:a="http://schemas.openxmlformats.org/drawingml/2006/main">
            <a:r>
              <a:t>讲解：使用学生活动材料第1～3页。固定提醒和关键词答疑只用普通规则；文具分类、从记录学习的视频推荐和短片生成明确用AI；手表与未说明做法的音乐推荐信息不足。AI写的游戏需分别说明创作与运行。90分钟版重点讨论四张，但仍让每人解释一张。</a:t>
            </a:r>
          </a:p>
          <a:p xmlns:a="http://schemas.openxmlformats.org/drawingml/2006/main">
            <a:r>
              <a:t>课堂提问：哪张卡最有分歧？卡片哪句话支持你的判断？</a:t>
            </a:r>
          </a:p>
          <a:p xmlns:a="http://schemas.openxmlformats.org/drawingml/2006/main">
            <a:r>
              <a:t>衔接：先讨论缺少做法说明的手表。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教学目的：用两个可能实现解释“信息不足”为何是合理答案。</a:t>
            </a:r>
          </a:p>
          <a:p xmlns:a="http://schemas.openxmlformats.org/drawingml/2006/main">
            <a:r>
              <a:t>讲解：两种做法都能产生建议，但实现方式不同。真实手表可能混合多个模块；本题需要补足方法说明。</a:t>
            </a:r>
          </a:p>
          <a:p xmlns:a="http://schemas.openxmlformats.org/drawingml/2006/main">
            <a:r>
              <a:t>课堂提问：你会向产品说明书寻找哪类信息？</a:t>
            </a:r>
          </a:p>
          <a:p xmlns:a="http://schemas.openxmlformats.org/drawingml/2006/main">
            <a:r>
              <a:t>衔接：再看需要按阶段区分的游戏卡片。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教学目的：区分创作与运行，避免把作品所有行为都归给AI模型。</a:t>
            </a:r>
          </a:p>
          <a:p xmlns:a="http://schemas.openxmlformats.org/drawingml/2006/main">
            <a:r>
              <a:t>讲解：请学生说出两个阶段的输入与输出。其他游戏可以在运行时调用AI，本例只按卡片信息判断。</a:t>
            </a:r>
          </a:p>
          <a:p xmlns:a="http://schemas.openxmlformats.org/drawingml/2006/main">
            <a:r>
              <a:t>课堂提问：按键控制角色移动时，输入和输出各是什么？</a:t>
            </a:r>
          </a:p>
          <a:p xmlns:a="http://schemas.openxmlformats.org/drawingml/2006/main">
            <a:r>
              <a:t>衔接：将前面案例归纳为AI的基本含义。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教学目的：建立准确且可理解的定义，并连接已经看过的案例。</a:t>
            </a:r>
          </a:p>
          <a:p xmlns:a="http://schemas.openxmlformats.org/drawingml/2006/main">
            <a:r>
              <a:t>讲解：不要求背定义。指出自动化是现象，AI涉及的具体方法还要看模型或知识推理等说明。不要把“从样本学习”当成唯一AI形式，也不要把简单提醒拔高成知识推理系统。</a:t>
            </a:r>
          </a:p>
          <a:p xmlns:a="http://schemas.openxmlformats.org/drawingml/2006/main">
            <a:r>
              <a:t>课堂提问：从今天的案例中选一项，说出它的输入和任务。</a:t>
            </a:r>
          </a:p>
          <a:p xmlns:a="http://schemas.openxmlformats.org/drawingml/2006/main">
            <a:r>
              <a:t>衔接：用手写数字说明为什么需要从例子学习。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https://www.oecd.org/en/publications/explanatory-memorandum-on-the-updated-oecd-definition-of-an-ai-system_623da898-en.html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教学目的：用熟悉的分类问题解释学习样本的作用。</a:t>
            </a:r>
          </a:p>
          <a:p xmlns:a="http://schemas.openxmlformats.org/drawingml/2006/main">
            <a:r>
              <a:t>讲解：先让学生认出三个3，再尝试描述通用规则。保留“写规则难”这一经验，不宣称任何规则方法都不可行。图片来自经典科普，用于解释原理，不作为2026年能力展示。</a:t>
            </a:r>
          </a:p>
          <a:p xmlns:a="http://schemas.openxmlformats.org/drawingml/2006/main">
            <a:r>
              <a:t>课堂提问：你写的规则能覆盖另一位同学的写法吗？</a:t>
            </a:r>
          </a:p>
          <a:p xmlns:a="http://schemas.openxmlformats.org/drawingml/2006/main">
            <a:r>
              <a:t>衔接：看已有模型怎样根据图片给出预测。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https://www.3blue1brown.com/lessons/neural-networks/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教学目的：用可视化解释预测过程，和下一页训练过程分开。</a:t>
            </a:r>
          </a:p>
          <a:p xmlns:a="http://schemas.openxmlformats.org/drawingml/2006/main">
            <a:r>
              <a:t>讲解：内嵌为约7秒无讲解动画，可重复一次并用中文讲解约1分钟：图片转换成数值，已有模型经过计算给出预测。动画中的网络和结果属于原示例，不是本课文具分类器。不讲矩阵与微积分。</a:t>
            </a:r>
          </a:p>
          <a:p xmlns:a="http://schemas.openxmlformats.org/drawingml/2006/main">
            <a:r>
              <a:t>课堂提问：图片进入模型后，</a:t>
            </a:r>
          </a:p>
          <a:p xmlns:a="http://schemas.openxmlformats.org/drawingml/2006/main">
            <a:r>
              <a:t>输出怎样表示类别？</a:t>
            </a:r>
          </a:p>
          <a:p xmlns:a="http://schemas.openxmlformats.org/drawingml/2006/main">
            <a:r>
              <a:t>衔接：回到文具分类器，先看模型的学习阶段。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https://www.3blue1brown.com/lessons/neural-networks/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教学目的：解释样本、类别和模型的关系。</a:t>
            </a:r>
          </a:p>
          <a:p xmlns:a="http://schemas.openxmlformats.org/drawingml/2006/main">
            <a:r>
              <a:t>讲解：展示教师实际准备的样本。课堂工具可使用已有视觉特征能力，再用标注样本建立或调整分类部分；不是从零训练完整视觉大模型。第一课用笔和橡皮演示，第2课起按项目手册采集胶棒、橡皮和空背景，也可选择自己的类别。</a:t>
            </a:r>
          </a:p>
          <a:p xmlns:a="http://schemas.openxmlformats.org/drawingml/2006/main">
            <a:r>
              <a:t>课堂提问：如果样本全部来自同一张白桌面，可能遗漏什么情况？</a:t>
            </a:r>
          </a:p>
          <a:p xmlns:a="http://schemas.openxmlformats.org/drawingml/2006/main">
            <a:r>
              <a:t>衔接：再看保存模型后的使用阶段。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教学目的：区分学习和使用，为后面的换条件测试建立解释。</a:t>
            </a:r>
          </a:p>
          <a:p xmlns:a="http://schemas.openxmlformats.org/drawingml/2006/main">
            <a:r>
              <a:t>讲解：教师展示一张未用于建模的新图片，实际结果以分类器为准。常规推理不自动更新模型参数；如工具另有在线学习机制，应单独说明。</a:t>
            </a:r>
          </a:p>
          <a:p xmlns:a="http://schemas.openxmlformats.org/drawingml/2006/main">
            <a:r>
              <a:t>课堂提问：现在换一张图片，改变的是输入还是模型？</a:t>
            </a:r>
          </a:p>
          <a:p xmlns:a="http://schemas.openxmlformats.org/drawingml/2006/main">
            <a:r>
              <a:t>衔接：文字模型也需要区分训练和当前输入。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教学目的：解释语言模型的基本工作逻辑，不引入不必要的术语。</a:t>
            </a:r>
          </a:p>
          <a:p xmlns:a="http://schemas.openxmlformats.org/drawingml/2006/main">
            <a:r>
              <a:t>讲解：此处省去token等名词，保留逐步生成和上下文两个概念。不是每次都从数据库复制一条现成答案。资料能约束回答，但回答通顺不保证每条事实都有依据。</a:t>
            </a:r>
          </a:p>
          <a:p xmlns:a="http://schemas.openxmlformats.org/drawingml/2006/main">
            <a:r>
              <a:t>课堂提问：它为什么可能写出资料中没有的内容？</a:t>
            </a:r>
          </a:p>
          <a:p xmlns:a="http://schemas.openxmlformats.org/drawingml/2006/main">
            <a:r>
              <a:t>衔接：查看模型在完整应用中还与哪些程序配合。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https://www.3blue1brown.com/lessons/mini-llm/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教学目的：说明模型、程序和设备怎样配合完成任务。</a:t>
            </a:r>
          </a:p>
          <a:p xmlns:a="http://schemas.openxmlformats.org/drawingml/2006/main">
            <a:r>
              <a:t>讲解：用课程两个项目说明模型负责的工作和普通程序、设备或工具的工作。工具使用不是模型凭空获得新知识；程序把工具结果作为信息交给模型继续处理。</a:t>
            </a:r>
          </a:p>
          <a:p xmlns:a="http://schemas.openxmlformats.org/drawingml/2006/main">
            <a:r>
              <a:t>课堂提问：物品识别提示器中，micro:bit需要自己训练分类模型吗？</a:t>
            </a:r>
          </a:p>
          <a:p xmlns:a="http://schemas.openxmlformats.org/drawingml/2006/main">
            <a:r>
              <a:t>衔接：接下来只改变图片输入，测试已有分类器。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教学目的：休息并完成测试设备准备。</a:t>
            </a:r>
          </a:p>
          <a:p xmlns:a="http://schemas.openxmlformats.org/drawingml/2006/main">
            <a:r>
              <a:t>讲解：120分钟版57～62分钟，90分钟版40～45分钟。教师检查分类器、摄像头和两种背景，准备小组测试记录。不要提前宣布预测结果。</a:t>
            </a:r>
          </a:p>
          <a:p xmlns:a="http://schemas.openxmlformats.org/drawingml/2006/main">
            <a:r>
              <a:t>课堂提问：先保留你的猜想。</a:t>
            </a:r>
          </a:p>
          <a:p xmlns:a="http://schemas.openxmlformats.org/drawingml/2006/main">
            <a:r>
              <a:t>衔接：每个人轮流测试一次。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教学目的：让每位学生实际体验输入条件与预测表现的关系。</a:t>
            </a:r>
          </a:p>
          <a:p xmlns:a="http://schemas.openxmlformats.org/drawingml/2006/main">
            <a:r>
              <a:t>讲解：每组共享一台电脑，每人轮流操作。先换背景，再按时间选择角度、距离或同类物品，一次只改一项。图片为AI生成物品示意，不是预测截图。若模型不能运行，使用预先保存的真实输入和预测结果，并说明未实时运行。</a:t>
            </a:r>
          </a:p>
          <a:p xmlns:a="http://schemas.openxmlformats.org/drawingml/2006/main">
            <a:r>
              <a:t>课堂提问：你认为结果会怎样？依据是什么？</a:t>
            </a:r>
          </a:p>
          <a:p xmlns:a="http://schemas.openxmlformats.org/drawingml/2006/main">
            <a:r>
              <a:t>衔接：把两次有代表性的测试写到记录表。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教学目的：让学生把预测、观察和解释分开记录。</a:t>
            </a:r>
          </a:p>
          <a:p xmlns:a="http://schemas.openxmlformats.org/drawingml/2006/main">
            <a:r>
              <a:t>讲解：对应学生活动材料第4页的两行测试记录。不要预先填入成功、失败、类别或置信度。发现或疑问可以在小组讨论后填写。</a:t>
            </a:r>
          </a:p>
          <a:p xmlns:a="http://schemas.openxmlformats.org/drawingml/2006/main">
            <a:r>
              <a:t>课堂提问：你记录的是实际现象，还是你对原因的猜测？</a:t>
            </a:r>
          </a:p>
          <a:p xmlns:a="http://schemas.openxmlformats.org/drawingml/2006/main">
            <a:r>
              <a:t>衔接：用记录说明可能原因，再决定下一次测试。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教学目的：避免把一次出错直接当成原因已经证明。</a:t>
            </a:r>
          </a:p>
          <a:p xmlns:a="http://schemas.openxmlformats.org/drawingml/2006/main">
            <a:r>
              <a:t>讲解：请两组各描述一个真实现象。若预测改变，先检查是否同时改变光照或物品位置。若预测不变，也可以继续测试另一件同类物品。接受多种结果，不为了制造失败而预设答案。</a:t>
            </a:r>
          </a:p>
          <a:p xmlns:a="http://schemas.openxmlformats.org/drawingml/2006/main">
            <a:r>
              <a:t>课堂提问：哪一次测试最能帮助你区分两种解释？</a:t>
            </a:r>
          </a:p>
          <a:p xmlns:a="http://schemas.openxmlformats.org/drawingml/2006/main">
            <a:r>
              <a:t>衔接：根据发现选择需要补充的样本。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教学目的：把测试与改进连接起来，为第2～4课的数据工作作准备。</a:t>
            </a:r>
          </a:p>
          <a:p xmlns:a="http://schemas.openxmlformats.org/drawingml/2006/main">
            <a:r>
              <a:t>讲解：不宣布补充样本后必然成功。选择一个实际失败条件，补充与问题相关的样本，再用相同测试集比较。第一课只需提出改进计划，后续再自己训练。</a:t>
            </a:r>
          </a:p>
          <a:p xmlns:a="http://schemas.openxmlformats.org/drawingml/2006/main">
            <a:r>
              <a:t>课堂提问：哪种样本对应你们刚才遇到的问题？</a:t>
            </a:r>
          </a:p>
          <a:p xmlns:a="http://schemas.openxmlformats.org/drawingml/2006/main">
            <a:r>
              <a:t>衔接：除了改模型，还可以给AI生成的程序提出修改要求。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教学目的：用收集星星小游戏练习描述操作和结果。</a:t>
            </a:r>
          </a:p>
          <a:p xmlns:a="http://schemas.openxmlformats.org/drawingml/2006/main">
            <a:r>
              <a:t>讲解：此处开始的是独立的课堂小游戏，不冒充前面Kimi官方作品。教师课前准备能运行的版本，运行时仅用固定规则。生成式AI由教师投屏，不要求学生注册账号。</a:t>
            </a:r>
          </a:p>
          <a:p xmlns:a="http://schemas.openxmlformats.org/drawingml/2006/main">
            <a:r>
              <a:t>课堂提问：哪句话说明了操作，哪句话说明了结果？</a:t>
            </a:r>
          </a:p>
          <a:p xmlns:a="http://schemas.openxmlformats.org/drawingml/2006/main">
            <a:r>
              <a:t>衔接：选择一项小改动，并先约定怎样检查。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教学目的：让学生理解明确要求与验证方法之间的关系。</a:t>
            </a:r>
          </a:p>
          <a:p xmlns:a="http://schemas.openxmlformats.org/drawingml/2006/main">
            <a:r>
              <a:t>讲解：教师接受一个学生建议，优先选择速度、分数或一个可见元素。此页给出降速示例，不把未知现场建议事先说成已经实现。避免同时改很多功能而看不清原因。</a:t>
            </a:r>
          </a:p>
          <a:p xmlns:a="http://schemas.openxmlformats.org/drawingml/2006/main">
            <a:r>
              <a:t>课堂提问：如果要改成“加倍计分”，检查方法应怎样变？</a:t>
            </a:r>
          </a:p>
          <a:p xmlns:a="http://schemas.openxmlformats.org/drawingml/2006/main">
            <a:r>
              <a:t>衔接：运行两个版本，判断是否符合要求。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教学目的：用相同操作，检查程序修改是否实现。</a:t>
            </a:r>
          </a:p>
          <a:p xmlns:a="http://schemas.openxmlformats.org/drawingml/2006/main">
            <a:r>
              <a:t>讲解：点击播放约17秒的配套程序实际运行录像。先看原版，再看修改版。两版都从同一位置向右移动2秒，原版移动480像素，修改版移动240像素。两版均收集到一颗星星，得1分；点击“重新开始”后，角色返回起点，分数归零。</a:t>
            </a:r>
          </a:p>
          <a:p xmlns:a="http://schemas.openxmlformats.org/drawingml/2006/main">
            <a:r>
              <a:t>课堂组织：第一次完整观看，第二次可暂停在两版移动结束处，请学生指出差异。录像足以完成展示和比较。若学生提出其他修改，再打开配套程序实际测试。</a:t>
            </a:r>
          </a:p>
          <a:p xmlns:a="http://schemas.openxmlformats.org/drawingml/2006/main">
            <a:r>
              <a:t>课堂提问：修改实现了吗？原有功能还正常吗？</a:t>
            </a:r>
          </a:p>
          <a:p xmlns:a="http://schemas.openxmlformats.org/drawingml/2006/main">
            <a:r>
              <a:t>衔接：归纳人在AI辅助制作中承担的工作。</a:t>
            </a:r>
          </a:p>
          <a:p xmlns:a="http://schemas.openxmlformats.org/drawingml/2006/main">
            <a:r>
              <a:t>配套程序：课堂演示/收集星星_原版.html；课堂演示/收集星星_修改版.html。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教学目的：连接能力展示、课程项目和实际操作，避免只强调提示词。</a:t>
            </a:r>
          </a:p>
          <a:p xmlns:a="http://schemas.openxmlformats.org/drawingml/2006/main">
            <a:r>
              <a:t>讲解：请学生从今天已做的操作中找出自己的工作。模型能协助生成和检查，但学生需要理解用途、提供信息，并对最终版本作判断。</a:t>
            </a:r>
          </a:p>
          <a:p xmlns:a="http://schemas.openxmlformats.org/drawingml/2006/main">
            <a:r>
              <a:t>课堂提问：刚才哪一步需要你们自己作决定？</a:t>
            </a:r>
          </a:p>
          <a:p xmlns:a="http://schemas.openxmlformats.org/drawingml/2006/main">
            <a:r>
              <a:t>衔接：接下来检查一段看起来很完整的回答。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教学目的：把来源和回答放在同一页，方便学生逐条比较。</a:t>
            </a:r>
          </a:p>
          <a:p xmlns:a="http://schemas.openxmlformats.org/drawingml/2006/main">
            <a:r>
              <a:t>讲解：给约30秒阅读，再请学生分别核对两条说法。社团为虚构课堂案例，回答由教师编写，不冒充真实模型输出。</a:t>
            </a:r>
          </a:p>
          <a:p xmlns:a="http://schemas.openxmlformats.org/drawingml/2006/main">
            <a:r>
              <a:t>课堂提问：哪句话有依据？还要查什么？</a:t>
            </a:r>
          </a:p>
          <a:p xmlns:a="http://schemas.openxmlformats.org/drawingml/2006/main">
            <a:r>
              <a:t>衔接：区分“缺少依据”和“已经证实错误”。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教学目的：给出检查依据的明确结论和下一步动作。</a:t>
            </a:r>
          </a:p>
          <a:p xmlns:a="http://schemas.openxmlformats.org/drawingml/2006/main">
            <a:r>
              <a:t>讲解：费用可能真实，也可能错误；本页证据只能支持“当前没有依据”。学生要说出与这个社团有关的可靠核实渠道，不能只答“再问一次AI”。</a:t>
            </a:r>
          </a:p>
          <a:p xmlns:a="http://schemas.openxmlformats.org/drawingml/2006/main">
            <a:r>
              <a:t>课堂提问：如果第二次AI给出同样的50元，依据增加了吗？</a:t>
            </a:r>
          </a:p>
          <a:p xmlns:a="http://schemas.openxmlformats.org/drawingml/2006/main">
            <a:r>
              <a:t>衔接：再比较两个具体任务怎样选工具。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教学目的：按任务需要选工具，不以是否使用AI评价方案高低。</a:t>
            </a:r>
          </a:p>
          <a:p xmlns:a="http://schemas.openxmlformats.org/drawingml/2006/main">
            <a:r>
              <a:t>讲解：请学生比较两种任务所需的信息和处理方法。对答案固定且资料很少的场景，也接受整理好的问答页。学生需说明为什么选它，以及怎样检查效果。</a:t>
            </a:r>
          </a:p>
          <a:p xmlns:a="http://schemas.openxmlformats.org/drawingml/2006/main">
            <a:r>
              <a:t>课堂提问：什么情况下直接看活动通知更方便？</a:t>
            </a:r>
          </a:p>
          <a:p xmlns:a="http://schemas.openxmlformats.org/drawingml/2006/main">
            <a:r>
              <a:t>衔接：最后检查我们怎样理解AI的语言表现。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教学目的：区分礼貌表达与情绪体验，理解语言模型怎样产生回答。</a:t>
            </a:r>
          </a:p>
          <a:p xmlns:a="http://schemas.openxmlformats.org/drawingml/2006/main">
            <a:r>
              <a:t>讲解：允许学生使用日常礼貌语。重点是仅凭一句话不能证明人的情绪或经历，不展开没有必要的哲学争论。</a:t>
            </a:r>
          </a:p>
          <a:p xmlns:a="http://schemas.openxmlformats.org/drawingml/2006/main">
            <a:r>
              <a:t>课堂提问：你会怎样解释这句话是怎样产生的？</a:t>
            </a:r>
          </a:p>
          <a:p xmlns:a="http://schemas.openxmlformats.org/drawingml/2006/main">
            <a:r>
              <a:t>衔接：把今天的经验整理成具体的使用做法。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教学目的：把合理使用落到学生能执行的动作。</a:t>
            </a:r>
          </a:p>
          <a:p xmlns:a="http://schemas.openxmlformats.org/drawingml/2006/main">
            <a:r>
              <a:t>讲解：联系今天保护私人信息、核对社团费用和比较程序版本的操作，分别说明检查方法。生成式AI由教师操作，学生本课无须注册账号。</a:t>
            </a:r>
          </a:p>
          <a:p xmlns:a="http://schemas.openxmlformats.org/drawingml/2006/main">
            <a:r>
              <a:t>课堂提问：你今天已经做了其中哪项检查？</a:t>
            </a:r>
          </a:p>
          <a:p xmlns:a="http://schemas.openxmlformats.org/drawingml/2006/main">
            <a:r>
              <a:t>衔接：为自己的工具明确使用者和一项任务。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教学目的：提供一个完整示例，帮助学生写出可实践的想法。</a:t>
            </a:r>
          </a:p>
          <a:p xmlns:a="http://schemas.openxmlformats.org/drawingml/2006/main">
            <a:r>
              <a:t>讲解：这是构思方法示例，不是限定所有小组都做同一主题。学生可以选择社团物品整理、兴趣知识讲解等，但要先缩小为一个使用者的一项任务。</a:t>
            </a:r>
          </a:p>
          <a:p xmlns:a="http://schemas.openxmlformats.org/drawingml/2006/main">
            <a:r>
              <a:t>课堂提问：你愿意先帮助哪一位同学？</a:t>
            </a:r>
          </a:p>
          <a:p xmlns:a="http://schemas.openxmlformats.org/drawingml/2006/main">
            <a:r>
              <a:t>衔接：把想法和今天的理解写到个人记录。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教学目的：收集个人理解和后续兴趣，不用小组结果替代个人表达。</a:t>
            </a:r>
          </a:p>
          <a:p xmlns:a="http://schemas.openxmlformats.org/drawingml/2006/main">
            <a:r>
              <a:t>讲解：对应学生活动材料第5页。独立填写，不要求长段文字。第2题需要区分模型或程序的工作，第3题需要具体来源，第4题写使用者和任务。</a:t>
            </a:r>
          </a:p>
          <a:p xmlns:a="http://schemas.openxmlformats.org/drawingml/2006/main">
            <a:r>
              <a:t>课堂提问：如有不明白的词，先用你自己的话说明例子。</a:t>
            </a:r>
          </a:p>
          <a:p xmlns:a="http://schemas.openxmlformats.org/drawingml/2006/main">
            <a:r>
              <a:t>衔接：用一个完整例子收束全课。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教学目的：用分类器说明任务、样本、预测和测试之间的关系。</a:t>
            </a:r>
          </a:p>
          <a:p xmlns:a="http://schemas.openxmlformats.org/drawingml/2006/main">
            <a:r>
              <a:t>讲解：让学生补充一句自己真实观察到的结果。回顾能力、学习、使用和测试之间的关系，不重复背定义。</a:t>
            </a:r>
          </a:p>
          <a:p xmlns:a="http://schemas.openxmlformats.org/drawingml/2006/main">
            <a:r>
              <a:t>课堂提问：你们的测试为这个例子补充了哪条信息？</a:t>
            </a:r>
          </a:p>
          <a:p xmlns:a="http://schemas.openxmlformats.org/drawingml/2006/main">
            <a:r>
              <a:t>衔接：预告下一课亲手采样和建模。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教学目的：给学生清楚、可完成的课前准备和课后观察。</a:t>
            </a:r>
          </a:p>
          <a:p xmlns:a="http://schemas.openxmlformats.org/drawingml/2006/main">
            <a:r>
              <a:t>讲解：下一课主题与课程大纲保持一致：采样、建模和保存。没有家庭电脑的学生可以先做观察与物品准备，不注册新的平台账号。</a:t>
            </a:r>
          </a:p>
          <a:p xmlns:a="http://schemas.openxmlformats.org/drawingml/2006/main">
            <a:r>
              <a:t>课堂提问：你准备选哪两类物品？</a:t>
            </a:r>
          </a:p>
          <a:p xmlns:a="http://schemas.openxmlformats.org/drawingml/2006/main">
            <a:r>
              <a:t>衔接：第42页为来源与延伸阅读，可按需要展示。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教学目的：提供可追溯的官方来源与延伸阅读，不承担新知识讲解。</a:t>
            </a:r>
          </a:p>
          <a:p xmlns:a="http://schemas.openxmlformats.org/drawingml/2006/main">
            <a:r>
              <a:t>讲解：演示按各页日期标注，不把经典原理视频称为最新能力。第3～8、19、31页共8段视频已内嵌，放映时点击画面播放。展示不需要联网或打开独立视频文件。本页链接供课后查看来源。教师课前在授课电脑上检查视频和音量；学生实际测试分类器时仍需打开分类工具。</a:t>
            </a:r>
          </a:p>
          <a:p xmlns:a="http://schemas.openxmlformats.org/drawingml/2006/main">
            <a:r>
              <a:t>课堂提问：有兴趣的同学可由老师或家长陪同查看资料。</a:t>
            </a:r>
          </a:p>
          <a:p xmlns:a="http://schemas.openxmlformats.org/drawingml/2006/main">
            <a:r>
              <a:t>衔接：课程结束。</a:t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https://openai.com/index/gpt-6-for-everyone/</a:t>
            </a:r>
          </a:p>
          <a:p xmlns:a="http://schemas.openxmlformats.org/drawingml/2006/main">
            <a:r>
              <a:t>https://openai.com/index/gpt-6-astra/</a:t>
            </a:r>
          </a:p>
          <a:p xmlns:a="http://schemas.openxmlformats.org/drawingml/2006/main">
            <a:r>
              <a:t>https://www.kimi.ai/blog/kimi-k3</a:t>
            </a:r>
          </a:p>
          <a:p xmlns:a="http://schemas.openxmlformats.org/drawingml/2006/main">
            <a:r>
              <a:t>https://seed.bytedance.com/en/seedrealtime</a:t>
            </a:r>
          </a:p>
          <a:p xmlns:a="http://schemas.openxmlformats.org/drawingml/2006/main">
            <a:r>
              <a:t>https://seed.bytedance.com/en/seedance2_5</a:t>
            </a:r>
          </a:p>
          <a:p xmlns:a="http://schemas.openxmlformats.org/drawingml/2006/main">
            <a:r>
              <a:t>https://qwen.ai/blog?id=qwen3.8</a:t>
            </a:r>
          </a:p>
          <a:p xmlns:a="http://schemas.openxmlformats.org/drawingml/2006/main">
            <a:r>
              <a:t>https://www.3blue1brown.com/lessons/neural-networks/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7f5e0d13a84b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9605e2e1ea4dfb" /><Relationship Type="http://schemas.openxmlformats.org/officeDocument/2006/relationships/slideLayout" Target="/ppt/slideLayouts/slideLayout1.xml" Id="R5316d84368c446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16d84368c446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6149a5d0044e4" /><Relationship Type="http://schemas.openxmlformats.org/officeDocument/2006/relationships/image" Target="/ppt/media/image.png" Id="Rf1c994ed5094466b" /><Relationship Type="http://schemas.openxmlformats.org/officeDocument/2006/relationships/image" Target="/ppt/media/image.jpeg" Id="R56a5951369454154" /><Relationship Type="http://schemas.openxmlformats.org/officeDocument/2006/relationships/image" Target="/ppt/media/image2.jpeg" Id="R758ae213427b4083" /><Relationship Type="http://schemas.openxmlformats.org/officeDocument/2006/relationships/image" Target="/ppt/media/image3.jpeg" Id="Rd03e778dd30540b2" /><Relationship Type="http://schemas.openxmlformats.org/officeDocument/2006/relationships/notesSlide" Target="/ppt/notesSlides/notesSlide1.xml" Id="R22dd097f64a642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6af6665d542bd" /><Relationship Type="http://schemas.openxmlformats.org/officeDocument/2006/relationships/notesSlide" Target="/ppt/notesSlides/notesSlide2.xml" Id="R3851a7fa11e546d1" /></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745c11bf73340a3" /><ns0:Relationship Type="http://schemas.openxmlformats.org/officeDocument/2006/relationships/image" Target="/ppt/media/image4.jpeg" Id="Rf5b722db6b7c495b" /><ns0:Relationship Type="http://schemas.openxmlformats.org/officeDocument/2006/relationships/notesSlide" Target="/ppt/notesSlides/notesSlide3.xml" Id="R80724784f1484d82" /><ns0:Relationship Id="rIdEmbeddedVideo" Type="http://schemas.openxmlformats.org/officeDocument/2006/relationships/video" Target="../media/lesson-video-3.mp4" /><ns0:Relationship Id="rIdEmbeddedMedia" Type="http://schemas.microsoft.com/office/2007/relationships/media" Target="../media/lesson-video-3.mp4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08258f0119844e6" /><ns0:Relationship Type="http://schemas.openxmlformats.org/officeDocument/2006/relationships/image" Target="/ppt/media/image5.jpeg" Id="R67018d82dc794dae" /><ns0:Relationship Type="http://schemas.openxmlformats.org/officeDocument/2006/relationships/notesSlide" Target="/ppt/notesSlides/notesSlide4.xml" Id="R4418be862bbd4c83" /><ns0:Relationship Id="rIdEmbeddedVideo" Type="http://schemas.openxmlformats.org/officeDocument/2006/relationships/video" Target="../media/lesson-video-4.mp4" /><ns0:Relationship Id="rIdEmbeddedMedia" Type="http://schemas.microsoft.com/office/2007/relationships/media" Target="../media/lesson-video-4.mp4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9708f0e85e74ff2" /><ns0:Relationship Type="http://schemas.openxmlformats.org/officeDocument/2006/relationships/image" Target="/ppt/media/image6.jpeg" Id="R06624974b2bb4af6" /><ns0:Relationship Type="http://schemas.openxmlformats.org/officeDocument/2006/relationships/notesSlide" Target="/ppt/notesSlides/notesSlide5.xml" Id="R45386a5503184809" /><ns0:Relationship Id="rIdEmbeddedVideo" Type="http://schemas.openxmlformats.org/officeDocument/2006/relationships/video" Target="../media/lesson-video-5.mp4" /><ns0:Relationship Id="rIdEmbeddedMedia" Type="http://schemas.microsoft.com/office/2007/relationships/media" Target="../media/lesson-video-5.mp4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a7ff59c67e44cde" /><ns0:Relationship Type="http://schemas.openxmlformats.org/officeDocument/2006/relationships/image" Target="/ppt/media/image7.jpeg" Id="R29f349f47f3c4756" /><ns0:Relationship Type="http://schemas.openxmlformats.org/officeDocument/2006/relationships/notesSlide" Target="/ppt/notesSlides/notesSlide6.xml" Id="R0bfbdf15a7c84b1c" /><ns0:Relationship Id="rIdEmbeddedVideo" Type="http://schemas.openxmlformats.org/officeDocument/2006/relationships/video" Target="../media/lesson-video-6.mp4" /><ns0:Relationship Id="rIdEmbeddedMedia" Type="http://schemas.microsoft.com/office/2007/relationships/media" Target="../media/lesson-video-6.mp4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570403509c14bca" /><ns0:Relationship Type="http://schemas.openxmlformats.org/officeDocument/2006/relationships/image" Target="/ppt/media/image8.jpeg" Id="Rf755876f4d644c83" /><ns0:Relationship Type="http://schemas.openxmlformats.org/officeDocument/2006/relationships/notesSlide" Target="/ppt/notesSlides/notesSlide7.xml" Id="Rc2cb96682a2d4a3e" /><ns0:Relationship Id="rIdEmbeddedVideo" Type="http://schemas.openxmlformats.org/officeDocument/2006/relationships/video" Target="../media/lesson-video-7.mp4" /><ns0:Relationship Id="rIdEmbeddedMedia" Type="http://schemas.microsoft.com/office/2007/relationships/media" Target="../media/lesson-video-7.mp4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96c45201c304d52" /><ns0:Relationship Type="http://schemas.openxmlformats.org/officeDocument/2006/relationships/image" Target="/ppt/media/image9.jpeg" Id="Rf56745e16d5f47aa" /><ns0:Relationship Type="http://schemas.openxmlformats.org/officeDocument/2006/relationships/notesSlide" Target="/ppt/notesSlides/notesSlide8.xml" Id="R4ef87a0152954f86" /><ns0:Relationship Id="rIdEmbeddedVideo" Type="http://schemas.openxmlformats.org/officeDocument/2006/relationships/video" Target="../media/lesson-video-8.mp4" /><ns0:Relationship Id="rIdEmbeddedMedia" Type="http://schemas.microsoft.com/office/2007/relationships/media" Target="../media/lesson-video-8.mp4" /></ns0: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6b8bed5bd4c71" /><Relationship Type="http://schemas.openxmlformats.org/officeDocument/2006/relationships/notesSlide" Target="/ppt/notesSlides/notesSlide9.xml" Id="R12000639cb344c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919270b804d0b" /><Relationship Type="http://schemas.openxmlformats.org/officeDocument/2006/relationships/notesSlide" Target="/ppt/notesSlides/notesSlide10.xml" Id="R1005e7f0700743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a465410f94f52" /><Relationship Type="http://schemas.openxmlformats.org/officeDocument/2006/relationships/notesSlide" Target="/ppt/notesSlides/notesSlide11.xml" Id="Rf86c26aab15b42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c6a3a554a47af" /><Relationship Type="http://schemas.openxmlformats.org/officeDocument/2006/relationships/notesSlide" Target="/ppt/notesSlides/notesSlide12.xml" Id="R6f96ad7c26064d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b1e140b294e3a" /><Relationship Type="http://schemas.openxmlformats.org/officeDocument/2006/relationships/notesSlide" Target="/ppt/notesSlides/notesSlide13.xml" Id="Rde47d9543b4c48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0a82f263a4e78" /><Relationship Type="http://schemas.openxmlformats.org/officeDocument/2006/relationships/notesSlide" Target="/ppt/notesSlides/notesSlide14.xml" Id="R725dd7dc8a9d493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f6d2ea0924521" /><Relationship Type="http://schemas.openxmlformats.org/officeDocument/2006/relationships/notesSlide" Target="/ppt/notesSlides/notesSlide15.xml" Id="Rf67584ed11294c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749c79f6142dc" /><Relationship Type="http://schemas.openxmlformats.org/officeDocument/2006/relationships/notesSlide" Target="/ppt/notesSlides/notesSlide16.xml" Id="Raf7f6bf9c3fe4e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9be62de094408" /><Relationship Type="http://schemas.openxmlformats.org/officeDocument/2006/relationships/notesSlide" Target="/ppt/notesSlides/notesSlide17.xml" Id="R4a28ec98994e4de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c485cde31410c" /><Relationship Type="http://schemas.openxmlformats.org/officeDocument/2006/relationships/image" Target="/ppt/media/image10.jpeg" Id="R37f1209a04084a13" /><Relationship Type="http://schemas.openxmlformats.org/officeDocument/2006/relationships/notesSlide" Target="/ppt/notesSlides/notesSlide18.xml" Id="R12a3457f62824986" /></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0edcbc72a294ed1" /><ns0:Relationship Type="http://schemas.openxmlformats.org/officeDocument/2006/relationships/image" Target="/ppt/media/image11.jpeg" Id="R35b0fa06688e4fe1" /><ns0:Relationship Type="http://schemas.openxmlformats.org/officeDocument/2006/relationships/notesSlide" Target="/ppt/notesSlides/notesSlide19.xml" Id="Rfd0424399d4c4a32" /><ns0:Relationship Id="rIdEmbeddedVideo" Type="http://schemas.openxmlformats.org/officeDocument/2006/relationships/video" Target="../media/lesson-video-19.mp4" /><ns0:Relationship Id="rIdEmbeddedMedia" Type="http://schemas.microsoft.com/office/2007/relationships/media" Target="../media/lesson-video-19.mp4" /></ns0: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1e920f3794b62" /><Relationship Type="http://schemas.openxmlformats.org/officeDocument/2006/relationships/notesSlide" Target="/ppt/notesSlides/notesSlide20.xml" Id="R6adea82aebb4437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b010eac584761" /><Relationship Type="http://schemas.openxmlformats.org/officeDocument/2006/relationships/notesSlide" Target="/ppt/notesSlides/notesSlide21.xml" Id="R5303e2a5681343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d87a53a614fe4" /><Relationship Type="http://schemas.openxmlformats.org/officeDocument/2006/relationships/notesSlide" Target="/ppt/notesSlides/notesSlide22.xml" Id="R8a2f4def2d4045c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7a961b9f24e74" /><Relationship Type="http://schemas.openxmlformats.org/officeDocument/2006/relationships/notesSlide" Target="/ppt/notesSlides/notesSlide23.xml" Id="R8db359fbc5b548b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fffb441fc4cbc" /><Relationship Type="http://schemas.openxmlformats.org/officeDocument/2006/relationships/notesSlide" Target="/ppt/notesSlides/notesSlide24.xml" Id="R43fd984519a8448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6c126a4684e5e" /><Relationship Type="http://schemas.openxmlformats.org/officeDocument/2006/relationships/image" Target="/ppt/media/image2.png" Id="R1eb5e9cc732c4ece" /><Relationship Type="http://schemas.openxmlformats.org/officeDocument/2006/relationships/image" Target="/ppt/media/image3.png" Id="R61920f50b49a4081" /><Relationship Type="http://schemas.openxmlformats.org/officeDocument/2006/relationships/notesSlide" Target="/ppt/notesSlides/notesSlide25.xml" Id="R86eb4d8854884f5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797bd8aa4498a" /><Relationship Type="http://schemas.openxmlformats.org/officeDocument/2006/relationships/notesSlide" Target="/ppt/notesSlides/notesSlide26.xml" Id="Rbd659a2a0f324ce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f286ca34040db" /><Relationship Type="http://schemas.openxmlformats.org/officeDocument/2006/relationships/notesSlide" Target="/ppt/notesSlides/notesSlide27.xml" Id="Ra7338425620c494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e7d602de246ab" /><Relationship Type="http://schemas.openxmlformats.org/officeDocument/2006/relationships/notesSlide" Target="/ppt/notesSlides/notesSlide28.xml" Id="R1d49917f977d4e7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b95a4e2254fad" /><Relationship Type="http://schemas.openxmlformats.org/officeDocument/2006/relationships/notesSlide" Target="/ppt/notesSlides/notesSlide29.xml" Id="R08b1708d2aba4a1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d76b22db74d34" /><Relationship Type="http://schemas.openxmlformats.org/officeDocument/2006/relationships/notesSlide" Target="/ppt/notesSlides/notesSlide30.xml" Id="R65a751af8ac54a72" /></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29a062b17da4706" /><ns0:Relationship Type="http://schemas.openxmlformats.org/officeDocument/2006/relationships/image" Target="/ppt/media/image12.jpeg" Id="Radc80a07518847d1" /><ns0:Relationship Type="http://schemas.openxmlformats.org/officeDocument/2006/relationships/notesSlide" Target="/ppt/notesSlides/notesSlide31.xml" Id="R4c0308db5e9c4dfd" /><ns0:Relationship Id="rIdEmbeddedVideo" Type="http://schemas.openxmlformats.org/officeDocument/2006/relationships/video" Target="../media/lesson-video-31.mp4" /><ns0:Relationship Id="rIdEmbeddedMedia" Type="http://schemas.microsoft.com/office/2007/relationships/media" Target="../media/lesson-video-31.mp4" /></ns0: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cd3b32a5f462c" /><Relationship Type="http://schemas.openxmlformats.org/officeDocument/2006/relationships/notesSlide" Target="/ppt/notesSlides/notesSlide32.xml" Id="R2ef346a4a0e149a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2a50a84254401" /><Relationship Type="http://schemas.openxmlformats.org/officeDocument/2006/relationships/notesSlide" Target="/ppt/notesSlides/notesSlide33.xml" Id="R6e905c16e1d345c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836a8264349da" /><Relationship Type="http://schemas.openxmlformats.org/officeDocument/2006/relationships/notesSlide" Target="/ppt/notesSlides/notesSlide34.xml" Id="R90638b5e5c0d412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1ffd9adf04624" /><Relationship Type="http://schemas.openxmlformats.org/officeDocument/2006/relationships/notesSlide" Target="/ppt/notesSlides/notesSlide35.xml" Id="R3d94918ede254eb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152433cd94439" /><Relationship Type="http://schemas.openxmlformats.org/officeDocument/2006/relationships/notesSlide" Target="/ppt/notesSlides/notesSlide36.xml" Id="R45e1fd9dd989446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437164bca4419" /><Relationship Type="http://schemas.openxmlformats.org/officeDocument/2006/relationships/notesSlide" Target="/ppt/notesSlides/notesSlide37.xml" Id="Re5664318e25b4c1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ad122c4cf4cd6" /><Relationship Type="http://schemas.openxmlformats.org/officeDocument/2006/relationships/notesSlide" Target="/ppt/notesSlides/notesSlide38.xml" Id="Re5b4cf267cfe4e0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3ac31294e4c7d" /><Relationship Type="http://schemas.openxmlformats.org/officeDocument/2006/relationships/notesSlide" Target="/ppt/notesSlides/notesSlide39.xml" Id="R5e517024e34e4d4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be267a01640e1" /><Relationship Type="http://schemas.openxmlformats.org/officeDocument/2006/relationships/notesSlide" Target="/ppt/notesSlides/notesSlide40.xml" Id="R41646221fcc34ed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ce99edefa4295" /><Relationship Type="http://schemas.openxmlformats.org/officeDocument/2006/relationships/notesSlide" Target="/ppt/notesSlides/notesSlide41.xml" Id="R651ee4830b084a9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71a0f093f4896" /><Relationship Type="http://schemas.openxmlformats.org/officeDocument/2006/relationships/hyperlink" Target="https://openai.com/index/gpt-6-for-everyone/" TargetMode="External" Id="R81141b7c9314471c" /><Relationship Type="http://schemas.openxmlformats.org/officeDocument/2006/relationships/hyperlink" Target="https://openai.com/index/gpt-6-astra/" TargetMode="External" Id="Re77d06cf9c4a4211" /><Relationship Type="http://schemas.openxmlformats.org/officeDocument/2006/relationships/hyperlink" Target="https://www.kimi.ai/blog/kimi-k3" TargetMode="External" Id="Rebc81483c0b74e6c" /><Relationship Type="http://schemas.openxmlformats.org/officeDocument/2006/relationships/hyperlink" Target="https://seed.bytedance.com/en/seedrealtime" TargetMode="External" Id="Rf98d9b2297cb420b" /><Relationship Type="http://schemas.openxmlformats.org/officeDocument/2006/relationships/hyperlink" Target="https://seed.bytedance.com/en/seedance2_5" TargetMode="External" Id="R0298dd3d005f44c8" /><Relationship Type="http://schemas.openxmlformats.org/officeDocument/2006/relationships/hyperlink" Target="https://qwen.ai/blog?id=qwen3.8" TargetMode="External" Id="Rabfee8b4a926447f" /><Relationship Type="http://schemas.openxmlformats.org/officeDocument/2006/relationships/hyperlink" Target="https://www.3blue1brown.com/lessons/neural-networks/" TargetMode="External" Id="Re6ea013d7e8d417d" /><Relationship Type="http://schemas.openxmlformats.org/officeDocument/2006/relationships/notesSlide" Target="/ppt/notesSlides/notesSlide42.xml" Id="R5038d0b249aa4615" 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1" name=""/>
          <p:cNvPicPr>
            <a:picLocks noChangeAspect="1"/>
          </p:cNvPicPr>
          <p:nvPr/>
        </p:nvPicPr>
        <p:blipFill>
          <a:blip r:embed="Rf1c994ed5094466b"/>
          <a:stretch/>
        </p:blipFill>
        <p:spPr>
          <a:xfrm>
            <a:off x="609600" y="439562"/>
            <a:ext cx="2257425" cy="540100"/>
          </a:xfrm>
          <a:prstGeom prst="rect">
            <a:avLst/>
          </a:prstGeom>
        </p:spPr>
      </p:pic>
      <p:sp>
        <p:nvSpPr>
          <p:cNvPr id="2" name="AI 创想工坊 · 第一课">
            <a:extLst>
              <a:ext uri="{FF2B5EF4-FFF2-40B4-BE49-F238E27FC236}">
                <ns3:creationId id="{DD6E51C8-07DE-439F-82C8-043FD6F22D65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5619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00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AI 创想工坊 · 第一课</a:t>
            </a:r>
          </a:p>
        </p:txBody>
      </p:sp>
      <p:sp>
        <p:nvSpPr>
          <p:cNvPr id="3" name="AI侦探">
            <a:extLst>
              <a:ext uri="{FF2B5EF4-FFF2-40B4-BE49-F238E27FC236}">
                <ns3:creationId id="{A055CF5E-28F0-4E2B-818A-01EC88450E51}"/>
              </a:ext>
            </a:extLst>
          </p:cNvPr>
          <p:cNvSpPr>
            <a:spLocks noGrp="1"/>
          </p:cNvSpPr>
          <p:nvPr/>
        </p:nvSpPr>
        <p:spPr>
          <a:xfrm>
            <a:off x="552450" y="2400300"/>
            <a:ext cx="57150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AI侦探</a:t>
            </a:r>
          </a:p>
        </p:txBody>
      </p:sp>
      <p:sp>
        <p:nvSpPr>
          <p:cNvPr id="4" name="人工智能能做什么，&#10;怎样工作">
            <a:extLst>
              <a:ext uri="{FF2B5EF4-FFF2-40B4-BE49-F238E27FC236}">
                <ns3:creationId id="{91BD5D9C-521B-4372-8D2F-F2F5DFC24EF1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5286375" cy="1257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0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人工智能能做什么，</a:t>
            </a:r>
          </a:p>
          <a:p>
            <a:pPr algn="l">
              <a:lnSpc>
                <a:spcPct val="122000"/>
              </a:lnSpc>
              <a:buNone/>
              <a:defRPr sz="30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怎样工作</a:t>
            </a:r>
          </a:p>
        </p:txBody>
      </p:sp>
      <p:sp>
        <p:nvSpPr>
          <p:cNvPr id="5" name="佛山市南海区石门实验中学">
            <a:extLst>
              <a:ext uri="{FF2B5EF4-FFF2-40B4-BE49-F238E27FC236}">
                <ns3:creationId id="{C5C65D1E-58E6-4209-80CD-ADEA2755D762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6191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佛山市南海区石门实验中学</a:t>
            </a:r>
          </a:p>
        </p:txBody>
      </p:sp>
      <p:sp>
        <p:nvSpPr>
          <p:cNvPr id="6" name="">
            <a:extLst>
              <a:ext uri="{FF2B5EF4-FFF2-40B4-BE49-F238E27FC236}">
                <ns3:creationId id="{18BFFE0E-9788-4F4D-A571-D79C85B095C2}"/>
              </a:ext>
            </a:extLst>
          </p:cNvPr>
          <p:cNvSpPr>
            <a:spLocks noGrp="1"/>
          </p:cNvSpPr>
          <p:nvPr/>
        </p:nvSpPr>
        <p:spPr>
          <a:xfrm>
            <a:off x="6400800" y="1066800"/>
            <a:ext cx="47625" cy="474345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pic>
        <p:nvPicPr>
          <p:cNvPr id="17" name=""/>
          <p:cNvPicPr>
            <a:picLocks noChangeAspect="1"/>
          </p:cNvPicPr>
          <p:nvPr/>
        </p:nvPicPr>
        <p:blipFill>
          <a:blip r:embed="R56a5951369454154"/>
          <a:srcRect l="0" t="13318" r="0" b="13318"/>
          <a:stretch>
            <a:fillRect l="0" t="0" r="0" b="0"/>
          </a:stretch>
        </p:blipFill>
        <p:spPr>
          <a:xfrm>
            <a:off x="6629400" y="1066800"/>
            <a:ext cx="5562600" cy="2295525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>
          <a:blip r:embed="R758ae213427b4083"/>
          <a:srcRect l="17557" t="0" r="17557" b="0"/>
          <a:stretch>
            <a:fillRect l="0" t="0" r="0" b="0"/>
          </a:stretch>
        </p:blipFill>
        <p:spPr>
          <a:xfrm>
            <a:off x="6629400" y="3514725"/>
            <a:ext cx="2647950" cy="2295525"/>
          </a:xfrm>
          <a:prstGeom prst="rect">
            <a:avLst/>
          </a:prstGeom>
        </p:spPr>
      </p:pic>
      <p:pic>
        <p:nvPicPr>
          <p:cNvPr id="19" name=""/>
          <p:cNvPicPr>
            <a:picLocks noChangeAspect="1"/>
          </p:cNvPicPr>
          <p:nvPr/>
        </p:nvPicPr>
        <p:blipFill>
          <a:blip r:embed="Rd03e778dd30540b2"/>
          <a:srcRect l="16157" t="0" r="16157" b="0"/>
          <a:stretch>
            <a:fillRect l="0" t="0" r="0" b="0"/>
          </a:stretch>
        </p:blipFill>
        <p:spPr>
          <a:xfrm>
            <a:off x="9429750" y="3514725"/>
            <a:ext cx="2762250" cy="2295525"/>
          </a:xfrm>
          <a:prstGeom prst="rect">
            <a:avLst/>
          </a:prstGeom>
        </p:spPr>
      </p:pic>
      <p:sp>
        <p:nvSpPr>
          <p:cNvPr id="10" name="2026 年官方演示画面">
            <a:extLst>
              <a:ext uri="{FF2B5EF4-FFF2-40B4-BE49-F238E27FC236}">
                <ns3:creationId id="{F52CCF25-A879-4873-9A94-A4E5831A44C2}"/>
              </a:ext>
            </a:extLst>
          </p:cNvPr>
          <p:cNvSpPr>
            <a:spLocks noGrp="1"/>
          </p:cNvSpPr>
          <p:nvPr/>
        </p:nvSpPr>
        <p:spPr>
          <a:xfrm>
            <a:off x="7734300" y="5981700"/>
            <a:ext cx="3848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27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2026 年官方演示画面</a:t>
            </a:r>
          </a:p>
        </p:txBody>
      </p:sp>
    </p:spTree>
    <p:extLst>
      <p:ext uri="{BB962C8B-B14F-4D97-AF65-F5344CB8AC3E}">
        <p14:creationId val="96835783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4" name="">
            <a:extLst>
              <a:ext uri="{FF2B5EF4-FFF2-40B4-BE49-F238E27FC236}">
                <ns2:creationId id="{4996BE5A-D4D9-4856-A469-B63DBF2815D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AI 的能力">
            <a:extLst>
              <a:ext uri="{FF2B5EF4-FFF2-40B4-BE49-F238E27FC236}">
                <ns2:creationId id="{F4713298-83E0-4C1A-8A44-2FD22BC1A5F1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的能力</a:t>
            </a:r>
          </a:p>
        </p:txBody>
      </p:sp>
      <p:sp>
        <p:nvSpPr>
          <p:cNvPr id="3" name="AI现在能做什么">
            <a:extLst>
              <a:ext uri="{FF2B5EF4-FFF2-40B4-BE49-F238E27FC236}">
                <ns2:creationId id="{1DCCA2F8-135B-4DBF-9DF2-B1601DCD3309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AI现在能做什么</a:t>
            </a:r>
          </a:p>
        </p:txBody>
      </p:sp>
      <p:sp>
        <p:nvSpPr>
          <p:cNvPr id="4" name="">
            <a:extLst>
              <a:ext uri="{FF2B5EF4-FFF2-40B4-BE49-F238E27FC236}">
                <ns2:creationId id="{D3777793-ED4F-438E-B322-02CC82340BF8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9553C650-D50D-4AD7-961C-DA7B2A7959C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02">
            <a:extLst>
              <a:ext uri="{FF2B5EF4-FFF2-40B4-BE49-F238E27FC236}">
                <ns2:creationId id="{F9028C2C-5F4C-44AD-ACED-B1AA42528CB1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7" name="看每段演示时，留意输入的要求和实际得到的结果。">
            <a:extLst>
              <a:ext uri="{FF2B5EF4-FFF2-40B4-BE49-F238E27FC236}">
                <ns2:creationId id="{15500F68-52B2-4AE6-8F4B-4F046B66329A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看每段演示时，留意输入的要求和实际得到的结果。</a:t>
            </a:r>
          </a:p>
        </p:txBody>
      </p:sp>
      <p:sp>
        <p:nvSpPr>
          <p:cNvPr id="8" name="01">
            <a:extLst>
              <a:ext uri="{FF2B5EF4-FFF2-40B4-BE49-F238E27FC236}">
                <ns2:creationId id="{7D813D58-F32D-4F10-9750-30CE0CB1D46A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9" name="理解与交流">
            <a:extLst>
              <a:ext uri="{FF2B5EF4-FFF2-40B4-BE49-F238E27FC236}">
                <ns2:creationId id="{B18D94F3-64CB-4819-BC2E-94227602F02B}"/>
              </a:ext>
            </a:extLst>
          </p:cNvPr>
          <p:cNvSpPr>
            <a:spLocks noGrp="1"/>
          </p:cNvSpPr>
          <p:nvPr/>
        </p:nvSpPr>
        <p:spPr>
          <a:xfrm>
            <a:off x="1276350" y="2476500"/>
            <a:ext cx="4476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理解与交流</a:t>
            </a:r>
          </a:p>
        </p:txBody>
      </p:sp>
      <p:sp>
        <p:nvSpPr>
          <p:cNvPr id="10" name="结合画面和声音，回答眼前的问题。">
            <a:extLst>
              <a:ext uri="{FF2B5EF4-FFF2-40B4-BE49-F238E27FC236}">
                <ns2:creationId id="{91B5CE45-9DD9-4606-ADD9-EC9FEA045F88}"/>
              </a:ext>
            </a:extLst>
          </p:cNvPr>
          <p:cNvSpPr>
            <a:spLocks noGrp="1"/>
          </p:cNvSpPr>
          <p:nvPr/>
        </p:nvSpPr>
        <p:spPr>
          <a:xfrm>
            <a:off x="1276350" y="3048000"/>
            <a:ext cx="4429125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结合画面和声音，回答眼前的问题。</a:t>
            </a:r>
          </a:p>
        </p:txBody>
      </p:sp>
      <p:sp>
        <p:nvSpPr>
          <p:cNvPr id="11" name="">
            <a:extLst>
              <a:ext uri="{FF2B5EF4-FFF2-40B4-BE49-F238E27FC236}">
                <ns2:creationId id="{ACA4E5CF-830E-4334-9E27-4AF1CB38086E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50673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2" name="02">
            <a:extLst>
              <a:ext uri="{FF2B5EF4-FFF2-40B4-BE49-F238E27FC236}">
                <ns2:creationId id="{ED4217B8-E408-48E9-BD4F-6818FC352C69}"/>
              </a:ext>
            </a:extLst>
          </p:cNvPr>
          <p:cNvSpPr>
            <a:spLocks noGrp="1"/>
          </p:cNvSpPr>
          <p:nvPr/>
        </p:nvSpPr>
        <p:spPr>
          <a:xfrm>
            <a:off x="6515100" y="2524125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生成内容">
            <a:extLst>
              <a:ext uri="{FF2B5EF4-FFF2-40B4-BE49-F238E27FC236}">
                <ns2:creationId id="{D1C01695-1696-4B48-9315-C1BE3CA50433}"/>
              </a:ext>
            </a:extLst>
          </p:cNvPr>
          <p:cNvSpPr>
            <a:spLocks noGrp="1"/>
          </p:cNvSpPr>
          <p:nvPr/>
        </p:nvSpPr>
        <p:spPr>
          <a:xfrm>
            <a:off x="7181850" y="2476500"/>
            <a:ext cx="4476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生成内容</a:t>
            </a:r>
          </a:p>
        </p:txBody>
      </p:sp>
      <p:sp>
        <p:nvSpPr>
          <p:cNvPr id="14" name="按要求生成图像、声音和连续镜头。">
            <a:extLst>
              <a:ext uri="{FF2B5EF4-FFF2-40B4-BE49-F238E27FC236}">
                <ns2:creationId id="{49CE36E5-ABBE-4D28-AECD-6146BFF1651B}"/>
              </a:ext>
            </a:extLst>
          </p:cNvPr>
          <p:cNvSpPr>
            <a:spLocks noGrp="1"/>
          </p:cNvSpPr>
          <p:nvPr/>
        </p:nvSpPr>
        <p:spPr>
          <a:xfrm>
            <a:off x="7181850" y="3048000"/>
            <a:ext cx="4429125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按要求生成图像、声音和连续镜头。</a:t>
            </a:r>
          </a:p>
        </p:txBody>
      </p:sp>
      <p:sp>
        <p:nvSpPr>
          <p:cNvPr id="15" name="">
            <a:extLst>
              <a:ext uri="{FF2B5EF4-FFF2-40B4-BE49-F238E27FC236}">
                <ns2:creationId id="{AABA22F2-0D0A-4CC9-B765-F3A02D6B7960}"/>
              </a:ext>
            </a:extLst>
          </p:cNvPr>
          <p:cNvSpPr>
            <a:spLocks noGrp="1"/>
          </p:cNvSpPr>
          <p:nvPr/>
        </p:nvSpPr>
        <p:spPr>
          <a:xfrm>
            <a:off x="6515100" y="3857625"/>
            <a:ext cx="50673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6" name="03">
            <a:extLst>
              <a:ext uri="{FF2B5EF4-FFF2-40B4-BE49-F238E27FC236}">
                <ns2:creationId id="{B3D4343C-2BBE-4A35-B79A-32EC3D194473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制作可交互作品">
            <a:extLst>
              <a:ext uri="{FF2B5EF4-FFF2-40B4-BE49-F238E27FC236}">
                <ns2:creationId id="{CFB28BF4-95C5-498B-A528-B9B70F37353F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4476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制作可交互作品</a:t>
            </a:r>
          </a:p>
        </p:txBody>
      </p:sp>
      <p:sp>
        <p:nvSpPr>
          <p:cNvPr id="18" name="生成程序，做出能操作的游戏或图解。">
            <a:extLst>
              <a:ext uri="{FF2B5EF4-FFF2-40B4-BE49-F238E27FC236}">
                <ns2:creationId id="{6DE2CAA4-0092-419A-8973-5E185139218F}"/>
              </a:ext>
            </a:extLst>
          </p:cNvPr>
          <p:cNvSpPr>
            <a:spLocks noGrp="1"/>
          </p:cNvSpPr>
          <p:nvPr/>
        </p:nvSpPr>
        <p:spPr>
          <a:xfrm>
            <a:off x="1276350" y="4638675"/>
            <a:ext cx="4429125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生成程序，做出能操作的游戏或图解。</a:t>
            </a:r>
          </a:p>
        </p:txBody>
      </p:sp>
      <p:sp>
        <p:nvSpPr>
          <p:cNvPr id="19" name="04">
            <a:extLst>
              <a:ext uri="{FF2B5EF4-FFF2-40B4-BE49-F238E27FC236}">
                <ns2:creationId id="{B8F88177-3D09-4A51-8D8F-B6BC41578EF2}"/>
              </a:ext>
            </a:extLst>
          </p:cNvPr>
          <p:cNvSpPr>
            <a:spLocks noGrp="1"/>
          </p:cNvSpPr>
          <p:nvPr/>
        </p:nvSpPr>
        <p:spPr>
          <a:xfrm>
            <a:off x="6515100" y="4114800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0" name="使用软件工具">
            <a:extLst>
              <a:ext uri="{FF2B5EF4-FFF2-40B4-BE49-F238E27FC236}">
                <ns2:creationId id="{CA1D09CC-69C2-428A-993F-B5DB5B484CC3}"/>
              </a:ext>
            </a:extLst>
          </p:cNvPr>
          <p:cNvSpPr>
            <a:spLocks noGrp="1"/>
          </p:cNvSpPr>
          <p:nvPr/>
        </p:nvSpPr>
        <p:spPr>
          <a:xfrm>
            <a:off x="7181850" y="4067175"/>
            <a:ext cx="4476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使用软件工具</a:t>
            </a:r>
          </a:p>
        </p:txBody>
      </p:sp>
      <p:sp>
        <p:nvSpPr>
          <p:cNvPr id="21" name="查资料、操作软件，再检查和修改结果。">
            <a:extLst>
              <a:ext uri="{FF2B5EF4-FFF2-40B4-BE49-F238E27FC236}">
                <ns2:creationId id="{BE0E2A71-8916-4A58-B7C3-D2D09F3B8BC4}"/>
              </a:ext>
            </a:extLst>
          </p:cNvPr>
          <p:cNvSpPr>
            <a:spLocks noGrp="1"/>
          </p:cNvSpPr>
          <p:nvPr/>
        </p:nvSpPr>
        <p:spPr>
          <a:xfrm>
            <a:off x="7181850" y="4638675"/>
            <a:ext cx="4429125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查资料、操作软件，再检查和修改结果。</a:t>
            </a:r>
          </a:p>
        </p:txBody>
      </p:sp>
      <p:sp>
        <p:nvSpPr>
          <p:cNvPr id="22" name="">
            <a:extLst>
              <a:ext uri="{FF2B5EF4-FFF2-40B4-BE49-F238E27FC236}">
                <ns2:creationId id="{8B4CAE61-7959-42E7-875E-78B9B4ABA949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3" name="一个作品可以组合使用多种能力。">
            <a:extLst>
              <a:ext uri="{FF2B5EF4-FFF2-40B4-BE49-F238E27FC236}">
                <ns2:creationId id="{18448CC2-9815-40C1-BF20-9B925D620536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一个作品可以组合使用多种能力。</a:t>
            </a:r>
          </a:p>
        </p:txBody>
      </p:sp>
    </p:spTree>
    <p:extLst>
      <p:ext uri="{BB962C8B-B14F-4D97-AF65-F5344CB8AC3E}">
        <p14:creationId val="1751762820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45DB9E1B-0C4D-444C-BC03-D1736DA4830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AI 的能力">
            <a:extLst>
              <a:ext uri="{FF2B5EF4-FFF2-40B4-BE49-F238E27FC236}">
                <ns2:creationId id="{2BAF24E3-8817-41C9-851B-1B5A6AE475B3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的能力</a:t>
            </a:r>
          </a:p>
        </p:txBody>
      </p:sp>
      <p:sp>
        <p:nvSpPr>
          <p:cNvPr id="3" name="按要求生成费用分摊工具">
            <a:extLst>
              <a:ext uri="{FF2B5EF4-FFF2-40B4-BE49-F238E27FC236}">
                <ns2:creationId id="{4934A0B3-1754-4E89-933D-A3F5B42B3CD9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按要求生成费用分摊工具</a:t>
            </a:r>
          </a:p>
        </p:txBody>
      </p:sp>
      <p:sp>
        <p:nvSpPr>
          <p:cNvPr id="4" name="">
            <a:extLst>
              <a:ext uri="{FF2B5EF4-FFF2-40B4-BE49-F238E27FC236}">
                <ns2:creationId id="{CCB3ED7C-D3B6-4BB8-A0F4-1DCA29207D3B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1A2CD8F2-3645-47CE-B390-0744FCD461A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03">
            <a:extLst>
              <a:ext uri="{FF2B5EF4-FFF2-40B4-BE49-F238E27FC236}">
                <ns2:creationId id="{A0A2C8A9-C0EF-40E2-875A-9467AAB35B21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7" name="OpenAI GPT-6 Intelligent UI · 官方公开工具的操作实">
            <a:extLst>
              <a:ext uri="{FF2B5EF4-FFF2-40B4-BE49-F238E27FC236}">
                <ns2:creationId id="{55CC07C3-E7F2-4758-BEC3-D7A153163D2F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OpenAI GPT-6 Intelligent UI · 官方公开工具的操作实录</a:t>
            </a:r>
          </a:p>
        </p:txBody>
      </p:sp>
      <p:pic>
        <p:nvPicPr>
          <p:cNvPr id="2003" name="按要求生成费用分摊工具（静态封面）" descr="按要求生成费用分摊工具的视频封面"/>
          <p:cNvPicPr>
            <a:picLocks noChangeAspect="1"/>
          </p:cNvPicPr>
          <p:nvPr/>
        </p:nvPicPr>
        <p:blipFill>
          <a:blip r:embed="Rf5b722db6b7c495b"/>
          <a:stretch/>
        </p:blipFill>
        <p:spPr>
          <a:xfrm>
            <a:off x="1698171" y="2076450"/>
            <a:ext cx="5442857" cy="3810000"/>
          </a:xfrm>
          <a:prstGeom prst="rect">
            <a:avLst/>
          </a:prstGeom>
        </p:spPr>
      </p:pic>
      <p:pic>
        <p:nvPicPr>
          <p:cNvPr id="23" name="按要求生成费用分摊工具（内嵌视频）" descr="按要求生成费用分摊工具，放映时点击播放">
            <a:hlinkClick action="ppaction://media"/>
          </p:cNvPr>
          <p:cNvPicPr>
            <a:picLocks noChangeAspect="1"/>
          </p:cNvPicPr>
          <p:nvPr>
            <a:videoFile r:link="rIdEmbeddedVideo"/>
            <p:extLst>
              <p:ext uri="{DAA4B4D4-6D71-4841-9C94-3DE7FCFB9230}">
                <p14:media r:embed="rIdEmbeddedMedia"/>
              </p:ext>
            </p:extLst>
          </p:nvPr>
        </p:nvPicPr>
        <p:blipFill>
          <a:blip r:embed="Rf5b722db6b7c495b"/>
          <a:stretch/>
        </p:blipFill>
        <p:spPr>
          <a:xfrm>
            <a:off x="1698171" y="2076450"/>
            <a:ext cx="5442857" cy="3810000"/>
          </a:xfrm>
          <a:prstGeom prst="rect">
            <a:avLst/>
          </a:prstGeom>
        </p:spPr>
      </p:pic>
      <p:sp>
        <p:nvSpPr>
          <p:cNvPr id="9" name="输入">
            <a:extLst>
              <a:ext uri="{FF2B5EF4-FFF2-40B4-BE49-F238E27FC236}">
                <ns2:creationId id="{21378B5C-01A4-4A19-BFA1-64CE6699B60A}"/>
              </a:ext>
            </a:extLst>
          </p:cNvPr>
          <p:cNvSpPr>
            <a:spLocks noGrp="1"/>
          </p:cNvSpPr>
          <p:nvPr/>
        </p:nvSpPr>
        <p:spPr>
          <a:xfrm>
            <a:off x="8686800" y="22479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10" name="五人分摊餐费，&#10;按各自吃的食物计算。">
            <a:extLst>
              <a:ext uri="{FF2B5EF4-FFF2-40B4-BE49-F238E27FC236}">
                <ns2:creationId id="{1AF23AEC-50EE-4CDF-93C3-66E77B84742B}"/>
              </a:ext>
            </a:extLst>
          </p:cNvPr>
          <p:cNvSpPr>
            <a:spLocks noGrp="1"/>
          </p:cNvSpPr>
          <p:nvPr/>
        </p:nvSpPr>
        <p:spPr>
          <a:xfrm>
            <a:off x="8686800" y="26765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五人分摊餐费，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按各自吃的食物计算。</a:t>
            </a:r>
          </a:p>
        </p:txBody>
      </p:sp>
      <p:sp>
        <p:nvSpPr>
          <p:cNvPr id="11" name="观看重点">
            <a:extLst>
              <a:ext uri="{FF2B5EF4-FFF2-40B4-BE49-F238E27FC236}">
                <ns2:creationId id="{F251CCED-0524-4BF8-BA9E-3254F3D1C1C2}"/>
              </a:ext>
            </a:extLst>
          </p:cNvPr>
          <p:cNvSpPr>
            <a:spLocks noGrp="1"/>
          </p:cNvSpPr>
          <p:nvPr/>
        </p:nvSpPr>
        <p:spPr>
          <a:xfrm>
            <a:off x="8686800" y="38100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观看重点</a:t>
            </a:r>
          </a:p>
        </p:txBody>
      </p:sp>
      <p:sp>
        <p:nvSpPr>
          <p:cNvPr id="12" name="改价格、选参与者，&#10;各自应付多少？">
            <a:extLst>
              <a:ext uri="{FF2B5EF4-FFF2-40B4-BE49-F238E27FC236}">
                <ns2:creationId id="{280662A2-62C2-4EFD-830A-579AA252A71C}"/>
              </a:ext>
            </a:extLst>
          </p:cNvPr>
          <p:cNvSpPr>
            <a:spLocks noGrp="1"/>
          </p:cNvSpPr>
          <p:nvPr/>
        </p:nvSpPr>
        <p:spPr>
          <a:xfrm>
            <a:off x="8686800" y="42386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改价格、选参与者，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各自应付多少？</a:t>
            </a:r>
          </a:p>
        </p:txBody>
      </p:sp>
      <p:sp>
        <p:nvSpPr>
          <p:cNvPr id="13" name="官方工具 · 2026.10.07">
            <a:extLst>
              <a:ext uri="{FF2B5EF4-FFF2-40B4-BE49-F238E27FC236}">
                <ns2:creationId id="{983E46FF-4884-42B4-B3ED-30A08DB980BB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官方工具 · 2026.10.07</a:t>
            </a:r>
          </a:p>
        </p:txBody>
      </p:sp>
      <p:sp>
        <p:nvSpPr>
          <p:cNvPr id="14" name="点击画面，全屏播放">
            <a:extLst>
              <a:ext uri="{FF2B5EF4-FFF2-40B4-BE49-F238E27FC236}">
                <ns2:creationId id="{592528CF-F27E-478E-8DFB-AA20826A694E}"/>
              </a:ext>
            </a:extLst>
          </p:cNvPr>
          <p:cNvSpPr>
            <a:spLocks noGrp="1"/>
          </p:cNvSpPr>
          <p:nvPr/>
        </p:nvSpPr>
        <p:spPr>
          <a:xfrm>
            <a:off x="8686800" y="56388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点击画面，全屏播放</a:t>
            </a:r>
          </a:p>
        </p:txBody>
      </p:sp>
      <p:sp>
        <p:nvSpPr>
          <p:cNvPr id="15" name="输入具体要求，得到可以操作的工具。">
            <a:extLst>
              <a:ext uri="{FF2B5EF4-FFF2-40B4-BE49-F238E27FC236}">
                <ns2:creationId id="{6974072C-F54B-411D-B559-591633C4CF1C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输入具体要求，得到可以操作的工具。</a:t>
            </a:r>
          </a:p>
        </p:txBody>
      </p:sp>
    </p:spTree>
    <p:extLst>
      <p:ext uri="{BB962C8B-B14F-4D97-AF65-F5344CB8AC3E}">
        <p14:creationId val="935017932"/>
      </p:ext>
    </p:extLst>
  </p:cSld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F731A896-CBF0-42A0-B801-7DA34097CDC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AI 的能力">
            <a:extLst>
              <a:ext uri="{FF2B5EF4-FFF2-40B4-BE49-F238E27FC236}">
                <ns2:creationId id="{0B2B8DAE-5A87-4C57-991A-783AA444A4EA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的能力</a:t>
            </a:r>
          </a:p>
        </p:txBody>
      </p:sp>
      <p:sp>
        <p:nvSpPr>
          <p:cNvPr id="3" name="按要求生成可玩的游戏">
            <a:extLst>
              <a:ext uri="{FF2B5EF4-FFF2-40B4-BE49-F238E27FC236}">
                <ns2:creationId id="{8BBE222F-AE5D-4B99-B651-4B39DB518036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按要求生成可玩的游戏</a:t>
            </a:r>
          </a:p>
        </p:txBody>
      </p:sp>
      <p:sp>
        <p:nvSpPr>
          <p:cNvPr id="4" name="">
            <a:extLst>
              <a:ext uri="{FF2B5EF4-FFF2-40B4-BE49-F238E27FC236}">
                <ns2:creationId id="{956B6B75-EA35-4E44-A3C3-3DA2B2FEB47F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7B4908BA-164D-4D9B-976B-47693A54C4C2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04">
            <a:extLst>
              <a:ext uri="{FF2B5EF4-FFF2-40B4-BE49-F238E27FC236}">
                <ns2:creationId id="{30AEABF6-CB46-4156-8440-DB6DD62C72E9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7" name="Kimi K3 · 创作要求 → 程序 → 运行画面">
            <a:extLst>
              <a:ext uri="{FF2B5EF4-FFF2-40B4-BE49-F238E27FC236}">
                <ns2:creationId id="{60412A31-B5E7-4D58-B895-F45748F137E2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Kimi K3 · 创作要求 → 程序 → 运行画面</a:t>
            </a:r>
          </a:p>
        </p:txBody>
      </p:sp>
      <p:pic>
        <p:nvPicPr>
          <p:cNvPr id="2004" name="按要求生成可玩的游戏（静态封面）" descr="按要求生成可玩的游戏的视频封面"/>
          <p:cNvPicPr>
            <a:picLocks noChangeAspect="1"/>
          </p:cNvPicPr>
          <p:nvPr/>
        </p:nvPicPr>
        <p:blipFill>
          <a:blip r:embed="R67018d82dc794dae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pic>
        <p:nvPicPr>
          <p:cNvPr id="23" name="按要求生成可玩的游戏（内嵌视频）" descr="按要求生成可玩的游戏，放映时点击播放">
            <a:hlinkClick action="ppaction://media"/>
          </p:cNvPr>
          <p:cNvPicPr>
            <a:picLocks noChangeAspect="1"/>
          </p:cNvPicPr>
          <p:nvPr>
            <a:videoFile r:link="rIdEmbeddedVideo"/>
            <p:extLst>
              <p:ext uri="{DAA4B4D4-6D71-4841-9C94-3DE7FCFB9230}">
                <p14:media r:embed="rIdEmbeddedMedia"/>
              </p:ext>
            </p:extLst>
          </p:nvPr>
        </p:nvPicPr>
        <p:blipFill>
          <a:blip r:embed="R67018d82dc794dae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sp>
        <p:nvSpPr>
          <p:cNvPr id="9" name="输入">
            <a:extLst>
              <a:ext uri="{FF2B5EF4-FFF2-40B4-BE49-F238E27FC236}">
                <ns2:creationId id="{E42CCA59-BBDB-43D0-9D6D-B23FBF63625B}"/>
              </a:ext>
            </a:extLst>
          </p:cNvPr>
          <p:cNvSpPr>
            <a:spLocks noGrp="1"/>
          </p:cNvSpPr>
          <p:nvPr/>
        </p:nvSpPr>
        <p:spPr>
          <a:xfrm>
            <a:off x="8686800" y="22479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10" name="场景、角色&#10;和操作方式等要求。">
            <a:extLst>
              <a:ext uri="{FF2B5EF4-FFF2-40B4-BE49-F238E27FC236}">
                <ns2:creationId id="{F68CFE44-16BE-4AEA-8766-F87FC7BF809F}"/>
              </a:ext>
            </a:extLst>
          </p:cNvPr>
          <p:cNvSpPr>
            <a:spLocks noGrp="1"/>
          </p:cNvSpPr>
          <p:nvPr/>
        </p:nvSpPr>
        <p:spPr>
          <a:xfrm>
            <a:off x="8686800" y="26765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场景、角色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和操作方式等要求。</a:t>
            </a:r>
          </a:p>
        </p:txBody>
      </p:sp>
      <p:sp>
        <p:nvSpPr>
          <p:cNvPr id="11" name="观看重点">
            <a:extLst>
              <a:ext uri="{FF2B5EF4-FFF2-40B4-BE49-F238E27FC236}">
                <ns2:creationId id="{5F95565B-79A3-48C1-A9ED-A6FD340B15C4}"/>
              </a:ext>
            </a:extLst>
          </p:cNvPr>
          <p:cNvSpPr>
            <a:spLocks noGrp="1"/>
          </p:cNvSpPr>
          <p:nvPr/>
        </p:nvSpPr>
        <p:spPr>
          <a:xfrm>
            <a:off x="8686800" y="38100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观看重点</a:t>
            </a:r>
          </a:p>
        </p:txBody>
      </p:sp>
      <p:sp>
        <p:nvSpPr>
          <p:cNvPr id="12" name="角色怎样移动？&#10;天气或光照能否改变？">
            <a:extLst>
              <a:ext uri="{FF2B5EF4-FFF2-40B4-BE49-F238E27FC236}">
                <ns2:creationId id="{C69DB388-AA59-4B50-8882-D59EBD39C370}"/>
              </a:ext>
            </a:extLst>
          </p:cNvPr>
          <p:cNvSpPr>
            <a:spLocks noGrp="1"/>
          </p:cNvSpPr>
          <p:nvPr/>
        </p:nvSpPr>
        <p:spPr>
          <a:xfrm>
            <a:off x="8686800" y="42386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角色怎样移动？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天气或光照能否改变？</a:t>
            </a:r>
          </a:p>
        </p:txBody>
      </p:sp>
      <p:sp>
        <p:nvSpPr>
          <p:cNvPr id="13" name="官方示例 · 2026 年 7 月">
            <a:extLst>
              <a:ext uri="{FF2B5EF4-FFF2-40B4-BE49-F238E27FC236}">
                <ns2:creationId id="{AD98F388-F8EC-407F-BF4F-B49BA4E6EF40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官方示例 · 2026 年 7 月</a:t>
            </a:r>
          </a:p>
        </p:txBody>
      </p:sp>
      <p:sp>
        <p:nvSpPr>
          <p:cNvPr id="14" name="点击画面，全屏播放">
            <a:extLst>
              <a:ext uri="{FF2B5EF4-FFF2-40B4-BE49-F238E27FC236}">
                <ns2:creationId id="{E14AA179-57BE-4D79-AB9C-702DCDB85368}"/>
              </a:ext>
            </a:extLst>
          </p:cNvPr>
          <p:cNvSpPr>
            <a:spLocks noGrp="1"/>
          </p:cNvSpPr>
          <p:nvPr/>
        </p:nvSpPr>
        <p:spPr>
          <a:xfrm>
            <a:off x="8686800" y="56388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点击画面，全屏播放</a:t>
            </a:r>
          </a:p>
        </p:txBody>
      </p:sp>
      <p:sp>
        <p:nvSpPr>
          <p:cNvPr id="15" name="AI生成程序，程序运行后形成可交互作品。">
            <a:extLst>
              <a:ext uri="{FF2B5EF4-FFF2-40B4-BE49-F238E27FC236}">
                <ns2:creationId id="{8D85D5E3-5DB5-4087-93B6-9374B49D1D75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AI生成程序，程序运行后形成可交互作品。</a:t>
            </a:r>
          </a:p>
        </p:txBody>
      </p:sp>
    </p:spTree>
    <p:extLst>
      <p:ext uri="{BB962C8B-B14F-4D97-AF65-F5344CB8AC3E}">
        <p14:creationId val="656773105"/>
      </p:ext>
    </p:extLst>
  </p:cSld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AD5F2807-5513-4ED1-9D31-0FF413252C9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AI 的能力">
            <a:extLst>
              <a:ext uri="{FF2B5EF4-FFF2-40B4-BE49-F238E27FC236}">
                <ns2:creationId id="{3817DA76-9828-423A-86E6-C007F6EBF39D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的能力</a:t>
            </a:r>
          </a:p>
        </p:txBody>
      </p:sp>
      <p:sp>
        <p:nvSpPr>
          <p:cNvPr id="3" name="看着展品，听你提问">
            <a:extLst>
              <a:ext uri="{FF2B5EF4-FFF2-40B4-BE49-F238E27FC236}">
                <ns2:creationId id="{06CBFC9F-7D0B-4C34-A7E3-8A3CF63CB6CB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看着展品，听你提问</a:t>
            </a:r>
          </a:p>
        </p:txBody>
      </p:sp>
      <p:sp>
        <p:nvSpPr>
          <p:cNvPr id="4" name="">
            <a:extLst>
              <a:ext uri="{FF2B5EF4-FFF2-40B4-BE49-F238E27FC236}">
                <ns2:creationId id="{EDEB8BAF-57A0-44AD-9548-EB9DD252840C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B7B255E9-99B9-4355-B5CA-4CD88AC5F938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05">
            <a:extLst>
              <a:ext uri="{FF2B5EF4-FFF2-40B4-BE49-F238E27FC236}">
                <ns2:creationId id="{5FD08B67-8966-4F6D-8083-E6D477AEBD35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7" name="SeedRealtime · 根据连续画面和语音进行交流">
            <a:extLst>
              <a:ext uri="{FF2B5EF4-FFF2-40B4-BE49-F238E27FC236}">
                <ns2:creationId id="{5F28402D-E495-48B9-A97B-CD0296744048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SeedRealtime · 根据连续画面和语音进行交流</a:t>
            </a:r>
          </a:p>
        </p:txBody>
      </p:sp>
      <p:pic>
        <p:nvPicPr>
          <p:cNvPr id="2005" name="看着展品，听你提问（静态封面）" descr="看着展品，听你提问的视频封面"/>
          <p:cNvPicPr>
            <a:picLocks noChangeAspect="1"/>
          </p:cNvPicPr>
          <p:nvPr/>
        </p:nvPicPr>
        <p:blipFill>
          <a:blip r:embed="R06624974b2bb4af6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pic>
        <p:nvPicPr>
          <p:cNvPr id="23" name="看着展品，听你提问（内嵌视频）" descr="看着展品，听你提问，放映时点击播放">
            <a:hlinkClick action="ppaction://media"/>
          </p:cNvPr>
          <p:cNvPicPr>
            <a:picLocks noChangeAspect="1"/>
          </p:cNvPicPr>
          <p:nvPr>
            <a:videoFile r:link="rIdEmbeddedVideo"/>
            <p:extLst>
              <p:ext uri="{DAA4B4D4-6D71-4841-9C94-3DE7FCFB9230}">
                <p14:media r:embed="rIdEmbeddedMedia"/>
              </p:ext>
            </p:extLst>
          </p:nvPr>
        </p:nvPicPr>
        <p:blipFill>
          <a:blip r:embed="R06624974b2bb4af6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sp>
        <p:nvSpPr>
          <p:cNvPr id="9" name="输入">
            <a:extLst>
              <a:ext uri="{FF2B5EF4-FFF2-40B4-BE49-F238E27FC236}">
                <ns2:creationId id="{A6436E21-B1A9-4C92-86B1-CFA5DA492CC3}"/>
              </a:ext>
            </a:extLst>
          </p:cNvPr>
          <p:cNvSpPr>
            <a:spLocks noGrp="1"/>
          </p:cNvSpPr>
          <p:nvPr/>
        </p:nvSpPr>
        <p:spPr>
          <a:xfrm>
            <a:off x="8686800" y="22479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10" name="摄像头中的展品，&#10;以及参观者的问题。">
            <a:extLst>
              <a:ext uri="{FF2B5EF4-FFF2-40B4-BE49-F238E27FC236}">
                <ns2:creationId id="{DDC7ADBE-6C05-4122-8208-004975D32FAC}"/>
              </a:ext>
            </a:extLst>
          </p:cNvPr>
          <p:cNvSpPr>
            <a:spLocks noGrp="1"/>
          </p:cNvSpPr>
          <p:nvPr/>
        </p:nvSpPr>
        <p:spPr>
          <a:xfrm>
            <a:off x="8686800" y="26765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摄像头中的展品，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以及参观者的问题。</a:t>
            </a:r>
          </a:p>
        </p:txBody>
      </p:sp>
      <p:sp>
        <p:nvSpPr>
          <p:cNvPr id="11" name="观看重点">
            <a:extLst>
              <a:ext uri="{FF2B5EF4-FFF2-40B4-BE49-F238E27FC236}">
                <ns2:creationId id="{5A6EF969-8DCB-4B3D-BD0E-063641CF9E73}"/>
              </a:ext>
            </a:extLst>
          </p:cNvPr>
          <p:cNvSpPr>
            <a:spLocks noGrp="1"/>
          </p:cNvSpPr>
          <p:nvPr/>
        </p:nvSpPr>
        <p:spPr>
          <a:xfrm>
            <a:off x="8686800" y="38100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观看重点</a:t>
            </a:r>
          </a:p>
        </p:txBody>
      </p:sp>
      <p:sp>
        <p:nvSpPr>
          <p:cNvPr id="12" name="镜头换到新展品时，&#10;回答是否跟着改变？">
            <a:extLst>
              <a:ext uri="{FF2B5EF4-FFF2-40B4-BE49-F238E27FC236}">
                <ns2:creationId id="{A2A5AB8C-8F05-493C-842A-10C5CA4D601F}"/>
              </a:ext>
            </a:extLst>
          </p:cNvPr>
          <p:cNvSpPr>
            <a:spLocks noGrp="1"/>
          </p:cNvSpPr>
          <p:nvPr/>
        </p:nvSpPr>
        <p:spPr>
          <a:xfrm>
            <a:off x="8686800" y="42386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镜头换到新展品时，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回答是否跟着改变？</a:t>
            </a:r>
          </a:p>
        </p:txBody>
      </p:sp>
      <p:sp>
        <p:nvSpPr>
          <p:cNvPr id="13" name="官方示例 · 2026.08.05">
            <a:extLst>
              <a:ext uri="{FF2B5EF4-FFF2-40B4-BE49-F238E27FC236}">
                <ns2:creationId id="{EB8C9B0E-957F-4B38-875A-02D091361D6B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官方示例 · 2026.08.05</a:t>
            </a:r>
          </a:p>
        </p:txBody>
      </p:sp>
      <p:sp>
        <p:nvSpPr>
          <p:cNvPr id="14" name="点击画面，全屏播放">
            <a:extLst>
              <a:ext uri="{FF2B5EF4-FFF2-40B4-BE49-F238E27FC236}">
                <ns2:creationId id="{D4D1B62E-AEBF-441C-ACA4-F64CEE6DAA4D}"/>
              </a:ext>
            </a:extLst>
          </p:cNvPr>
          <p:cNvSpPr>
            <a:spLocks noGrp="1"/>
          </p:cNvSpPr>
          <p:nvPr/>
        </p:nvSpPr>
        <p:spPr>
          <a:xfrm>
            <a:off x="8686800" y="56388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点击画面，全屏播放</a:t>
            </a:r>
          </a:p>
        </p:txBody>
      </p:sp>
      <p:sp>
        <p:nvSpPr>
          <p:cNvPr id="15" name="画面和声音都能成为模型的输入。">
            <a:extLst>
              <a:ext uri="{FF2B5EF4-FFF2-40B4-BE49-F238E27FC236}">
                <ns2:creationId id="{684694E3-4948-426A-92A6-C027959E9815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画面和声音都能成为模型的输入。</a:t>
            </a:r>
          </a:p>
        </p:txBody>
      </p:sp>
    </p:spTree>
    <p:extLst>
      <p:ext uri="{BB962C8B-B14F-4D97-AF65-F5344CB8AC3E}">
        <p14:creationId val="819808832"/>
      </p:ext>
    </p:extLst>
  </p:cSld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CD48F018-C58A-4930-8E1F-21C99F99258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AI 的能力">
            <a:extLst>
              <a:ext uri="{FF2B5EF4-FFF2-40B4-BE49-F238E27FC236}">
                <ns2:creationId id="{EA3F7E7B-2589-4F5D-A30E-12C4D4F8F93C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的能力</a:t>
            </a:r>
          </a:p>
        </p:txBody>
      </p:sp>
      <p:sp>
        <p:nvSpPr>
          <p:cNvPr id="3" name="让古诗变成一段短片">
            <a:extLst>
              <a:ext uri="{FF2B5EF4-FFF2-40B4-BE49-F238E27FC236}">
                <ns2:creationId id="{E73F4989-0690-4988-BF38-448F059434C9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让古诗变成一段短片</a:t>
            </a:r>
          </a:p>
        </p:txBody>
      </p:sp>
      <p:sp>
        <p:nvSpPr>
          <p:cNvPr id="4" name="">
            <a:extLst>
              <a:ext uri="{FF2B5EF4-FFF2-40B4-BE49-F238E27FC236}">
                <ns2:creationId id="{82638D4F-C003-42C4-A3EC-1915D526A26A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7D0242F2-9A7D-4203-8578-59EC008960FE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06">
            <a:extLst>
              <a:ext uri="{FF2B5EF4-FFF2-40B4-BE49-F238E27FC236}">
                <ns2:creationId id="{6ECF2321-1BC1-4F91-BE77-BA8D57617730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7" name="Seedance 2.5 · 《青玉案·元夕》意境创作">
            <a:extLst>
              <a:ext uri="{FF2B5EF4-FFF2-40B4-BE49-F238E27FC236}">
                <ns2:creationId id="{65EBB023-81C5-4ED9-B260-336CCF568A70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Seedance 2.5 · 《青玉案·元夕》意境创作</a:t>
            </a:r>
          </a:p>
        </p:txBody>
      </p:sp>
      <p:pic>
        <p:nvPicPr>
          <p:cNvPr id="2006" name="让古诗变成一段短片（静态封面）" descr="让古诗变成一段短片的视频封面"/>
          <p:cNvPicPr>
            <a:picLocks noChangeAspect="1"/>
          </p:cNvPicPr>
          <p:nvPr/>
        </p:nvPicPr>
        <p:blipFill>
          <a:blip r:embed="R29f349f47f3c4756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pic>
        <p:nvPicPr>
          <p:cNvPr id="23" name="让古诗变成一段短片（内嵌视频）" descr="让古诗变成一段短片，放映时点击播放">
            <a:hlinkClick action="ppaction://media"/>
          </p:cNvPr>
          <p:cNvPicPr>
            <a:picLocks noChangeAspect="1"/>
          </p:cNvPicPr>
          <p:nvPr>
            <a:videoFile r:link="rIdEmbeddedVideo"/>
            <p:extLst>
              <p:ext uri="{DAA4B4D4-6D71-4841-9C94-3DE7FCFB9230}">
                <p14:media r:embed="rIdEmbeddedMedia"/>
              </p:ext>
            </p:extLst>
          </p:nvPr>
        </p:nvPicPr>
        <p:blipFill>
          <a:blip r:embed="R29f349f47f3c4756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sp>
        <p:nvSpPr>
          <p:cNvPr id="9" name="输入">
            <a:extLst>
              <a:ext uri="{FF2B5EF4-FFF2-40B4-BE49-F238E27FC236}">
                <ns2:creationId id="{0BDEC663-1B99-4250-ACEB-9D5DE4C3B2CF}"/>
              </a:ext>
            </a:extLst>
          </p:cNvPr>
          <p:cNvSpPr>
            <a:spLocks noGrp="1"/>
          </p:cNvSpPr>
          <p:nvPr/>
        </p:nvSpPr>
        <p:spPr>
          <a:xfrm>
            <a:off x="8686800" y="22479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10" name="古诗意境、人物，&#10;以及场景和镜头要求。">
            <a:extLst>
              <a:ext uri="{FF2B5EF4-FFF2-40B4-BE49-F238E27FC236}">
                <ns2:creationId id="{B6C2FEEC-2FB3-45CF-B9E5-635EF34E3F6A}"/>
              </a:ext>
            </a:extLst>
          </p:cNvPr>
          <p:cNvSpPr>
            <a:spLocks noGrp="1"/>
          </p:cNvSpPr>
          <p:nvPr/>
        </p:nvSpPr>
        <p:spPr>
          <a:xfrm>
            <a:off x="8686800" y="26765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古诗意境、人物，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以及场景和镜头要求。</a:t>
            </a:r>
          </a:p>
        </p:txBody>
      </p:sp>
      <p:sp>
        <p:nvSpPr>
          <p:cNvPr id="11" name="观看重点">
            <a:extLst>
              <a:ext uri="{FF2B5EF4-FFF2-40B4-BE49-F238E27FC236}">
                <ns2:creationId id="{63E4D3FD-931A-4A42-A51C-AF9D300E380F}"/>
              </a:ext>
            </a:extLst>
          </p:cNvPr>
          <p:cNvSpPr>
            <a:spLocks noGrp="1"/>
          </p:cNvSpPr>
          <p:nvPr/>
        </p:nvSpPr>
        <p:spPr>
          <a:xfrm>
            <a:off x="8686800" y="38100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观看重点</a:t>
            </a:r>
          </a:p>
        </p:txBody>
      </p:sp>
      <p:sp>
        <p:nvSpPr>
          <p:cNvPr id="12" name="场景怎样转换？&#10;人物和声音是否连贯？">
            <a:extLst>
              <a:ext uri="{FF2B5EF4-FFF2-40B4-BE49-F238E27FC236}">
                <ns2:creationId id="{390F9D56-889B-4C2F-9F8D-FBC6120E1529}"/>
              </a:ext>
            </a:extLst>
          </p:cNvPr>
          <p:cNvSpPr>
            <a:spLocks noGrp="1"/>
          </p:cNvSpPr>
          <p:nvPr/>
        </p:nvSpPr>
        <p:spPr>
          <a:xfrm>
            <a:off x="8686800" y="42386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场景怎样转换？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人物和声音是否连贯？</a:t>
            </a:r>
          </a:p>
        </p:txBody>
      </p:sp>
      <p:sp>
        <p:nvSpPr>
          <p:cNvPr id="13" name="官方示例 · 2026.07.31">
            <a:extLst>
              <a:ext uri="{FF2B5EF4-FFF2-40B4-BE49-F238E27FC236}">
                <ns2:creationId id="{CF42B7E8-E110-4D54-A270-8B347322FD45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官方示例 · 2026.07.31</a:t>
            </a:r>
          </a:p>
        </p:txBody>
      </p:sp>
      <p:sp>
        <p:nvSpPr>
          <p:cNvPr id="14" name="点击画面，全屏播放">
            <a:extLst>
              <a:ext uri="{FF2B5EF4-FFF2-40B4-BE49-F238E27FC236}">
                <ns2:creationId id="{C0E0832E-1A20-48C2-BFFB-AB334A589725}"/>
              </a:ext>
            </a:extLst>
          </p:cNvPr>
          <p:cNvSpPr>
            <a:spLocks noGrp="1"/>
          </p:cNvSpPr>
          <p:nvPr/>
        </p:nvSpPr>
        <p:spPr>
          <a:xfrm>
            <a:off x="8686800" y="56388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点击画面，全屏播放</a:t>
            </a:r>
          </a:p>
        </p:txBody>
      </p:sp>
      <p:sp>
        <p:nvSpPr>
          <p:cNvPr id="15" name="创作者决定表达什么，并检查成片。">
            <a:extLst>
              <a:ext uri="{FF2B5EF4-FFF2-40B4-BE49-F238E27FC236}">
                <ns2:creationId id="{255F29A9-0D60-4E53-86E4-5BE181ED97F2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创作者决定表达什么，并检查成片。</a:t>
            </a:r>
          </a:p>
        </p:txBody>
      </p:sp>
    </p:spTree>
    <p:extLst>
      <p:ext uri="{BB962C8B-B14F-4D97-AF65-F5344CB8AC3E}">
        <p14:creationId val="132373792"/>
      </p:ext>
    </p:extLst>
  </p:cSld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B57495FF-4A13-46FB-85EE-E185BCF9470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AI 的能力">
            <a:extLst>
              <a:ext uri="{FF2B5EF4-FFF2-40B4-BE49-F238E27FC236}">
                <ns2:creationId id="{2B0902A2-66B9-4557-868F-9E5F29FFCB99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的能力</a:t>
            </a:r>
          </a:p>
        </p:txBody>
      </p:sp>
      <p:sp>
        <p:nvSpPr>
          <p:cNvPr id="3" name="用图像帮助三维设计">
            <a:extLst>
              <a:ext uri="{FF2B5EF4-FFF2-40B4-BE49-F238E27FC236}">
                <ns2:creationId id="{43A8F31B-20A6-4B8F-B3C8-0DB7D5558CF8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用图像帮助三维设计</a:t>
            </a:r>
          </a:p>
        </p:txBody>
      </p:sp>
      <p:sp>
        <p:nvSpPr>
          <p:cNvPr id="4" name="">
            <a:extLst>
              <a:ext uri="{FF2B5EF4-FFF2-40B4-BE49-F238E27FC236}">
                <ns2:creationId id="{1DCD79B4-4DEE-4484-A20D-58085369978C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96FB085C-8739-4645-97A0-EA3CF6D13B5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07">
            <a:extLst>
              <a:ext uri="{FF2B5EF4-FFF2-40B4-BE49-F238E27FC236}">
                <ns2:creationId id="{40A74298-89C1-4EBE-9D39-1E56AB32C7B1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7" name="Qwen3.8-Max · 结合视觉信息安排室内空间">
            <a:extLst>
              <a:ext uri="{FF2B5EF4-FFF2-40B4-BE49-F238E27FC236}">
                <ns2:creationId id="{6E2FA887-FD2C-4FC1-BAE2-C90586381FA8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Qwen3.8-Max · 结合视觉信息安排室内空间</a:t>
            </a:r>
          </a:p>
        </p:txBody>
      </p:sp>
      <p:pic>
        <p:nvPicPr>
          <p:cNvPr id="2007" name="用图像帮助三维设计（静态封面）" descr="用图像帮助三维设计的视频封面"/>
          <p:cNvPicPr>
            <a:picLocks noChangeAspect="1"/>
          </p:cNvPicPr>
          <p:nvPr/>
        </p:nvPicPr>
        <p:blipFill>
          <a:blip r:embed="Rf755876f4d644c83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pic>
        <p:nvPicPr>
          <p:cNvPr id="23" name="用图像帮助三维设计（内嵌视频）" descr="用图像帮助三维设计，放映时点击播放">
            <a:hlinkClick action="ppaction://media"/>
          </p:cNvPr>
          <p:cNvPicPr>
            <a:picLocks noChangeAspect="1"/>
          </p:cNvPicPr>
          <p:nvPr>
            <a:videoFile r:link="rIdEmbeddedVideo"/>
            <p:extLst>
              <p:ext uri="{DAA4B4D4-6D71-4841-9C94-3DE7FCFB9230}">
                <p14:media r:embed="rIdEmbeddedMedia"/>
              </p:ext>
            </p:extLst>
          </p:nvPr>
        </p:nvPicPr>
        <p:blipFill>
          <a:blip r:embed="Rf755876f4d644c83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sp>
        <p:nvSpPr>
          <p:cNvPr id="9" name="输入">
            <a:extLst>
              <a:ext uri="{FF2B5EF4-FFF2-40B4-BE49-F238E27FC236}">
                <ns2:creationId id="{5403A936-C7CE-41BF-8E0B-18223BE247AA}"/>
              </a:ext>
            </a:extLst>
          </p:cNvPr>
          <p:cNvSpPr>
            <a:spLocks noGrp="1"/>
          </p:cNvSpPr>
          <p:nvPr/>
        </p:nvSpPr>
        <p:spPr>
          <a:xfrm>
            <a:off x="8686800" y="22479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10" name="房间、家具的图像&#10;和设计要求。">
            <a:extLst>
              <a:ext uri="{FF2B5EF4-FFF2-40B4-BE49-F238E27FC236}">
                <ns2:creationId id="{FD3F9934-7137-4BC6-A031-B350D104FB38}"/>
              </a:ext>
            </a:extLst>
          </p:cNvPr>
          <p:cNvSpPr>
            <a:spLocks noGrp="1"/>
          </p:cNvSpPr>
          <p:nvPr/>
        </p:nvSpPr>
        <p:spPr>
          <a:xfrm>
            <a:off x="8686800" y="26765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房间、家具的图像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和设计要求。</a:t>
            </a:r>
          </a:p>
        </p:txBody>
      </p:sp>
      <p:sp>
        <p:nvSpPr>
          <p:cNvPr id="11" name="观看重点">
            <a:extLst>
              <a:ext uri="{FF2B5EF4-FFF2-40B4-BE49-F238E27FC236}">
                <ns2:creationId id="{7665D7BF-66C5-462A-A271-948315EFEA90}"/>
              </a:ext>
            </a:extLst>
          </p:cNvPr>
          <p:cNvSpPr>
            <a:spLocks noGrp="1"/>
          </p:cNvSpPr>
          <p:nvPr/>
        </p:nvSpPr>
        <p:spPr>
          <a:xfrm>
            <a:off x="8686800" y="38100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观看重点</a:t>
            </a:r>
          </a:p>
        </p:txBody>
      </p:sp>
      <p:sp>
        <p:nvSpPr>
          <p:cNvPr id="12" name="怎样安排家具？&#10;能否换个角度查看？">
            <a:extLst>
              <a:ext uri="{FF2B5EF4-FFF2-40B4-BE49-F238E27FC236}">
                <ns2:creationId id="{32CAB4C4-6C86-4BDD-BB86-FE9ECB6E495E}"/>
              </a:ext>
            </a:extLst>
          </p:cNvPr>
          <p:cNvSpPr>
            <a:spLocks noGrp="1"/>
          </p:cNvSpPr>
          <p:nvPr/>
        </p:nvSpPr>
        <p:spPr>
          <a:xfrm>
            <a:off x="8686800" y="42386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怎样安排家具？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能否换个角度查看？</a:t>
            </a:r>
          </a:p>
        </p:txBody>
      </p:sp>
      <p:sp>
        <p:nvSpPr>
          <p:cNvPr id="13" name="官方示例 · 2026.08.03">
            <a:extLst>
              <a:ext uri="{FF2B5EF4-FFF2-40B4-BE49-F238E27FC236}">
                <ns2:creationId id="{396BFB48-EF56-44CE-A039-93EEDF3E6823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官方示例 · 2026.08.03</a:t>
            </a:r>
          </a:p>
        </p:txBody>
      </p:sp>
      <p:sp>
        <p:nvSpPr>
          <p:cNvPr id="14" name="点击画面，全屏播放">
            <a:extLst>
              <a:ext uri="{FF2B5EF4-FFF2-40B4-BE49-F238E27FC236}">
                <ns2:creationId id="{AB4B9882-B851-4C88-9B60-098B3505FE9C}"/>
              </a:ext>
            </a:extLst>
          </p:cNvPr>
          <p:cNvSpPr>
            <a:spLocks noGrp="1"/>
          </p:cNvSpPr>
          <p:nvPr/>
        </p:nvSpPr>
        <p:spPr>
          <a:xfrm>
            <a:off x="8686800" y="56388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点击画面，全屏播放</a:t>
            </a:r>
          </a:p>
        </p:txBody>
      </p:sp>
      <p:sp>
        <p:nvSpPr>
          <p:cNvPr id="15" name="图像帮助理解任务，程序和工具呈现结果。">
            <a:extLst>
              <a:ext uri="{FF2B5EF4-FFF2-40B4-BE49-F238E27FC236}">
                <ns2:creationId id="{A0ABA687-1919-4E11-8B2A-1768EF1E594E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图像帮助理解任务，程序和工具呈现结果。</a:t>
            </a:r>
          </a:p>
        </p:txBody>
      </p:sp>
    </p:spTree>
    <p:extLst>
      <p:ext uri="{BB962C8B-B14F-4D97-AF65-F5344CB8AC3E}">
        <p14:creationId val="1993321346"/>
      </p:ext>
    </p:extLst>
  </p:cSld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3B4EBD91-2D63-4704-93F8-00A5D7B0403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AI 的能力">
            <a:extLst>
              <a:ext uri="{FF2B5EF4-FFF2-40B4-BE49-F238E27FC236}">
                <ns2:creationId id="{4233C5C8-EA43-4E4F-847C-D95F69F5D4A4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的能力</a:t>
            </a:r>
          </a:p>
        </p:txBody>
      </p:sp>
      <p:sp>
        <p:nvSpPr>
          <p:cNvPr id="3" name="让AI操作软件">
            <a:extLst>
              <a:ext uri="{FF2B5EF4-FFF2-40B4-BE49-F238E27FC236}">
                <ns2:creationId id="{7433EE36-9CF9-412C-A5E4-C9BE6DE01E71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让AI操作软件</a:t>
            </a:r>
          </a:p>
        </p:txBody>
      </p:sp>
      <p:sp>
        <p:nvSpPr>
          <p:cNvPr id="4" name="">
            <a:extLst>
              <a:ext uri="{FF2B5EF4-FFF2-40B4-BE49-F238E27FC236}">
                <ns2:creationId id="{4CD1327E-EA0B-4EEF-9C60-D607763A8ABC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E4364B37-7F62-45D7-BC6C-5FDDCB0BBFEC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08">
            <a:extLst>
              <a:ext uri="{FF2B5EF4-FFF2-40B4-BE49-F238E27FC236}">
                <ns2:creationId id="{D0099E24-2DBE-42CF-93AC-19252208162F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7" name="OpenAI GPT-6 Astra · 官方发布片节选">
            <a:extLst>
              <a:ext uri="{FF2B5EF4-FFF2-40B4-BE49-F238E27FC236}">
                <ns2:creationId id="{E25FC373-7969-4DD6-870A-75A1AB23F618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OpenAI GPT-6 Astra · 官方发布片节选</a:t>
            </a:r>
          </a:p>
        </p:txBody>
      </p:sp>
      <p:pic>
        <p:nvPicPr>
          <p:cNvPr id="2008" name="让AI操作软件（静态封面）" descr="让AI操作软件的视频封面"/>
          <p:cNvPicPr>
            <a:picLocks noChangeAspect="1"/>
          </p:cNvPicPr>
          <p:nvPr/>
        </p:nvPicPr>
        <p:blipFill>
          <a:blip r:embed="Rf56745e16d5f47aa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pic>
        <p:nvPicPr>
          <p:cNvPr id="23" name="让AI操作软件（内嵌视频）" descr="让AI操作软件，放映时点击播放">
            <a:hlinkClick action="ppaction://media"/>
          </p:cNvPr>
          <p:cNvPicPr>
            <a:picLocks noChangeAspect="1"/>
          </p:cNvPicPr>
          <p:nvPr>
            <a:videoFile r:link="rIdEmbeddedVideo"/>
            <p:extLst>
              <p:ext uri="{DAA4B4D4-6D71-4841-9C94-3DE7FCFB9230}">
                <p14:media r:embed="rIdEmbeddedMedia"/>
              </p:ext>
            </p:extLst>
          </p:nvPr>
        </p:nvPicPr>
        <p:blipFill>
          <a:blip r:embed="Rf56745e16d5f47aa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sp>
        <p:nvSpPr>
          <p:cNvPr id="9" name="输入">
            <a:extLst>
              <a:ext uri="{FF2B5EF4-FFF2-40B4-BE49-F238E27FC236}">
                <ns2:creationId id="{0C181440-D6D8-4DDF-B804-E3F8A53A8D2F}"/>
              </a:ext>
            </a:extLst>
          </p:cNvPr>
          <p:cNvSpPr>
            <a:spLocks noGrp="1"/>
          </p:cNvSpPr>
          <p:nvPr/>
        </p:nvSpPr>
        <p:spPr>
          <a:xfrm>
            <a:off x="8686800" y="22479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10" name="先画图案，再修改，&#10;接着制作三维模型。">
            <a:extLst>
              <a:ext uri="{FF2B5EF4-FFF2-40B4-BE49-F238E27FC236}">
                <ns2:creationId id="{9D55BF52-1B73-4B7F-AF9E-4ADE5943ABEA}"/>
              </a:ext>
            </a:extLst>
          </p:cNvPr>
          <p:cNvSpPr>
            <a:spLocks noGrp="1"/>
          </p:cNvSpPr>
          <p:nvPr/>
        </p:nvSpPr>
        <p:spPr>
          <a:xfrm>
            <a:off x="8686800" y="26765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先画图案，再修改，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接着制作三维模型。</a:t>
            </a:r>
          </a:p>
        </p:txBody>
      </p:sp>
      <p:sp>
        <p:nvSpPr>
          <p:cNvPr id="11" name="观看重点">
            <a:extLst>
              <a:ext uri="{FF2B5EF4-FFF2-40B4-BE49-F238E27FC236}">
                <ns2:creationId id="{33D0CF87-B9F6-4854-878F-76335BA5A145}"/>
              </a:ext>
            </a:extLst>
          </p:cNvPr>
          <p:cNvSpPr>
            <a:spLocks noGrp="1"/>
          </p:cNvSpPr>
          <p:nvPr/>
        </p:nvSpPr>
        <p:spPr>
          <a:xfrm>
            <a:off x="8686800" y="38100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观看重点</a:t>
            </a:r>
          </a:p>
        </p:txBody>
      </p:sp>
      <p:sp>
        <p:nvSpPr>
          <p:cNvPr id="12" name="它用了什么软件？&#10;人又提出了什么要求？">
            <a:extLst>
              <a:ext uri="{FF2B5EF4-FFF2-40B4-BE49-F238E27FC236}">
                <ns2:creationId id="{D9EF2386-298F-473A-9C04-369D83F025FC}"/>
              </a:ext>
            </a:extLst>
          </p:cNvPr>
          <p:cNvSpPr>
            <a:spLocks noGrp="1"/>
          </p:cNvSpPr>
          <p:nvPr/>
        </p:nvSpPr>
        <p:spPr>
          <a:xfrm>
            <a:off x="8686800" y="42386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它用了什么软件？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人又提出了什么要求？</a:t>
            </a:r>
          </a:p>
        </p:txBody>
      </p:sp>
      <p:sp>
        <p:nvSpPr>
          <p:cNvPr id="13" name="官方示例 · 2026.09.03">
            <a:extLst>
              <a:ext uri="{FF2B5EF4-FFF2-40B4-BE49-F238E27FC236}">
                <ns2:creationId id="{557AAB47-756D-4C6F-831B-09CBBA7D154A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官方示例 · 2026.09.03</a:t>
            </a:r>
          </a:p>
        </p:txBody>
      </p:sp>
      <p:sp>
        <p:nvSpPr>
          <p:cNvPr id="14" name="点击画面，全屏播放">
            <a:extLst>
              <a:ext uri="{FF2B5EF4-FFF2-40B4-BE49-F238E27FC236}">
                <ns2:creationId id="{C3A9BDE0-CDF0-4A61-8539-CA5C1D3CA4C6}"/>
              </a:ext>
            </a:extLst>
          </p:cNvPr>
          <p:cNvSpPr>
            <a:spLocks noGrp="1"/>
          </p:cNvSpPr>
          <p:nvPr/>
        </p:nvSpPr>
        <p:spPr>
          <a:xfrm>
            <a:off x="8686800" y="56388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点击画面，全屏播放</a:t>
            </a:r>
          </a:p>
        </p:txBody>
      </p:sp>
      <p:sp>
        <p:nvSpPr>
          <p:cNvPr id="15" name="人可以查看结果，再提出下一步的要求。">
            <a:extLst>
              <a:ext uri="{FF2B5EF4-FFF2-40B4-BE49-F238E27FC236}">
                <ns2:creationId id="{6D08834A-8BD4-4F24-9877-6449E8EA6D7B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人可以查看结果，再提出下一步的要求。</a:t>
            </a:r>
          </a:p>
        </p:txBody>
      </p:sp>
    </p:spTree>
    <p:extLst>
      <p:ext uri="{BB962C8B-B14F-4D97-AF65-F5344CB8AC3E}">
        <p14:creationId val="1532093780"/>
      </p:ext>
    </p:extLst>
  </p:cSld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">
            <a:extLst>
              <a:ext uri="{FF2B5EF4-FFF2-40B4-BE49-F238E27FC236}">
                <ns2:creationId id="{FC0F2AC7-7F84-46E4-83B2-B79534221A3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AI 的能力">
            <a:extLst>
              <a:ext uri="{FF2B5EF4-FFF2-40B4-BE49-F238E27FC236}">
                <ns2:creationId id="{0BBA9BC2-7D2C-4B05-B0F8-9159D4535228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的能力</a:t>
            </a:r>
          </a:p>
        </p:txBody>
      </p:sp>
      <p:sp>
        <p:nvSpPr>
          <p:cNvPr id="3" name="你想怎样修改这些作品？">
            <a:extLst>
              <a:ext uri="{FF2B5EF4-FFF2-40B4-BE49-F238E27FC236}">
                <ns2:creationId id="{C99622DD-AA19-4337-BC92-C7BE681DD6A2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你想怎样修改这些作品？</a:t>
            </a:r>
          </a:p>
        </p:txBody>
      </p:sp>
      <p:sp>
        <p:nvSpPr>
          <p:cNvPr id="4" name="">
            <a:extLst>
              <a:ext uri="{FF2B5EF4-FFF2-40B4-BE49-F238E27FC236}">
                <ns2:creationId id="{6D08E2F3-0B13-4CA3-93AE-07748081A4EE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BAEEE52A-4446-4817-8F8F-203C31DB436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09">
            <a:extLst>
              <a:ext uri="{FF2B5EF4-FFF2-40B4-BE49-F238E27FC236}">
                <ns2:creationId id="{B3C33FE5-B7B9-4F02-BFCF-61FCAB622D68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7" name="选一段刚才的演示，提出一个能检查的修改。">
            <a:extLst>
              <a:ext uri="{FF2B5EF4-FFF2-40B4-BE49-F238E27FC236}">
                <ns2:creationId id="{14E76EEE-4004-4EB3-A48B-587D53D2073E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选一段刚才的演示，提出一个能检查的修改。</a:t>
            </a:r>
          </a:p>
        </p:txBody>
      </p:sp>
      <p:sp>
        <p:nvSpPr>
          <p:cNvPr id="8" name="01">
            <a:extLst>
              <a:ext uri="{FF2B5EF4-FFF2-40B4-BE49-F238E27FC236}">
                <ns2:creationId id="{2F50A6DE-C8D6-4218-87F3-A8A9296400DC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3390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9" name="">
            <a:extLst>
              <a:ext uri="{FF2B5EF4-FFF2-40B4-BE49-F238E27FC236}">
                <ns2:creationId id="{4F00997C-CF45-47D6-8128-B2FB2F5ECD99}"/>
              </a:ext>
            </a:extLst>
          </p:cNvPr>
          <p:cNvSpPr>
            <a:spLocks noGrp="1"/>
          </p:cNvSpPr>
          <p:nvPr/>
        </p:nvSpPr>
        <p:spPr>
          <a:xfrm>
            <a:off x="609600" y="3162300"/>
            <a:ext cx="33909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0" name="可交互作品">
            <a:extLst>
              <a:ext uri="{FF2B5EF4-FFF2-40B4-BE49-F238E27FC236}">
                <ns2:creationId id="{D5AD2151-54BB-4B17-9583-B98F34FECD5B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3390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可交互作品</a:t>
            </a:r>
          </a:p>
        </p:txBody>
      </p:sp>
      <p:sp>
        <p:nvSpPr>
          <p:cNvPr id="11" name="开始前显示&#10;按键和对应动作。">
            <a:extLst>
              <a:ext uri="{FF2B5EF4-FFF2-40B4-BE49-F238E27FC236}">
                <ns2:creationId id="{3647D8FA-CED2-4698-85BC-3B2C0BB9CCE9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3390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开始前显示</a:t>
            </a: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按键和对应动作。</a:t>
            </a:r>
          </a:p>
        </p:txBody>
      </p:sp>
      <p:sp>
        <p:nvSpPr>
          <p:cNvPr id="12" name="02">
            <a:extLst>
              <a:ext uri="{FF2B5EF4-FFF2-40B4-BE49-F238E27FC236}">
                <ns2:creationId id="{547BF855-9AAD-4E98-8D54-F6ED6A181602}"/>
              </a:ext>
            </a:extLst>
          </p:cNvPr>
          <p:cNvSpPr>
            <a:spLocks noGrp="1"/>
          </p:cNvSpPr>
          <p:nvPr/>
        </p:nvSpPr>
        <p:spPr>
          <a:xfrm>
            <a:off x="4400550" y="2419350"/>
            <a:ext cx="3390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">
            <a:extLst>
              <a:ext uri="{FF2B5EF4-FFF2-40B4-BE49-F238E27FC236}">
                <ns2:creationId id="{415807C4-B2DC-4E1C-B243-C15E7A86AE2B}"/>
              </a:ext>
            </a:extLst>
          </p:cNvPr>
          <p:cNvSpPr>
            <a:spLocks noGrp="1"/>
          </p:cNvSpPr>
          <p:nvPr/>
        </p:nvSpPr>
        <p:spPr>
          <a:xfrm>
            <a:off x="4400550" y="3162300"/>
            <a:ext cx="33909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4" name="展品讲解">
            <a:extLst>
              <a:ext uri="{FF2B5EF4-FFF2-40B4-BE49-F238E27FC236}">
                <ns2:creationId id="{DA7B10B9-2C54-42BE-A5BF-DA7528049CCA}"/>
              </a:ext>
            </a:extLst>
          </p:cNvPr>
          <p:cNvSpPr>
            <a:spLocks noGrp="1"/>
          </p:cNvSpPr>
          <p:nvPr/>
        </p:nvSpPr>
        <p:spPr>
          <a:xfrm>
            <a:off x="4400550" y="3371850"/>
            <a:ext cx="3390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展品讲解</a:t>
            </a:r>
          </a:p>
        </p:txBody>
      </p:sp>
      <p:sp>
        <p:nvSpPr>
          <p:cNvPr id="15" name="先讲用途，&#10;再回答我的追问。">
            <a:extLst>
              <a:ext uri="{FF2B5EF4-FFF2-40B4-BE49-F238E27FC236}">
                <ns2:creationId id="{B9876B7F-9650-4569-A09A-8826ACA7DDD9}"/>
              </a:ext>
            </a:extLst>
          </p:cNvPr>
          <p:cNvSpPr>
            <a:spLocks noGrp="1"/>
          </p:cNvSpPr>
          <p:nvPr/>
        </p:nvSpPr>
        <p:spPr>
          <a:xfrm>
            <a:off x="4400550" y="4048125"/>
            <a:ext cx="3390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先讲用途，</a:t>
            </a: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再回答我的追问。</a:t>
            </a:r>
          </a:p>
        </p:txBody>
      </p:sp>
      <p:sp>
        <p:nvSpPr>
          <p:cNvPr id="16" name="03">
            <a:extLst>
              <a:ext uri="{FF2B5EF4-FFF2-40B4-BE49-F238E27FC236}">
                <ns2:creationId id="{E5FB906E-39F4-43AF-8519-885285B3A7B2}"/>
              </a:ext>
            </a:extLst>
          </p:cNvPr>
          <p:cNvSpPr>
            <a:spLocks noGrp="1"/>
          </p:cNvSpPr>
          <p:nvPr/>
        </p:nvSpPr>
        <p:spPr>
          <a:xfrm>
            <a:off x="8191500" y="2419350"/>
            <a:ext cx="3390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">
            <a:extLst>
              <a:ext uri="{FF2B5EF4-FFF2-40B4-BE49-F238E27FC236}">
                <ns2:creationId id="{3AF27BB2-1B6E-4F7B-BACC-0B1A2D3D1917}"/>
              </a:ext>
            </a:extLst>
          </p:cNvPr>
          <p:cNvSpPr>
            <a:spLocks noGrp="1"/>
          </p:cNvSpPr>
          <p:nvPr/>
        </p:nvSpPr>
        <p:spPr>
          <a:xfrm>
            <a:off x="8191500" y="3162300"/>
            <a:ext cx="33909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8" name="视听创作">
            <a:extLst>
              <a:ext uri="{FF2B5EF4-FFF2-40B4-BE49-F238E27FC236}">
                <ns2:creationId id="{A2C20BBC-8543-4733-8EA5-66A7EAB2E184}"/>
              </a:ext>
            </a:extLst>
          </p:cNvPr>
          <p:cNvSpPr>
            <a:spLocks noGrp="1"/>
          </p:cNvSpPr>
          <p:nvPr/>
        </p:nvSpPr>
        <p:spPr>
          <a:xfrm>
            <a:off x="8191500" y="3371850"/>
            <a:ext cx="3390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视听创作</a:t>
            </a:r>
          </a:p>
        </p:txBody>
      </p:sp>
      <p:sp>
        <p:nvSpPr>
          <p:cNvPr id="19" name="保留主题，换成&#10;校园科技节的场景。">
            <a:extLst>
              <a:ext uri="{FF2B5EF4-FFF2-40B4-BE49-F238E27FC236}">
                <ns2:creationId id="{13B74AFD-FED4-40FF-BA98-BD4379EF84F5}"/>
              </a:ext>
            </a:extLst>
          </p:cNvPr>
          <p:cNvSpPr>
            <a:spLocks noGrp="1"/>
          </p:cNvSpPr>
          <p:nvPr/>
        </p:nvSpPr>
        <p:spPr>
          <a:xfrm>
            <a:off x="8191500" y="4048125"/>
            <a:ext cx="3390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保留主题，换成</a:t>
            </a: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校园科技节的场景。</a:t>
            </a:r>
          </a:p>
        </p:txBody>
      </p:sp>
      <p:sp>
        <p:nvSpPr>
          <p:cNvPr id="20" name="">
            <a:extLst>
              <a:ext uri="{FF2B5EF4-FFF2-40B4-BE49-F238E27FC236}">
                <ns2:creationId id="{2341F336-B4EB-449D-A870-EC4B57CA19FA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1" name="把“更好”说具体：你改哪里，怎样检查？">
            <a:extLst>
              <a:ext uri="{FF2B5EF4-FFF2-40B4-BE49-F238E27FC236}">
                <ns2:creationId id="{A1A8A18E-533D-4B61-A980-6AECC42F0164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把“更好”说具体：你改哪里，怎样检查？</a:t>
            </a:r>
          </a:p>
        </p:txBody>
      </p:sp>
    </p:spTree>
    <p:extLst>
      <p:ext uri="{BB962C8B-B14F-4D97-AF65-F5344CB8AC3E}">
        <p14:creationId val="58975311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88CF2DF4-F8DB-4DC1-816A-C99DEBC4BBA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十次课的学习任务">
            <a:extLst>
              <a:ext uri="{FF2B5EF4-FFF2-40B4-BE49-F238E27FC236}">
                <ns2:creationId id="{05415229-52D8-4B6A-819B-AEB0A1DE9498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十次课的学习任务</a:t>
            </a:r>
          </a:p>
        </p:txBody>
      </p:sp>
      <p:sp>
        <p:nvSpPr>
          <p:cNvPr id="3" name="十次课，完成两项作品">
            <a:extLst>
              <a:ext uri="{FF2B5EF4-FFF2-40B4-BE49-F238E27FC236}">
                <ns2:creationId id="{88B67F92-E19F-44D5-B389-F6A0061FE33C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十次课，完成两项作品</a:t>
            </a:r>
          </a:p>
        </p:txBody>
      </p:sp>
      <p:sp>
        <p:nvSpPr>
          <p:cNvPr id="4" name="">
            <a:extLst>
              <a:ext uri="{FF2B5EF4-FFF2-40B4-BE49-F238E27FC236}">
                <ns2:creationId id="{0DC731C5-B235-4642-93D3-3CFC3819BB75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EE4893C5-BDB7-4EA8-B6E0-8A1F9EEF660D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10">
            <a:extLst>
              <a:ext uri="{FF2B5EF4-FFF2-40B4-BE49-F238E27FC236}">
                <ns2:creationId id="{01B2B688-C07A-4610-ACAC-8480D5DF5F9E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7" name="你会加入自己的样本、资料和设计，并实际测试作品。">
            <a:extLst>
              <a:ext uri="{FF2B5EF4-FFF2-40B4-BE49-F238E27FC236}">
                <ns2:creationId id="{200EAFEE-22AD-4029-9375-C646C9C9B10A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你会加入自己的样本、资料和设计，并实际测试作品。</a:t>
            </a:r>
          </a:p>
        </p:txBody>
      </p:sp>
      <p:sp>
        <p:nvSpPr>
          <p:cNvPr id="8" name="">
            <a:extLst>
              <a:ext uri="{FF2B5EF4-FFF2-40B4-BE49-F238E27FC236}">
                <ns2:creationId id="{5004434D-D87F-43E1-B606-5E0326C24BF4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5067300" cy="47625"/>
          </a:xfrm>
          <a:prstGeom prst="rect">
            <a:avLst/>
          </a:prstGeom>
          <a:solidFill>
            <a:srgbClr val="256590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2:creationId id="{EB4756A6-2C7A-4396-ABB3-8020EC762B61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5067300" cy="47625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0" name="桌面物品识别提示器">
            <a:extLst>
              <a:ext uri="{FF2B5EF4-FFF2-40B4-BE49-F238E27FC236}">
                <ns2:creationId id="{94B50DAC-A91A-4517-98A3-DF1815CC8AA0}"/>
              </a:ext>
            </a:extLst>
          </p:cNvPr>
          <p:cNvSpPr>
            <a:spLocks noGrp="1"/>
          </p:cNvSpPr>
          <p:nvPr/>
        </p:nvSpPr>
        <p:spPr>
          <a:xfrm>
            <a:off x="609600" y="2790825"/>
            <a:ext cx="50673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桌面物品识别提示器</a:t>
            </a:r>
          </a:p>
        </p:txBody>
      </p:sp>
      <p:sp>
        <p:nvSpPr>
          <p:cNvPr id="11" name="校园展览讲解助手">
            <a:extLst>
              <a:ext uri="{FF2B5EF4-FFF2-40B4-BE49-F238E27FC236}">
                <ns2:creationId id="{40B61F00-56B8-46A4-B0C7-8877B49AF153}"/>
              </a:ext>
            </a:extLst>
          </p:cNvPr>
          <p:cNvSpPr>
            <a:spLocks noGrp="1"/>
          </p:cNvSpPr>
          <p:nvPr/>
        </p:nvSpPr>
        <p:spPr>
          <a:xfrm>
            <a:off x="6515100" y="2790825"/>
            <a:ext cx="50673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校园展览讲解助手</a:t>
            </a:r>
          </a:p>
        </p:txBody>
      </p:sp>
      <p:sp>
        <p:nvSpPr>
          <p:cNvPr id="12" name="拍摄物品，建立分类器。&#10;让 micro:bit 灯阵显示&#10;对应的归位方向。">
            <a:extLst>
              <a:ext uri="{FF2B5EF4-FFF2-40B4-BE49-F238E27FC236}">
                <ns2:creationId id="{0D04AF6E-4439-480F-9EE7-D38BB7CF829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50673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拍摄物品，建立分类器。</a:t>
            </a:r>
          </a:p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让 micro:bit 灯阵显示</a:t>
            </a:r>
          </a:p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对应的归位方向。</a:t>
            </a:r>
          </a:p>
        </p:txBody>
      </p:sp>
      <p:sp>
        <p:nvSpPr>
          <p:cNvPr id="13" name="整理展品资料，设置讲解要求。&#10;让助手依据资料回答，&#10;并提供一道知识挑战。">
            <a:extLst>
              <a:ext uri="{FF2B5EF4-FFF2-40B4-BE49-F238E27FC236}">
                <ns2:creationId id="{D2E74575-AD1A-44F2-ABE1-B250B69B01BD}"/>
              </a:ext>
            </a:extLst>
          </p:cNvPr>
          <p:cNvSpPr>
            <a:spLocks noGrp="1"/>
          </p:cNvSpPr>
          <p:nvPr/>
        </p:nvSpPr>
        <p:spPr>
          <a:xfrm>
            <a:off x="6515100" y="3657600"/>
            <a:ext cx="50673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整理展品资料，设置讲解要求。</a:t>
            </a:r>
          </a:p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让助手依据资料回答，</a:t>
            </a:r>
          </a:p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并提供一道知识挑战。</a:t>
            </a:r>
          </a:p>
        </p:txBody>
      </p:sp>
      <p:sp>
        <p:nvSpPr>
          <p:cNvPr id="14" name="">
            <a:extLst>
              <a:ext uri="{FF2B5EF4-FFF2-40B4-BE49-F238E27FC236}">
                <ns2:creationId id="{EFC2AE9F-0F81-4B89-9015-8937BF1F563A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5" name="样本、资料和程序，都可以由你改进。">
            <a:extLst>
              <a:ext uri="{FF2B5EF4-FFF2-40B4-BE49-F238E27FC236}">
                <ns2:creationId id="{CB9F0AEF-9FA5-4F1D-A8CD-17184A54816E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样本、资料和程序，都可以由你改进。</a:t>
            </a:r>
          </a:p>
        </p:txBody>
      </p:sp>
    </p:spTree>
    <p:extLst>
      <p:ext uri="{BB962C8B-B14F-4D97-AF65-F5344CB8AC3E}">
        <p14:creationId val="403597760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3" name="">
            <a:extLst>
              <a:ext uri="{FF2B5EF4-FFF2-40B4-BE49-F238E27FC236}">
                <ns2:creationId id="{F7AD275B-0D4F-42A8-861A-51ACD7D865F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十次课的学习任务">
            <a:extLst>
              <a:ext uri="{FF2B5EF4-FFF2-40B4-BE49-F238E27FC236}">
                <ns2:creationId id="{C00A8038-1A8B-4E54-9005-CEE5A1E20E59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十次课的学习任务</a:t>
            </a:r>
          </a:p>
        </p:txBody>
      </p:sp>
      <p:sp>
        <p:nvSpPr>
          <p:cNvPr id="3" name="我们的十次课">
            <a:extLst>
              <a:ext uri="{FF2B5EF4-FFF2-40B4-BE49-F238E27FC236}">
                <ns2:creationId id="{14CCC4B1-F757-4061-951A-934E82FE21F2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我们的十次课</a:t>
            </a:r>
          </a:p>
        </p:txBody>
      </p:sp>
      <p:sp>
        <p:nvSpPr>
          <p:cNvPr id="4" name="">
            <a:extLst>
              <a:ext uri="{FF2B5EF4-FFF2-40B4-BE49-F238E27FC236}">
                <ns2:creationId id="{3ABF4DAA-91B8-4E38-8B86-84AE3519B87C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C9B048EF-043F-4E3D-A9EC-F2CE5582556D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11">
            <a:extLst>
              <a:ext uri="{FF2B5EF4-FFF2-40B4-BE49-F238E27FC236}">
                <ns2:creationId id="{45C9C668-8383-48AC-83B5-F3696AA75A3F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7" name="十次课包含今天。每次课都有一项可完成的任务。">
            <a:extLst>
              <a:ext uri="{FF2B5EF4-FFF2-40B4-BE49-F238E27FC236}">
                <ns2:creationId id="{AD2ACAF6-5846-4E45-8CF4-409CF246684A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十次课包含今天。每次课都有一项可完成的任务。</a:t>
            </a:r>
          </a:p>
        </p:txBody>
      </p:sp>
      <p:sp>
        <p:nvSpPr>
          <p:cNvPr id="8" name="第 1 课">
            <a:extLst>
              <a:ext uri="{FF2B5EF4-FFF2-40B4-BE49-F238E27FC236}">
                <ns2:creationId id="{CA290647-1D50-491B-8317-045BF2D88864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第 1 课</a:t>
            </a:r>
          </a:p>
        </p:txBody>
      </p:sp>
      <p:sp>
        <p:nvSpPr>
          <p:cNvPr id="9" name="认识AI">
            <a:extLst>
              <a:ext uri="{FF2B5EF4-FFF2-40B4-BE49-F238E27FC236}">
                <ns2:creationId id="{8173358B-DED5-4F94-8969-7C47D709B291}"/>
              </a:ext>
            </a:extLst>
          </p:cNvPr>
          <p:cNvSpPr>
            <a:spLocks noGrp="1"/>
          </p:cNvSpPr>
          <p:nvPr/>
        </p:nvSpPr>
        <p:spPr>
          <a:xfrm>
            <a:off x="2686050" y="244792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认识AI</a:t>
            </a:r>
          </a:p>
        </p:txBody>
      </p:sp>
      <p:sp>
        <p:nvSpPr>
          <p:cNvPr id="10" name="判断案例，测试分类器，提出作品想法。">
            <a:extLst>
              <a:ext uri="{FF2B5EF4-FFF2-40B4-BE49-F238E27FC236}">
                <ns2:creationId id="{633B2C1D-04A6-4FB9-B5EF-A3B9D3FF15FA}"/>
              </a:ext>
            </a:extLst>
          </p:cNvPr>
          <p:cNvSpPr>
            <a:spLocks noGrp="1"/>
          </p:cNvSpPr>
          <p:nvPr/>
        </p:nvSpPr>
        <p:spPr>
          <a:xfrm>
            <a:off x="5686425" y="2495550"/>
            <a:ext cx="58959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判断案例，测试分类器，提出作品想法。</a:t>
            </a:r>
          </a:p>
        </p:txBody>
      </p:sp>
      <p:sp>
        <p:nvSpPr>
          <p:cNvPr id="11" name="">
            <a:extLst>
              <a:ext uri="{FF2B5EF4-FFF2-40B4-BE49-F238E27FC236}">
                <ns2:creationId id="{5354F26F-5BD1-42B0-B10C-16BDA0FE73A7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2" name="第 2～5 课">
            <a:extLst>
              <a:ext uri="{FF2B5EF4-FFF2-40B4-BE49-F238E27FC236}">
                <ns2:creationId id="{4BD4A022-A129-41CB-ACF7-E79DFB120779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第 2～5 课</a:t>
            </a:r>
          </a:p>
        </p:txBody>
      </p:sp>
      <p:sp>
        <p:nvSpPr>
          <p:cNvPr id="13" name="识别提示器">
            <a:extLst>
              <a:ext uri="{FF2B5EF4-FFF2-40B4-BE49-F238E27FC236}">
                <ns2:creationId id="{EEA8C868-24A2-471F-A300-880ED60A8C4D}"/>
              </a:ext>
            </a:extLst>
          </p:cNvPr>
          <p:cNvSpPr>
            <a:spLocks noGrp="1"/>
          </p:cNvSpPr>
          <p:nvPr/>
        </p:nvSpPr>
        <p:spPr>
          <a:xfrm>
            <a:off x="2686050" y="333375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识别提示器</a:t>
            </a:r>
          </a:p>
        </p:txBody>
      </p:sp>
      <p:sp>
        <p:nvSpPr>
          <p:cNvPr id="14" name="采样与分类 → 灯阵显示 → 测试改进 → 试用">
            <a:extLst>
              <a:ext uri="{FF2B5EF4-FFF2-40B4-BE49-F238E27FC236}">
                <ns2:creationId id="{5E648ABF-21A3-4B61-8BAF-508A8736AEB9}"/>
              </a:ext>
            </a:extLst>
          </p:cNvPr>
          <p:cNvSpPr>
            <a:spLocks noGrp="1"/>
          </p:cNvSpPr>
          <p:nvPr/>
        </p:nvSpPr>
        <p:spPr>
          <a:xfrm>
            <a:off x="5686425" y="3381375"/>
            <a:ext cx="58959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采样与分类 → 灯阵显示 → 测试改进 → 试用</a:t>
            </a:r>
          </a:p>
        </p:txBody>
      </p:sp>
      <p:sp>
        <p:nvSpPr>
          <p:cNvPr id="15" name="">
            <a:extLst>
              <a:ext uri="{FF2B5EF4-FFF2-40B4-BE49-F238E27FC236}">
                <ns2:creationId id="{5F32C2DC-BDE8-4A49-B659-6891B7692FDB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6" name="第 6～9 课">
            <a:extLst>
              <a:ext uri="{FF2B5EF4-FFF2-40B4-BE49-F238E27FC236}">
                <ns2:creationId id="{6A399AA7-6FEB-4E93-BEC4-79B20C396445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第 6～9 课</a:t>
            </a:r>
          </a:p>
        </p:txBody>
      </p:sp>
      <p:sp>
        <p:nvSpPr>
          <p:cNvPr id="17" name="讲解助手">
            <a:extLst>
              <a:ext uri="{FF2B5EF4-FFF2-40B4-BE49-F238E27FC236}">
                <ns2:creationId id="{A3990742-F7C0-4919-A2AE-C4AB8B7AC1B5}"/>
              </a:ext>
            </a:extLst>
          </p:cNvPr>
          <p:cNvSpPr>
            <a:spLocks noGrp="1"/>
          </p:cNvSpPr>
          <p:nvPr/>
        </p:nvSpPr>
        <p:spPr>
          <a:xfrm>
            <a:off x="2686050" y="4219575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讲解助手</a:t>
            </a:r>
          </a:p>
        </p:txBody>
      </p:sp>
      <p:sp>
        <p:nvSpPr>
          <p:cNvPr id="18" name="资料讲解 → 知识检索 → 知识挑战 → 试用">
            <a:extLst>
              <a:ext uri="{FF2B5EF4-FFF2-40B4-BE49-F238E27FC236}">
                <ns2:creationId id="{B6DA8163-4D11-40F1-A696-A1A90CFB9BBD}"/>
              </a:ext>
            </a:extLst>
          </p:cNvPr>
          <p:cNvSpPr>
            <a:spLocks noGrp="1"/>
          </p:cNvSpPr>
          <p:nvPr/>
        </p:nvSpPr>
        <p:spPr>
          <a:xfrm>
            <a:off x="5686425" y="4267200"/>
            <a:ext cx="58959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资料讲解 → 知识检索 → 知识挑战 → 试用</a:t>
            </a:r>
          </a:p>
        </p:txBody>
      </p:sp>
      <p:sp>
        <p:nvSpPr>
          <p:cNvPr id="19" name="">
            <a:extLst>
              <a:ext uri="{FF2B5EF4-FFF2-40B4-BE49-F238E27FC236}">
                <ns2:creationId id="{99B9D42E-8F92-4B30-95BD-473D9A001D32}"/>
              </a:ext>
            </a:extLst>
          </p:cNvPr>
          <p:cNvSpPr>
            <a:spLocks noGrp="1"/>
          </p:cNvSpPr>
          <p:nvPr/>
        </p:nvSpPr>
        <p:spPr>
          <a:xfrm>
            <a:off x="609600" y="492442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20" name="第 10 课">
            <a:extLst>
              <a:ext uri="{FF2B5EF4-FFF2-40B4-BE49-F238E27FC236}">
                <ns2:creationId id="{4D2AA6EE-E772-4EB3-B6AB-F7C78BE33075}"/>
              </a:ext>
            </a:extLst>
          </p:cNvPr>
          <p:cNvSpPr>
            <a:spLocks noGrp="1"/>
          </p:cNvSpPr>
          <p:nvPr/>
        </p:nvSpPr>
        <p:spPr>
          <a:xfrm>
            <a:off x="609600" y="5153025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第 10 课</a:t>
            </a:r>
          </a:p>
        </p:txBody>
      </p:sp>
      <p:sp>
        <p:nvSpPr>
          <p:cNvPr id="21" name="作品展示">
            <a:extLst>
              <a:ext uri="{FF2B5EF4-FFF2-40B4-BE49-F238E27FC236}">
                <ns2:creationId id="{40FD7812-6DD9-423A-BCDB-E95330E78782}"/>
              </a:ext>
            </a:extLst>
          </p:cNvPr>
          <p:cNvSpPr>
            <a:spLocks noGrp="1"/>
          </p:cNvSpPr>
          <p:nvPr/>
        </p:nvSpPr>
        <p:spPr>
          <a:xfrm>
            <a:off x="2686050" y="510540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作品展示</a:t>
            </a:r>
          </a:p>
        </p:txBody>
      </p:sp>
      <p:sp>
        <p:nvSpPr>
          <p:cNvPr id="22" name="演示实际效果，说明自己的修改和测试。">
            <a:extLst>
              <a:ext uri="{FF2B5EF4-FFF2-40B4-BE49-F238E27FC236}">
                <ns2:creationId id="{5F3118DA-8122-45D6-B35E-84C31DCA3367}"/>
              </a:ext>
            </a:extLst>
          </p:cNvPr>
          <p:cNvSpPr>
            <a:spLocks noGrp="1"/>
          </p:cNvSpPr>
          <p:nvPr/>
        </p:nvSpPr>
        <p:spPr>
          <a:xfrm>
            <a:off x="5686425" y="5153025"/>
            <a:ext cx="58959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演示实际效果，说明自己的修改和测试。</a:t>
            </a:r>
          </a:p>
        </p:txBody>
      </p:sp>
    </p:spTree>
    <p:extLst>
      <p:ext uri="{BB962C8B-B14F-4D97-AF65-F5344CB8AC3E}">
        <p14:creationId val="769771821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51A89B78-B570-4E2F-A9A9-F0469ADE27E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本课任务">
            <a:extLst>
              <a:ext uri="{FF2B5EF4-FFF2-40B4-BE49-F238E27FC236}">
                <ns2:creationId id="{3CDEA661-5381-4BFB-BF18-4A4C9EA3FFF8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本课任务</a:t>
            </a:r>
          </a:p>
        </p:txBody>
      </p:sp>
      <p:sp>
        <p:nvSpPr>
          <p:cNvPr id="3" name="今天的四项任务">
            <a:extLst>
              <a:ext uri="{FF2B5EF4-FFF2-40B4-BE49-F238E27FC236}">
                <ns2:creationId id="{94F4DD16-864B-4CD6-B287-7433CB854689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今天的四项任务</a:t>
            </a:r>
          </a:p>
        </p:txBody>
      </p:sp>
      <p:sp>
        <p:nvSpPr>
          <p:cNvPr id="4" name="">
            <a:extLst>
              <a:ext uri="{FF2B5EF4-FFF2-40B4-BE49-F238E27FC236}">
                <ns2:creationId id="{9994273C-B05E-4A20-AF89-EDB81D67FAC6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F4572CEA-400B-4C43-8BBF-A5EFBAE698D6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12">
            <a:extLst>
              <a:ext uri="{FF2B5EF4-FFF2-40B4-BE49-F238E27FC236}">
                <ns2:creationId id="{0091B0F5-FA9C-4855-BC78-C3FF9F844531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7" name="01">
            <a:extLst>
              <a:ext uri="{FF2B5EF4-FFF2-40B4-BE49-F238E27FC236}">
                <ns2:creationId id="{30792EB0-F646-471F-8588-2E9DB54916AB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8" name="判断案例">
            <a:extLst>
              <a:ext uri="{FF2B5EF4-FFF2-40B4-BE49-F238E27FC236}">
                <ns2:creationId id="{F1CBD20D-57AB-4D50-B12B-AB84995013F2}"/>
              </a:ext>
            </a:extLst>
          </p:cNvPr>
          <p:cNvSpPr>
            <a:spLocks noGrp="1"/>
          </p:cNvSpPr>
          <p:nvPr/>
        </p:nvSpPr>
        <p:spPr>
          <a:xfrm>
            <a:off x="1276350" y="2276475"/>
            <a:ext cx="4381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判断案例</a:t>
            </a:r>
          </a:p>
        </p:txBody>
      </p:sp>
      <p:sp>
        <p:nvSpPr>
          <p:cNvPr id="9" name="根据做法，判断哪里使用了AI。">
            <a:extLst>
              <a:ext uri="{FF2B5EF4-FFF2-40B4-BE49-F238E27FC236}">
                <ns2:creationId id="{823A91F2-A009-45F0-A1DB-E9E197DAB6BC}"/>
              </a:ext>
            </a:extLst>
          </p:cNvPr>
          <p:cNvSpPr>
            <a:spLocks noGrp="1"/>
          </p:cNvSpPr>
          <p:nvPr/>
        </p:nvSpPr>
        <p:spPr>
          <a:xfrm>
            <a:off x="1276350" y="2886075"/>
            <a:ext cx="4381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根据做法，判断哪里使用了AI。</a:t>
            </a:r>
          </a:p>
        </p:txBody>
      </p:sp>
      <p:sp>
        <p:nvSpPr>
          <p:cNvPr id="10" name="02">
            <a:extLst>
              <a:ext uri="{FF2B5EF4-FFF2-40B4-BE49-F238E27FC236}">
                <ns2:creationId id="{66FAE323-C4A5-4372-B8F7-F21978244511}"/>
              </a:ext>
            </a:extLst>
          </p:cNvPr>
          <p:cNvSpPr>
            <a:spLocks noGrp="1"/>
          </p:cNvSpPr>
          <p:nvPr/>
        </p:nvSpPr>
        <p:spPr>
          <a:xfrm>
            <a:off x="6515100" y="232410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1" name="理解过程">
            <a:extLst>
              <a:ext uri="{FF2B5EF4-FFF2-40B4-BE49-F238E27FC236}">
                <ns2:creationId id="{5BD6B542-7DCF-415D-BB5A-4ECEFCC46A34}"/>
              </a:ext>
            </a:extLst>
          </p:cNvPr>
          <p:cNvSpPr>
            <a:spLocks noGrp="1"/>
          </p:cNvSpPr>
          <p:nvPr/>
        </p:nvSpPr>
        <p:spPr>
          <a:xfrm>
            <a:off x="7181850" y="2276475"/>
            <a:ext cx="4381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理解过程</a:t>
            </a:r>
          </a:p>
        </p:txBody>
      </p:sp>
      <p:sp>
        <p:nvSpPr>
          <p:cNvPr id="12" name="区分学习与使用，说明输入和输出。">
            <a:extLst>
              <a:ext uri="{FF2B5EF4-FFF2-40B4-BE49-F238E27FC236}">
                <ns2:creationId id="{D768A7BD-3E92-4E6F-86DF-60C613DC4DA5}"/>
              </a:ext>
            </a:extLst>
          </p:cNvPr>
          <p:cNvSpPr>
            <a:spLocks noGrp="1"/>
          </p:cNvSpPr>
          <p:nvPr/>
        </p:nvSpPr>
        <p:spPr>
          <a:xfrm>
            <a:off x="7181850" y="2886075"/>
            <a:ext cx="4381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区分学习与使用，说明输入和输出。</a:t>
            </a:r>
          </a:p>
        </p:txBody>
      </p:sp>
      <p:sp>
        <p:nvSpPr>
          <p:cNvPr id="13" name="03">
            <a:extLst>
              <a:ext uri="{FF2B5EF4-FFF2-40B4-BE49-F238E27FC236}">
                <ns2:creationId id="{23DB3CB7-0A8C-4E26-91A4-FDA08CBA006C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4" name="实际测试">
            <a:extLst>
              <a:ext uri="{FF2B5EF4-FFF2-40B4-BE49-F238E27FC236}">
                <ns2:creationId id="{B04321E0-3B2B-4A51-8451-E1BF36B39C1E}"/>
              </a:ext>
            </a:extLst>
          </p:cNvPr>
          <p:cNvSpPr>
            <a:spLocks noGrp="1"/>
          </p:cNvSpPr>
          <p:nvPr/>
        </p:nvSpPr>
        <p:spPr>
          <a:xfrm>
            <a:off x="1276350" y="3952875"/>
            <a:ext cx="4381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实际测试</a:t>
            </a:r>
          </a:p>
        </p:txBody>
      </p:sp>
      <p:sp>
        <p:nvSpPr>
          <p:cNvPr id="15" name="改变一个条件，比较预测与结果。">
            <a:extLst>
              <a:ext uri="{FF2B5EF4-FFF2-40B4-BE49-F238E27FC236}">
                <ns2:creationId id="{D1376BFD-E6B0-484D-8B9F-C38D4CBBEA2E}"/>
              </a:ext>
            </a:extLst>
          </p:cNvPr>
          <p:cNvSpPr>
            <a:spLocks noGrp="1"/>
          </p:cNvSpPr>
          <p:nvPr/>
        </p:nvSpPr>
        <p:spPr>
          <a:xfrm>
            <a:off x="1276350" y="4562475"/>
            <a:ext cx="4381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改变一个条件，比较预测与结果。</a:t>
            </a:r>
          </a:p>
        </p:txBody>
      </p:sp>
      <p:sp>
        <p:nvSpPr>
          <p:cNvPr id="16" name="04">
            <a:extLst>
              <a:ext uri="{FF2B5EF4-FFF2-40B4-BE49-F238E27FC236}">
                <ns2:creationId id="{6D65CD3E-3E8A-4A41-A02B-2F9D88DFDD9E}"/>
              </a:ext>
            </a:extLst>
          </p:cNvPr>
          <p:cNvSpPr>
            <a:spLocks noGrp="1"/>
          </p:cNvSpPr>
          <p:nvPr/>
        </p:nvSpPr>
        <p:spPr>
          <a:xfrm>
            <a:off x="6515100" y="4000500"/>
            <a:ext cx="495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7" name="检查依据">
            <a:extLst>
              <a:ext uri="{FF2B5EF4-FFF2-40B4-BE49-F238E27FC236}">
                <ns2:creationId id="{8D575AEB-3913-4F53-BF7E-285D81C2FD91}"/>
              </a:ext>
            </a:extLst>
          </p:cNvPr>
          <p:cNvSpPr>
            <a:spLocks noGrp="1"/>
          </p:cNvSpPr>
          <p:nvPr/>
        </p:nvSpPr>
        <p:spPr>
          <a:xfrm>
            <a:off x="7181850" y="3952875"/>
            <a:ext cx="4381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检查依据</a:t>
            </a:r>
          </a:p>
        </p:txBody>
      </p:sp>
      <p:sp>
        <p:nvSpPr>
          <p:cNvPr id="18" name="核对资料，说明为什么还需要查证。">
            <a:extLst>
              <a:ext uri="{FF2B5EF4-FFF2-40B4-BE49-F238E27FC236}">
                <ns2:creationId id="{005DEE12-ECAC-43A3-B8FB-0F2EB6718DEA}"/>
              </a:ext>
            </a:extLst>
          </p:cNvPr>
          <p:cNvSpPr>
            <a:spLocks noGrp="1"/>
          </p:cNvSpPr>
          <p:nvPr/>
        </p:nvSpPr>
        <p:spPr>
          <a:xfrm>
            <a:off x="7181850" y="4562475"/>
            <a:ext cx="4381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核对资料，说明为什么还需要查证。</a:t>
            </a:r>
          </a:p>
        </p:txBody>
      </p:sp>
      <p:sp>
        <p:nvSpPr>
          <p:cNvPr id="19" name="">
            <a:extLst>
              <a:ext uri="{FF2B5EF4-FFF2-40B4-BE49-F238E27FC236}">
                <ns2:creationId id="{46E6ABB4-8E23-4134-A230-6ABB707D35D3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0" name="课末写下一个想做的小工具：给谁用，做什么。">
            <a:extLst>
              <a:ext uri="{FF2B5EF4-FFF2-40B4-BE49-F238E27FC236}">
                <ns2:creationId id="{C9310410-7013-4355-A839-2586F8794B05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课末写下一个想做的小工具：给谁用，做什么。</a:t>
            </a:r>
          </a:p>
        </p:txBody>
      </p:sp>
    </p:spTree>
    <p:extLst>
      <p:ext uri="{BB962C8B-B14F-4D97-AF65-F5344CB8AC3E}">
        <p14:creationId val="2067966620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4AFED60B-5721-453B-B63C-5985CB53A8A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判断 AI 的使用过程">
            <a:extLst>
              <a:ext uri="{FF2B5EF4-FFF2-40B4-BE49-F238E27FC236}">
                <ns2:creationId id="{DCC23685-8BE9-4694-83F1-3E75CF9D193D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判断 AI 的使用过程</a:t>
            </a:r>
          </a:p>
        </p:txBody>
      </p:sp>
      <p:sp>
        <p:nvSpPr>
          <p:cNvPr id="3" name="同一功能，两种做法">
            <a:extLst>
              <a:ext uri="{FF2B5EF4-FFF2-40B4-BE49-F238E27FC236}">
                <ns2:creationId id="{DAA8BECF-450C-470D-8462-E2E3477AF5F7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同一功能，两种做法</a:t>
            </a:r>
          </a:p>
        </p:txBody>
      </p:sp>
      <p:sp>
        <p:nvSpPr>
          <p:cNvPr id="4" name="">
            <a:extLst>
              <a:ext uri="{FF2B5EF4-FFF2-40B4-BE49-F238E27FC236}">
                <ns2:creationId id="{2CDEDFDA-D130-4246-8839-B91CE66DA140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B3BA35AE-97C8-4781-8BA7-2AAAE5E7C807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13">
            <a:extLst>
              <a:ext uri="{FF2B5EF4-FFF2-40B4-BE49-F238E27FC236}">
                <ns2:creationId id="{908D3700-E1AB-4781-BC7A-61C29F2FEC6B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7" name="两种社团答疑页都能回答“活动在哪里”。">
            <a:extLst>
              <a:ext uri="{FF2B5EF4-FFF2-40B4-BE49-F238E27FC236}">
                <ns2:creationId id="{8948689F-4C16-4BBB-8FC4-3D912DDCDF1D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两种社团答疑页都能回答“活动在哪里”。</a:t>
            </a:r>
          </a:p>
        </p:txBody>
      </p:sp>
      <p:sp>
        <p:nvSpPr>
          <p:cNvPr id="8" name="">
            <a:extLst>
              <a:ext uri="{FF2B5EF4-FFF2-40B4-BE49-F238E27FC236}">
                <ns2:creationId id="{A648C937-3E6B-4837-A84D-692A4E66746C}"/>
              </a:ext>
            </a:extLst>
          </p:cNvPr>
          <p:cNvSpPr>
            <a:spLocks noGrp="1"/>
          </p:cNvSpPr>
          <p:nvPr/>
        </p:nvSpPr>
        <p:spPr>
          <a:xfrm>
            <a:off x="6048375" y="2343150"/>
            <a:ext cx="9525" cy="261937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9" name="关键词匹配">
            <a:extLst>
              <a:ext uri="{FF2B5EF4-FFF2-40B4-BE49-F238E27FC236}">
                <ns2:creationId id="{14FAE96A-B35E-43A4-83EE-6448161B840C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关键词匹配</a:t>
            </a:r>
          </a:p>
        </p:txBody>
      </p:sp>
      <p:sp>
        <p:nvSpPr>
          <p:cNvPr id="10" name="检测到“地点”两个字，&#10;就显示事先写好的地址。&#10;&#10;本例只执行固定规则。">
            <a:extLst>
              <a:ext uri="{FF2B5EF4-FFF2-40B4-BE49-F238E27FC236}">
                <ns2:creationId id="{B0ED6060-F15D-4AF0-AB94-F5F542DF51E3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50673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检测到“地点”两个字，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就显示事先写好的地址。</a:t>
            </a:r>
          </a:p>
          <a:p>
            <a:r>
              <a:t/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本例只执行固定规则。</a:t>
            </a:r>
          </a:p>
        </p:txBody>
      </p:sp>
      <p:sp>
        <p:nvSpPr>
          <p:cNvPr id="11" name="模型处理问题">
            <a:extLst>
              <a:ext uri="{FF2B5EF4-FFF2-40B4-BE49-F238E27FC236}">
                <ns2:creationId id="{AB217BFD-795B-4A79-AC1E-A9E56FED2AD2}"/>
              </a:ext>
            </a:extLst>
          </p:cNvPr>
          <p:cNvSpPr>
            <a:spLocks noGrp="1"/>
          </p:cNvSpPr>
          <p:nvPr/>
        </p:nvSpPr>
        <p:spPr>
          <a:xfrm>
            <a:off x="6515100" y="2390775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模型处理问题</a:t>
            </a:r>
          </a:p>
        </p:txBody>
      </p:sp>
      <p:sp>
        <p:nvSpPr>
          <p:cNvPr id="12" name="把问题和社团资料交给&#10;语言模型，生成相应回答。&#10;&#10;本例使用了AI模型。">
            <a:extLst>
              <a:ext uri="{FF2B5EF4-FFF2-40B4-BE49-F238E27FC236}">
                <ns2:creationId id="{0558B589-0642-45A5-85EF-7A07C8D2EEED}"/>
              </a:ext>
            </a:extLst>
          </p:cNvPr>
          <p:cNvSpPr>
            <a:spLocks noGrp="1"/>
          </p:cNvSpPr>
          <p:nvPr/>
        </p:nvSpPr>
        <p:spPr>
          <a:xfrm>
            <a:off x="6515100" y="2962275"/>
            <a:ext cx="50673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把问题和社团资料交给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语言模型，生成相应回答。</a:t>
            </a:r>
          </a:p>
          <a:p>
            <a:r>
              <a:t/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本例使用了AI模型。</a:t>
            </a:r>
          </a:p>
        </p:txBody>
      </p:sp>
      <p:sp>
        <p:nvSpPr>
          <p:cNvPr id="13" name="">
            <a:extLst>
              <a:ext uri="{FF2B5EF4-FFF2-40B4-BE49-F238E27FC236}">
                <ns2:creationId id="{677F1C4D-B870-438D-9A7D-E90CFC2AD103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4" name="只知道“会回答问题”，还不能判断用了什么方法。">
            <a:extLst>
              <a:ext uri="{FF2B5EF4-FFF2-40B4-BE49-F238E27FC236}">
                <ns2:creationId id="{8FCA2977-242C-4688-9D2A-17CB764539F3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只知道“会回答问题”，还不能判断用了什么方法。</a:t>
            </a:r>
          </a:p>
        </p:txBody>
      </p:sp>
    </p:spTree>
    <p:extLst>
      <p:ext uri="{BB962C8B-B14F-4D97-AF65-F5344CB8AC3E}">
        <p14:creationId val="4375725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75EDDE7C-5B98-4889-B7DA-8FE2CB44812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卡牌活动">
            <a:extLst>
              <a:ext uri="{FF2B5EF4-FFF2-40B4-BE49-F238E27FC236}">
                <ns2:creationId id="{78CBCC94-86CB-49FA-BBE3-1BC6E4E99DCC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卡牌活动</a:t>
            </a:r>
          </a:p>
        </p:txBody>
      </p:sp>
      <p:sp>
        <p:nvSpPr>
          <p:cNvPr id="3" name="案例卡：你的依据是什么？">
            <a:extLst>
              <a:ext uri="{FF2B5EF4-FFF2-40B4-BE49-F238E27FC236}">
                <ns2:creationId id="{A4E6505A-1765-4E06-8611-E51CF7F06BA7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案例卡：你的依据是什么？</a:t>
            </a:r>
          </a:p>
        </p:txBody>
      </p:sp>
      <p:sp>
        <p:nvSpPr>
          <p:cNvPr id="4" name="">
            <a:extLst>
              <a:ext uri="{FF2B5EF4-FFF2-40B4-BE49-F238E27FC236}">
                <ns2:creationId id="{E981E4B8-E139-431B-87F0-A741AB0288EC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4A6AB8C9-AA87-4749-9FBC-DB1B0F75DCF7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14">
            <a:extLst>
              <a:ext uri="{FF2B5EF4-FFF2-40B4-BE49-F238E27FC236}">
                <ns2:creationId id="{F6702CA0-EC59-41AA-B9B8-683060AF04CA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7" name="每组八张卡。每个人至少解释一张，指出判断依据。">
            <a:extLst>
              <a:ext uri="{FF2B5EF4-FFF2-40B4-BE49-F238E27FC236}">
                <ns2:creationId id="{C36A43D5-06BE-4915-8350-0358EDEC9A3C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每组八张卡。每个人至少解释一张，指出判断依据。</a:t>
            </a:r>
          </a:p>
        </p:txBody>
      </p:sp>
      <p:sp>
        <p:nvSpPr>
          <p:cNvPr id="8" name="5分钟">
            <a:extLst>
              <a:ext uri="{FF2B5EF4-FFF2-40B4-BE49-F238E27FC236}">
                <ns2:creationId id="{D7639815-BC61-4C72-B00C-DE5A6F8CF314}"/>
              </a:ext>
            </a:extLst>
          </p:cNvPr>
          <p:cNvSpPr>
            <a:spLocks noGrp="1"/>
          </p:cNvSpPr>
          <p:nvPr/>
        </p:nvSpPr>
        <p:spPr>
          <a:xfrm>
            <a:off x="10248900" y="1971675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80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5分钟</a:t>
            </a:r>
          </a:p>
        </p:txBody>
      </p:sp>
      <p:sp>
        <p:nvSpPr>
          <p:cNvPr id="9" name="">
            <a:extLst>
              <a:ext uri="{FF2B5EF4-FFF2-40B4-BE49-F238E27FC236}">
                <ns2:creationId id="{3A1672D0-D08F-4A1A-B3E7-B88D7C0837DB}"/>
              </a:ext>
            </a:extLst>
          </p:cNvPr>
          <p:cNvSpPr>
            <a:spLocks noGrp="1"/>
          </p:cNvSpPr>
          <p:nvPr/>
        </p:nvSpPr>
        <p:spPr>
          <a:xfrm>
            <a:off x="609600" y="2752725"/>
            <a:ext cx="3352800" cy="1847850"/>
          </a:xfrm>
          <a:prstGeom prst="rect">
            <a:avLst/>
          </a:prstGeom>
          <a:solidFill>
            <a:srgbClr val="EFF5F9"/>
          </a:solidFill>
          <a:ln w="0">
            <a:noFill/>
          </a:ln>
        </p:spPr>
      </p:sp>
      <p:sp>
        <p:nvSpPr>
          <p:cNvPr id="10" name="按说明用了AI">
            <a:extLst>
              <a:ext uri="{FF2B5EF4-FFF2-40B4-BE49-F238E27FC236}">
                <ns2:creationId id="{AF526F68-91CF-4A03-92F8-63179AE33167}"/>
              </a:ext>
            </a:extLst>
          </p:cNvPr>
          <p:cNvSpPr>
            <a:spLocks noGrp="1"/>
          </p:cNvSpPr>
          <p:nvPr/>
        </p:nvSpPr>
        <p:spPr>
          <a:xfrm>
            <a:off x="809625" y="3048000"/>
            <a:ext cx="2952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按说明用了AI</a:t>
            </a:r>
          </a:p>
        </p:txBody>
      </p:sp>
      <p:sp>
        <p:nvSpPr>
          <p:cNvPr id="11" name="指出AI参与的过程。">
            <a:extLst>
              <a:ext uri="{FF2B5EF4-FFF2-40B4-BE49-F238E27FC236}">
                <ns2:creationId id="{FA2F9A5E-4C1C-4253-A11B-17C39A8ED025}"/>
              </a:ext>
            </a:extLst>
          </p:cNvPr>
          <p:cNvSpPr>
            <a:spLocks noGrp="1"/>
          </p:cNvSpPr>
          <p:nvPr/>
        </p:nvSpPr>
        <p:spPr>
          <a:xfrm>
            <a:off x="809625" y="400050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7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指出AI参与的过程。</a:t>
            </a:r>
          </a:p>
        </p:txBody>
      </p:sp>
      <p:sp>
        <p:nvSpPr>
          <p:cNvPr id="12" name="">
            <a:extLst>
              <a:ext uri="{FF2B5EF4-FFF2-40B4-BE49-F238E27FC236}">
                <ns2:creationId id="{3E286DC2-15F1-474B-8F84-5A1B0427E903}"/>
              </a:ext>
            </a:extLst>
          </p:cNvPr>
          <p:cNvSpPr>
            <a:spLocks noGrp="1"/>
          </p:cNvSpPr>
          <p:nvPr/>
        </p:nvSpPr>
        <p:spPr>
          <a:xfrm>
            <a:off x="4419600" y="2752725"/>
            <a:ext cx="3352800" cy="1847850"/>
          </a:xfrm>
          <a:prstGeom prst="rect">
            <a:avLst/>
          </a:prstGeom>
          <a:solidFill>
            <a:srgbClr val="EFF5F9"/>
          </a:solidFill>
          <a:ln w="0">
            <a:noFill/>
          </a:ln>
        </p:spPr>
      </p:sp>
      <p:sp>
        <p:nvSpPr>
          <p:cNvPr id="13" name="按说明只用普通规则">
            <a:extLst>
              <a:ext uri="{FF2B5EF4-FFF2-40B4-BE49-F238E27FC236}">
                <ns2:creationId id="{66A76592-42A2-489B-B153-63EDAC1A8B43}"/>
              </a:ext>
            </a:extLst>
          </p:cNvPr>
          <p:cNvSpPr>
            <a:spLocks noGrp="1"/>
          </p:cNvSpPr>
          <p:nvPr/>
        </p:nvSpPr>
        <p:spPr>
          <a:xfrm>
            <a:off x="4619625" y="3048000"/>
            <a:ext cx="2952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按说明只用普通规则</a:t>
            </a:r>
          </a:p>
        </p:txBody>
      </p:sp>
      <p:sp>
        <p:nvSpPr>
          <p:cNvPr id="14" name="说明程序执行的规则。">
            <a:extLst>
              <a:ext uri="{FF2B5EF4-FFF2-40B4-BE49-F238E27FC236}">
                <ns2:creationId id="{A75AFA7A-671D-4CE2-9AD1-265FDAB3AC4B}"/>
              </a:ext>
            </a:extLst>
          </p:cNvPr>
          <p:cNvSpPr>
            <a:spLocks noGrp="1"/>
          </p:cNvSpPr>
          <p:nvPr/>
        </p:nvSpPr>
        <p:spPr>
          <a:xfrm>
            <a:off x="4619625" y="400050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7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说明程序执行的规则。</a:t>
            </a:r>
          </a:p>
        </p:txBody>
      </p:sp>
      <p:sp>
        <p:nvSpPr>
          <p:cNvPr id="15" name="">
            <a:extLst>
              <a:ext uri="{FF2B5EF4-FFF2-40B4-BE49-F238E27FC236}">
                <ns2:creationId id="{0FA32E66-F3FC-43CA-B372-D4EA00218142}"/>
              </a:ext>
            </a:extLst>
          </p:cNvPr>
          <p:cNvSpPr>
            <a:spLocks noGrp="1"/>
          </p:cNvSpPr>
          <p:nvPr/>
        </p:nvSpPr>
        <p:spPr>
          <a:xfrm>
            <a:off x="8229600" y="2752725"/>
            <a:ext cx="3352800" cy="1847850"/>
          </a:xfrm>
          <a:prstGeom prst="rect">
            <a:avLst/>
          </a:prstGeom>
          <a:solidFill>
            <a:srgbClr val="EFF5F9"/>
          </a:solidFill>
          <a:ln w="0">
            <a:noFill/>
          </a:ln>
        </p:spPr>
      </p:sp>
      <p:sp>
        <p:nvSpPr>
          <p:cNvPr id="16" name="信息还不够">
            <a:extLst>
              <a:ext uri="{FF2B5EF4-FFF2-40B4-BE49-F238E27FC236}">
                <ns2:creationId id="{E351F826-00E9-4552-A2A8-37DA96505AC6}"/>
              </a:ext>
            </a:extLst>
          </p:cNvPr>
          <p:cNvSpPr>
            <a:spLocks noGrp="1"/>
          </p:cNvSpPr>
          <p:nvPr/>
        </p:nvSpPr>
        <p:spPr>
          <a:xfrm>
            <a:off x="8429625" y="3048000"/>
            <a:ext cx="2952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信息还不够</a:t>
            </a:r>
          </a:p>
        </p:txBody>
      </p:sp>
      <p:sp>
        <p:nvSpPr>
          <p:cNvPr id="17" name="说出还需了解的信息。">
            <a:extLst>
              <a:ext uri="{FF2B5EF4-FFF2-40B4-BE49-F238E27FC236}">
                <ns2:creationId id="{F39A4611-58F0-4F35-AA6E-68E3D2D55767}"/>
              </a:ext>
            </a:extLst>
          </p:cNvPr>
          <p:cNvSpPr>
            <a:spLocks noGrp="1"/>
          </p:cNvSpPr>
          <p:nvPr/>
        </p:nvSpPr>
        <p:spPr>
          <a:xfrm>
            <a:off x="8429625" y="400050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7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说出还需了解的信息。</a:t>
            </a:r>
          </a:p>
        </p:txBody>
      </p:sp>
      <p:sp>
        <p:nvSpPr>
          <p:cNvPr id="18" name="有分歧时，回到卡片中的具体说明。">
            <a:extLst>
              <a:ext uri="{FF2B5EF4-FFF2-40B4-BE49-F238E27FC236}">
                <ns2:creationId id="{6D2BBCA8-10A1-417B-B70F-2920173A096E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有分歧时，回到卡片中的具体说明。</a:t>
            </a:r>
          </a:p>
        </p:txBody>
      </p:sp>
      <p:sp>
        <p:nvSpPr>
          <p:cNvPr id="19" name="">
            <a:extLst>
              <a:ext uri="{FF2B5EF4-FFF2-40B4-BE49-F238E27FC236}">
                <ns2:creationId id="{F9B6DB5D-4110-4C36-8E2B-8A68FFCB7155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0" name="编写程序和运行程序，需要分别解释。">
            <a:extLst>
              <a:ext uri="{FF2B5EF4-FFF2-40B4-BE49-F238E27FC236}">
                <ns2:creationId id="{BC45B991-A33E-4E08-950C-9CC94875CA2F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编写程序和运行程序，需要分别解释。</a:t>
            </a:r>
          </a:p>
        </p:txBody>
      </p:sp>
    </p:spTree>
    <p:extLst>
      <p:ext uri="{BB962C8B-B14F-4D97-AF65-F5344CB8AC3E}">
        <p14:creationId val="318135251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6B38EDA6-786D-4D5C-8A2B-F0D38D68764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判断 AI 的使用过程">
            <a:extLst>
              <a:ext uri="{FF2B5EF4-FFF2-40B4-BE49-F238E27FC236}">
                <ns2:creationId id="{8DE741BC-4868-43A6-8AEB-618F9845755B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判断 AI 的使用过程</a:t>
            </a:r>
          </a:p>
        </p:txBody>
      </p:sp>
      <p:sp>
        <p:nvSpPr>
          <p:cNvPr id="3" name="“智能手表”用了AI吗？">
            <a:extLst>
              <a:ext uri="{FF2B5EF4-FFF2-40B4-BE49-F238E27FC236}">
                <ns2:creationId id="{D1690674-E324-430E-ACC3-67139352FB12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“智能手表”用了AI吗？</a:t>
            </a:r>
          </a:p>
        </p:txBody>
      </p:sp>
      <p:sp>
        <p:nvSpPr>
          <p:cNvPr id="4" name="">
            <a:extLst>
              <a:ext uri="{FF2B5EF4-FFF2-40B4-BE49-F238E27FC236}">
                <ns2:creationId id="{4255EFA3-171D-4573-B55C-C944E2CEC0E1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D22B81D2-B7F1-4A96-95FA-2AC577E9B01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15">
            <a:extLst>
              <a:ext uri="{FF2B5EF4-FFF2-40B4-BE49-F238E27FC236}">
                <ns2:creationId id="{45E84023-B88D-48E9-AD83-FE7E66F5F499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7" name="卡片只写了功能：记录运动，并给出建议。">
            <a:extLst>
              <a:ext uri="{FF2B5EF4-FFF2-40B4-BE49-F238E27FC236}">
                <ns2:creationId id="{22E955BD-A55A-4D2B-B073-BDF8EFB2C150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卡片只写了功能：记录运动，并给出建议。</a:t>
            </a:r>
          </a:p>
        </p:txBody>
      </p:sp>
      <p:sp>
        <p:nvSpPr>
          <p:cNvPr id="8" name="">
            <a:extLst>
              <a:ext uri="{FF2B5EF4-FFF2-40B4-BE49-F238E27FC236}">
                <ns2:creationId id="{F88C84D5-D75F-4029-8026-E075F6ABA035}"/>
              </a:ext>
            </a:extLst>
          </p:cNvPr>
          <p:cNvSpPr>
            <a:spLocks noGrp="1"/>
          </p:cNvSpPr>
          <p:nvPr/>
        </p:nvSpPr>
        <p:spPr>
          <a:xfrm>
            <a:off x="6048375" y="2667000"/>
            <a:ext cx="9525" cy="261937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9" name="可能的做法一">
            <a:extLst>
              <a:ext uri="{FF2B5EF4-FFF2-40B4-BE49-F238E27FC236}">
                <ns2:creationId id="{3254B734-F15A-47BD-AE8B-ED9227D5386C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可能的做法一</a:t>
            </a:r>
          </a:p>
        </p:txBody>
      </p:sp>
      <p:sp>
        <p:nvSpPr>
          <p:cNvPr id="10" name="步数达到预设值，&#10;就显示一条固定建议。">
            <a:extLst>
              <a:ext uri="{FF2B5EF4-FFF2-40B4-BE49-F238E27FC236}">
                <ns2:creationId id="{31525E2A-BF82-44FF-B978-01FD2227BB35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50673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步数达到预设值，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就显示一条固定建议。</a:t>
            </a:r>
          </a:p>
        </p:txBody>
      </p:sp>
      <p:sp>
        <p:nvSpPr>
          <p:cNvPr id="11" name="可能的做法二">
            <a:extLst>
              <a:ext uri="{FF2B5EF4-FFF2-40B4-BE49-F238E27FC236}">
                <ns2:creationId id="{713BFDBA-131B-42E1-9681-647784CF70E3}"/>
              </a:ext>
            </a:extLst>
          </p:cNvPr>
          <p:cNvSpPr>
            <a:spLocks noGrp="1"/>
          </p:cNvSpPr>
          <p:nvPr/>
        </p:nvSpPr>
        <p:spPr>
          <a:xfrm>
            <a:off x="6515100" y="2714625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可能的做法二</a:t>
            </a:r>
          </a:p>
        </p:txBody>
      </p:sp>
      <p:sp>
        <p:nvSpPr>
          <p:cNvPr id="12" name="模型从运动记录中学习，&#10;再预测或生成建议。">
            <a:extLst>
              <a:ext uri="{FF2B5EF4-FFF2-40B4-BE49-F238E27FC236}">
                <ns2:creationId id="{85DDB7B6-9F21-4756-A18F-18C5C79235E1}"/>
              </a:ext>
            </a:extLst>
          </p:cNvPr>
          <p:cNvSpPr>
            <a:spLocks noGrp="1"/>
          </p:cNvSpPr>
          <p:nvPr/>
        </p:nvSpPr>
        <p:spPr>
          <a:xfrm>
            <a:off x="6515100" y="3286125"/>
            <a:ext cx="50673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模型从运动记录中学习，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再预测或生成建议。</a:t>
            </a:r>
          </a:p>
        </p:txBody>
      </p:sp>
      <p:sp>
        <p:nvSpPr>
          <p:cNvPr id="13" name="">
            <a:extLst>
              <a:ext uri="{FF2B5EF4-FFF2-40B4-BE49-F238E27FC236}">
                <ns2:creationId id="{9E9241DC-BE68-40F6-833E-B0FA35A13B69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4" name="还要确认实际做法。名称里的“智能”不能代替说明。">
            <a:extLst>
              <a:ext uri="{FF2B5EF4-FFF2-40B4-BE49-F238E27FC236}">
                <ns2:creationId id="{21C61A39-DBC4-4427-8E10-41E15AC95677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还要确认实际做法。名称里的“智能”不能代替说明。</a:t>
            </a:r>
          </a:p>
        </p:txBody>
      </p:sp>
    </p:spTree>
    <p:extLst>
      <p:ext uri="{BB962C8B-B14F-4D97-AF65-F5344CB8AC3E}">
        <p14:creationId val="1011798365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FBFD04C8-D791-4EC0-9ABB-ECCAE825508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判断 AI 的使用过程">
            <a:extLst>
              <a:ext uri="{FF2B5EF4-FFF2-40B4-BE49-F238E27FC236}">
                <ns2:creationId id="{C88C9F37-61A9-4E1F-9355-6C449B53CEB6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判断 AI 的使用过程</a:t>
            </a:r>
          </a:p>
        </p:txBody>
      </p:sp>
      <p:sp>
        <p:nvSpPr>
          <p:cNvPr id="3" name="写游戏和玩游戏，是两件事">
            <a:extLst>
              <a:ext uri="{FF2B5EF4-FFF2-40B4-BE49-F238E27FC236}">
                <ns2:creationId id="{26C44DAD-22D2-4362-842D-BDBDE6A09592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写游戏和玩游戏，是两件事</a:t>
            </a:r>
          </a:p>
        </p:txBody>
      </p:sp>
      <p:sp>
        <p:nvSpPr>
          <p:cNvPr id="4" name="">
            <a:extLst>
              <a:ext uri="{FF2B5EF4-FFF2-40B4-BE49-F238E27FC236}">
                <ns2:creationId id="{73B42BA6-2406-40E4-B9CD-F99A9428CE68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BE7FD544-509C-402C-9BA0-BDB2BF2E25AC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16">
            <a:extLst>
              <a:ext uri="{FF2B5EF4-FFF2-40B4-BE49-F238E27FC236}">
                <ns2:creationId id="{88A0F2B2-7CF5-4D0C-A429-EC7640134206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7" name="本例游戏的移动、碰撞和计分，都按固定规则运行。">
            <a:extLst>
              <a:ext uri="{FF2B5EF4-FFF2-40B4-BE49-F238E27FC236}">
                <ns2:creationId id="{8D01D4AF-3CCC-4CA7-8C6A-2C108182BF76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本例游戏的移动、碰撞和计分，都按固定规则运行。</a:t>
            </a:r>
          </a:p>
        </p:txBody>
      </p:sp>
      <p:sp>
        <p:nvSpPr>
          <p:cNvPr id="8" name="">
            <a:extLst>
              <a:ext uri="{FF2B5EF4-FFF2-40B4-BE49-F238E27FC236}">
                <ns2:creationId id="{35702289-C945-4703-8205-92586C1759E1}"/>
              </a:ext>
            </a:extLst>
          </p:cNvPr>
          <p:cNvSpPr>
            <a:spLocks noGrp="1"/>
          </p:cNvSpPr>
          <p:nvPr/>
        </p:nvSpPr>
        <p:spPr>
          <a:xfrm>
            <a:off x="6048375" y="2419350"/>
            <a:ext cx="9525" cy="261937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9" name="创作时">
            <a:extLst>
              <a:ext uri="{FF2B5EF4-FFF2-40B4-BE49-F238E27FC236}">
                <ns2:creationId id="{FDDCB6F3-6639-4356-8EA5-4638BBB8ED61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创作时</a:t>
            </a:r>
          </a:p>
        </p:txBody>
      </p:sp>
      <p:sp>
        <p:nvSpPr>
          <p:cNvPr id="10" name="输入：你的要求&#10;处理：AI帮助生成程序&#10;输出：游戏程序">
            <a:extLst>
              <a:ext uri="{FF2B5EF4-FFF2-40B4-BE49-F238E27FC236}">
                <ns2:creationId id="{11976DDD-9C2A-4208-B526-6438038300F1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50673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输入：你的要求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处理：AI帮助生成程序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输出：游戏程序</a:t>
            </a:r>
          </a:p>
        </p:txBody>
      </p:sp>
      <p:sp>
        <p:nvSpPr>
          <p:cNvPr id="11" name="运行时">
            <a:extLst>
              <a:ext uri="{FF2B5EF4-FFF2-40B4-BE49-F238E27FC236}">
                <ns2:creationId id="{B5044FA8-89CB-47ED-8931-41D6D9FC8956}"/>
              </a:ext>
            </a:extLst>
          </p:cNvPr>
          <p:cNvSpPr>
            <a:spLocks noGrp="1"/>
          </p:cNvSpPr>
          <p:nvPr/>
        </p:nvSpPr>
        <p:spPr>
          <a:xfrm>
            <a:off x="6515100" y="2466975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运行时</a:t>
            </a:r>
          </a:p>
        </p:txBody>
      </p:sp>
      <p:sp>
        <p:nvSpPr>
          <p:cNvPr id="12" name="输入：按键和游戏状态&#10;处理：程序执行固定规则&#10;输出：更新后的画面和分数">
            <a:extLst>
              <a:ext uri="{FF2B5EF4-FFF2-40B4-BE49-F238E27FC236}">
                <ns2:creationId id="{B8BE0096-9E1B-4878-9CB3-B5F5FA2D71F6}"/>
              </a:ext>
            </a:extLst>
          </p:cNvPr>
          <p:cNvSpPr>
            <a:spLocks noGrp="1"/>
          </p:cNvSpPr>
          <p:nvPr/>
        </p:nvSpPr>
        <p:spPr>
          <a:xfrm>
            <a:off x="6515100" y="3038475"/>
            <a:ext cx="50673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输入：按键和游戏状态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处理：程序执行固定规则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输出：更新后的画面和分数</a:t>
            </a:r>
          </a:p>
        </p:txBody>
      </p:sp>
      <p:sp>
        <p:nvSpPr>
          <p:cNvPr id="13" name="">
            <a:extLst>
              <a:ext uri="{FF2B5EF4-FFF2-40B4-BE49-F238E27FC236}">
                <ns2:creationId id="{1BCD141E-E5D0-458F-BA8F-C5DDB633765F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4" name="本例创作用了AI；上述运行过程只用固定规则。">
            <a:extLst>
              <a:ext uri="{FF2B5EF4-FFF2-40B4-BE49-F238E27FC236}">
                <ns2:creationId id="{5CE5AC21-AE11-4D85-A058-F88C122D6F20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本例创作用了AI；上述运行过程只用固定规则。</a:t>
            </a:r>
          </a:p>
        </p:txBody>
      </p:sp>
    </p:spTree>
    <p:extLst>
      <p:ext uri="{BB962C8B-B14F-4D97-AF65-F5344CB8AC3E}">
        <p14:creationId val="613805613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C82598C5-3974-464F-BB6E-49866875B7C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人工智能的基本含义">
            <a:extLst>
              <a:ext uri="{FF2B5EF4-FFF2-40B4-BE49-F238E27FC236}">
                <ns2:creationId id="{3896888F-2922-406B-BCFD-AFEAD0D88373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人工智能的基本含义</a:t>
            </a:r>
          </a:p>
        </p:txBody>
      </p:sp>
      <p:sp>
        <p:nvSpPr>
          <p:cNvPr id="3" name="人工智能是什么？">
            <a:extLst>
              <a:ext uri="{FF2B5EF4-FFF2-40B4-BE49-F238E27FC236}">
                <ns2:creationId id="{B054F43A-363C-4629-9503-42A282F9F7AF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人工智能是什么？</a:t>
            </a:r>
          </a:p>
        </p:txBody>
      </p:sp>
      <p:sp>
        <p:nvSpPr>
          <p:cNvPr id="4" name="">
            <a:extLst>
              <a:ext uri="{FF2B5EF4-FFF2-40B4-BE49-F238E27FC236}">
                <ns2:creationId id="{1AA71B4F-8D94-4788-9B4E-6F3CD7929009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01878CDF-B3A5-4CB8-8E07-621127BB5CC7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17">
            <a:extLst>
              <a:ext uri="{FF2B5EF4-FFF2-40B4-BE49-F238E27FC236}">
                <ns2:creationId id="{C8BB823C-A6B9-4070-89B1-7E2F07DC0726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7" name="人工智能让计算机根据输入的信息，">
            <a:extLst>
              <a:ext uri="{FF2B5EF4-FFF2-40B4-BE49-F238E27FC236}">
                <ns2:creationId id="{98E66A71-4758-452E-9B1D-9D1F67FDD863}"/>
              </a:ext>
            </a:extLst>
          </p:cNvPr>
          <p:cNvSpPr>
            <a:spLocks noGrp="1"/>
          </p:cNvSpPr>
          <p:nvPr/>
        </p:nvSpPr>
        <p:spPr>
          <a:xfrm>
            <a:off x="609600" y="231457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0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人工智能让计算机根据输入的信息，</a:t>
            </a:r>
          </a:p>
        </p:txBody>
      </p:sp>
      <p:sp>
        <p:nvSpPr>
          <p:cNvPr id="8" name="完成识别、预测、推理&#10;或生成内容等任务。">
            <a:extLst>
              <a:ext uri="{FF2B5EF4-FFF2-40B4-BE49-F238E27FC236}">
                <ns2:creationId id="{7F2521C0-03DF-4ABF-8024-6070D11D6641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10972800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完成识别、预测、推理</a:t>
            </a:r>
          </a:p>
          <a:p>
            <a:pPr algn="l">
              <a:lnSpc>
                <a:spcPct val="122000"/>
              </a:lnSpc>
              <a:buNone/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或生成内容等任务。</a:t>
            </a:r>
          </a:p>
        </p:txBody>
      </p:sp>
      <p:sp>
        <p:nvSpPr>
          <p:cNvPr id="9" name="识别物品、推荐内容、组织回答、生成程序，&#10;都是刚才见过的例子。">
            <a:extLst>
              <a:ext uri="{FF2B5EF4-FFF2-40B4-BE49-F238E27FC236}">
                <ns2:creationId id="{B00097D8-10EF-4443-AB6A-91EA47C7156F}"/>
              </a:ext>
            </a:extLst>
          </p:cNvPr>
          <p:cNvSpPr>
            <a:spLocks noGrp="1"/>
          </p:cNvSpPr>
          <p:nvPr/>
        </p:nvSpPr>
        <p:spPr>
          <a:xfrm>
            <a:off x="609600" y="5076825"/>
            <a:ext cx="109728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识别物品、推荐内容、组织回答、生成程序，</a:t>
            </a:r>
          </a:p>
          <a:p>
            <a:pPr algn="l">
              <a:lnSpc>
                <a:spcPct val="122000"/>
              </a:lnSpc>
              <a:buNone/>
              <a:defRPr sz="21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都是刚才见过的例子。</a:t>
            </a:r>
          </a:p>
        </p:txBody>
      </p:sp>
      <p:sp>
        <p:nvSpPr>
          <p:cNvPr id="10" name="很多AI从样本中学习，也有AI使用知识和规则推理。">
            <a:extLst>
              <a:ext uri="{FF2B5EF4-FFF2-40B4-BE49-F238E27FC236}">
                <ns2:creationId id="{C16F1DAF-E917-4E55-877B-F8E360EB39FE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72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很多AI从样本中学习，也有AI使用知识和规则推理。</a:t>
            </a:r>
          </a:p>
        </p:txBody>
      </p:sp>
    </p:spTree>
    <p:extLst>
      <p:ext uri="{BB962C8B-B14F-4D97-AF65-F5344CB8AC3E}">
        <p14:creationId val="40965069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">
            <a:extLst>
              <a:ext uri="{FF2B5EF4-FFF2-40B4-BE49-F238E27FC236}">
                <ns2:creationId id="{3A1902DF-40BC-45CC-8C9E-D7DE4532BDB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模型的学习与使用">
            <a:extLst>
              <a:ext uri="{FF2B5EF4-FFF2-40B4-BE49-F238E27FC236}">
                <ns2:creationId id="{57878CA0-184D-4AF0-B34B-1B246AD44BCE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模型的学习与使用</a:t>
            </a:r>
          </a:p>
        </p:txBody>
      </p:sp>
      <p:sp>
        <p:nvSpPr>
          <p:cNvPr id="3" name="为什么让模型从例子中学习？">
            <a:extLst>
              <a:ext uri="{FF2B5EF4-FFF2-40B4-BE49-F238E27FC236}">
                <ns2:creationId id="{C4AF0670-5EE4-4705-AEB1-11490BC20201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为什么让模型从例子中学习？</a:t>
            </a:r>
          </a:p>
        </p:txBody>
      </p:sp>
      <p:sp>
        <p:nvSpPr>
          <p:cNvPr id="4" name="">
            <a:extLst>
              <a:ext uri="{FF2B5EF4-FFF2-40B4-BE49-F238E27FC236}">
                <ns2:creationId id="{D8DAB19B-E92F-41E0-A89B-19A19A28A7D1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9801B9B3-3AD5-447C-A416-D3A7A340CA8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18">
            <a:extLst>
              <a:ext uri="{FF2B5EF4-FFF2-40B4-BE49-F238E27FC236}">
                <ns2:creationId id="{EB0590DF-07CD-4855-99EC-533680CE36E8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7" name="这些数字都表示3，但它们的像素和轮廓不同。">
            <a:extLst>
              <a:ext uri="{FF2B5EF4-FFF2-40B4-BE49-F238E27FC236}">
                <ns2:creationId id="{5A316A09-21D2-4CE9-ACEE-E624C2B9D486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这些数字都表示3，但它们的像素和轮廓不同。</a:t>
            </a:r>
          </a:p>
        </p:txBody>
      </p:sp>
      <p:pic>
        <p:nvPicPr>
          <p:cNvPr id="19" name=""/>
          <p:cNvPicPr>
            <a:picLocks noChangeAspect="1"/>
          </p:cNvPicPr>
          <p:nvPr/>
        </p:nvPicPr>
        <p:blipFill>
          <a:blip r:embed="R37f1209a04084a13"/>
          <a:stretch/>
        </p:blipFill>
        <p:spPr>
          <a:xfrm>
            <a:off x="2508862" y="2457450"/>
            <a:ext cx="7174277" cy="2133600"/>
          </a:xfrm>
          <a:prstGeom prst="rect">
            <a:avLst/>
          </a:prstGeom>
        </p:spPr>
      </p:pic>
      <p:sp>
        <p:nvSpPr>
          <p:cNvPr id="9" name="逐一写出所有外观规则很困难。">
            <a:extLst>
              <a:ext uri="{FF2B5EF4-FFF2-40B4-BE49-F238E27FC236}">
                <ns2:creationId id="{D8039D73-A1AA-4614-9E4C-FD69B5C879CD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109728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逐一写出所有外观规则很困难。</a:t>
            </a:r>
          </a:p>
        </p:txBody>
      </p:sp>
      <p:sp>
        <p:nvSpPr>
          <p:cNvPr id="10" name="">
            <a:extLst>
              <a:ext uri="{FF2B5EF4-FFF2-40B4-BE49-F238E27FC236}">
                <ns2:creationId id="{6737A3CE-EF9D-458E-ABC2-BF08024D6BF3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1" name="另一种办法：提供标好类别的例子，让模型学习。">
            <a:extLst>
              <a:ext uri="{FF2B5EF4-FFF2-40B4-BE49-F238E27FC236}">
                <ns2:creationId id="{7EA161BA-A4C6-407A-A213-5BB670CE3034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另一种办法：提供标好类别的例子，让模型学习。</a:t>
            </a:r>
          </a:p>
        </p:txBody>
      </p:sp>
    </p:spTree>
    <p:extLst>
      <p:ext uri="{BB962C8B-B14F-4D97-AF65-F5344CB8AC3E}">
        <p14:creationId val="764881430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35145D7E-60B0-44DD-A73D-DF5D0A4A244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模型的学习与使用">
            <a:extLst>
              <a:ext uri="{FF2B5EF4-FFF2-40B4-BE49-F238E27FC236}">
                <ns2:creationId id="{F6F08D70-A778-4266-B2E8-862F8D0055A6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模型的学习与使用</a:t>
            </a:r>
          </a:p>
        </p:txBody>
      </p:sp>
      <p:sp>
        <p:nvSpPr>
          <p:cNvPr id="3" name="模型怎样给出预测？">
            <a:extLst>
              <a:ext uri="{FF2B5EF4-FFF2-40B4-BE49-F238E27FC236}">
                <ns2:creationId id="{F855DAE3-A484-4F2F-B100-D2B7EFB473B2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模型怎样给出预测？</a:t>
            </a:r>
          </a:p>
        </p:txBody>
      </p:sp>
      <p:sp>
        <p:nvSpPr>
          <p:cNvPr id="4" name="">
            <a:extLst>
              <a:ext uri="{FF2B5EF4-FFF2-40B4-BE49-F238E27FC236}">
                <ns2:creationId id="{E98EEFDF-972E-4A80-B245-6BCBBB73DF5B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A6364DE7-C71E-4AE6-BCD6-981109CBC7A1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19">
            <a:extLst>
              <a:ext uri="{FF2B5EF4-FFF2-40B4-BE49-F238E27FC236}">
                <ns2:creationId id="{31FC0C52-6DE4-4B84-857B-C4A6760B09C7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7" name="3Blue1Brown科普动画 · 手写数字识别">
            <a:extLst>
              <a:ext uri="{FF2B5EF4-FFF2-40B4-BE49-F238E27FC236}">
                <ns2:creationId id="{B7FFDA96-28BD-4DE9-96DF-4F85F759853F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3Blue1Brown科普动画 · 手写数字识别</a:t>
            </a:r>
          </a:p>
        </p:txBody>
      </p:sp>
      <p:pic>
        <p:nvPicPr>
          <p:cNvPr id="2019" name="模型怎样给出预测？（静态封面）" descr="模型怎样给出预测？的视频封面"/>
          <p:cNvPicPr>
            <a:picLocks noChangeAspect="1"/>
          </p:cNvPicPr>
          <p:nvPr/>
        </p:nvPicPr>
        <p:blipFill>
          <a:blip r:embed="R35b0fa06688e4fe1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pic>
        <p:nvPicPr>
          <p:cNvPr id="23" name="模型怎样给出预测？（内嵌视频）" descr="模型怎样给出预测？，放映时点击播放">
            <a:hlinkClick action="ppaction://media"/>
          </p:cNvPr>
          <p:cNvPicPr>
            <a:picLocks noChangeAspect="1"/>
          </p:cNvPicPr>
          <p:nvPr>
            <a:videoFile r:link="rIdEmbeddedVideo"/>
            <p:extLst>
              <p:ext uri="{DAA4B4D4-6D71-4841-9C94-3DE7FCFB9230}">
                <p14:media r:embed="rIdEmbeddedMedia"/>
              </p:ext>
            </p:extLst>
          </p:nvPr>
        </p:nvPicPr>
        <p:blipFill>
          <a:blip r:embed="R35b0fa06688e4fe1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sp>
        <p:nvSpPr>
          <p:cNvPr id="9" name="输入">
            <a:extLst>
              <a:ext uri="{FF2B5EF4-FFF2-40B4-BE49-F238E27FC236}">
                <ns2:creationId id="{9022EF5F-0557-468D-9907-BBC59806D499}"/>
              </a:ext>
            </a:extLst>
          </p:cNvPr>
          <p:cNvSpPr>
            <a:spLocks noGrp="1"/>
          </p:cNvSpPr>
          <p:nvPr/>
        </p:nvSpPr>
        <p:spPr>
          <a:xfrm>
            <a:off x="8686800" y="22479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10" name="一张新的&#10;手写数字图片。">
            <a:extLst>
              <a:ext uri="{FF2B5EF4-FFF2-40B4-BE49-F238E27FC236}">
                <ns2:creationId id="{04EF9267-F1EF-41B0-ADF5-303789591828}"/>
              </a:ext>
            </a:extLst>
          </p:cNvPr>
          <p:cNvSpPr>
            <a:spLocks noGrp="1"/>
          </p:cNvSpPr>
          <p:nvPr/>
        </p:nvSpPr>
        <p:spPr>
          <a:xfrm>
            <a:off x="8686800" y="26765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一张新的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手写数字图片。</a:t>
            </a:r>
          </a:p>
        </p:txBody>
      </p:sp>
      <p:sp>
        <p:nvSpPr>
          <p:cNvPr id="11" name="观看重点">
            <a:extLst>
              <a:ext uri="{FF2B5EF4-FFF2-40B4-BE49-F238E27FC236}">
                <ns2:creationId id="{9DFD9138-0CD5-4693-97D7-5A6F31219118}"/>
              </a:ext>
            </a:extLst>
          </p:cNvPr>
          <p:cNvSpPr>
            <a:spLocks noGrp="1"/>
          </p:cNvSpPr>
          <p:nvPr/>
        </p:nvSpPr>
        <p:spPr>
          <a:xfrm>
            <a:off x="8686800" y="38100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观看重点</a:t>
            </a:r>
          </a:p>
        </p:txBody>
      </p:sp>
      <p:sp>
        <p:nvSpPr>
          <p:cNvPr id="12" name="图片进入模型后，&#10;输出怎样表示类别？">
            <a:extLst>
              <a:ext uri="{FF2B5EF4-FFF2-40B4-BE49-F238E27FC236}">
                <ns2:creationId id="{FB070A92-FE12-42A1-ACDE-EFA491C1955C}"/>
              </a:ext>
            </a:extLst>
          </p:cNvPr>
          <p:cNvSpPr>
            <a:spLocks noGrp="1"/>
          </p:cNvSpPr>
          <p:nvPr/>
        </p:nvSpPr>
        <p:spPr>
          <a:xfrm>
            <a:off x="8686800" y="42386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图片进入模型后，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输出怎样表示类别？</a:t>
            </a:r>
          </a:p>
        </p:txBody>
      </p:sp>
      <p:sp>
        <p:nvSpPr>
          <p:cNvPr id="13" name="经典原理科普">
            <a:extLst>
              <a:ext uri="{FF2B5EF4-FFF2-40B4-BE49-F238E27FC236}">
                <ns2:creationId id="{D69CC3E1-0F7F-40C6-857F-5A20D90EE38E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经典原理科普</a:t>
            </a:r>
          </a:p>
        </p:txBody>
      </p:sp>
      <p:sp>
        <p:nvSpPr>
          <p:cNvPr id="14" name="点击画面，全屏播放">
            <a:extLst>
              <a:ext uri="{FF2B5EF4-FFF2-40B4-BE49-F238E27FC236}">
                <ns2:creationId id="{74E8BD93-3C93-4F05-8585-3D80A79B29E9}"/>
              </a:ext>
            </a:extLst>
          </p:cNvPr>
          <p:cNvSpPr>
            <a:spLocks noGrp="1"/>
          </p:cNvSpPr>
          <p:nvPr/>
        </p:nvSpPr>
        <p:spPr>
          <a:xfrm>
            <a:off x="8686800" y="56388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点击画面，全屏播放</a:t>
            </a:r>
          </a:p>
        </p:txBody>
      </p:sp>
      <p:sp>
        <p:nvSpPr>
          <p:cNvPr id="15" name="这段动画展示使用模型，不展示训练。">
            <a:extLst>
              <a:ext uri="{FF2B5EF4-FFF2-40B4-BE49-F238E27FC236}">
                <ns2:creationId id="{B86DC977-6F76-42C6-A9D6-1AE24D4EAA18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这段动画展示使用模型，不展示训练。</a:t>
            </a:r>
          </a:p>
        </p:txBody>
      </p:sp>
    </p:spTree>
    <p:extLst>
      <p:ext uri="{BB962C8B-B14F-4D97-AF65-F5344CB8AC3E}">
        <p14:creationId val="1978402483"/>
      </p:ext>
    </p:extLst>
  </p:cSld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4" name="">
            <a:extLst>
              <a:ext uri="{FF2B5EF4-FFF2-40B4-BE49-F238E27FC236}">
                <ns2:creationId id="{D5CD9457-34E6-4C73-B3BA-B494D456AD8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模型的学习与使用">
            <a:extLst>
              <a:ext uri="{FF2B5EF4-FFF2-40B4-BE49-F238E27FC236}">
                <ns2:creationId id="{E4888376-692F-402C-8B07-023938E7B1EC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模型的学习与使用</a:t>
            </a:r>
          </a:p>
        </p:txBody>
      </p:sp>
      <p:sp>
        <p:nvSpPr>
          <p:cNvPr id="3" name="训练：用样本建立模型">
            <a:extLst>
              <a:ext uri="{FF2B5EF4-FFF2-40B4-BE49-F238E27FC236}">
                <ns2:creationId id="{FA087B2E-CB9C-485C-9FE4-1F3C9CAB605E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训练：用样本建立模型</a:t>
            </a:r>
          </a:p>
        </p:txBody>
      </p:sp>
      <p:sp>
        <p:nvSpPr>
          <p:cNvPr id="4" name="">
            <a:extLst>
              <a:ext uri="{FF2B5EF4-FFF2-40B4-BE49-F238E27FC236}">
                <ns2:creationId id="{26FC0FB9-83FC-4FF8-915C-9045336E01B9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F5746D18-4C31-44E0-B35F-CD1C20D4CF0B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20">
            <a:extLst>
              <a:ext uri="{FF2B5EF4-FFF2-40B4-BE49-F238E27FC236}">
                <ns2:creationId id="{E056A92F-F47F-434C-AF55-AE3F4AC88B1B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7" name="课堂分类器的三个类别：笔、橡皮、空背景。">
            <a:extLst>
              <a:ext uri="{FF2B5EF4-FFF2-40B4-BE49-F238E27FC236}">
                <ns2:creationId id="{4A55FA95-6815-44F0-8B67-7B0F55AFB6ED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课堂分类器的三个类别：笔、橡皮、空背景。</a:t>
            </a:r>
          </a:p>
        </p:txBody>
      </p:sp>
      <p:sp>
        <p:nvSpPr>
          <p:cNvPr id="8" name="准备样本">
            <a:extLst>
              <a:ext uri="{FF2B5EF4-FFF2-40B4-BE49-F238E27FC236}">
                <ns2:creationId id="{B2979E68-3AAB-475F-A008-0AC14BBD96AC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准备样本</a:t>
            </a:r>
          </a:p>
        </p:txBody>
      </p:sp>
      <p:sp>
        <p:nvSpPr>
          <p:cNvPr id="9" name="">
            <a:extLst>
              <a:ext uri="{FF2B5EF4-FFF2-40B4-BE49-F238E27FC236}">
                <ns2:creationId id="{9C5421F7-DD08-4376-B99A-F76C94F61EDD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3048000" cy="1057275"/>
          </a:xfrm>
          <a:prstGeom prst="rect">
            <a:avLst/>
          </a:prstGeom>
          <a:solidFill>
            <a:srgbClr val="EFF5F9"/>
          </a:solidFill>
          <a:ln w="0">
            <a:noFill/>
          </a:ln>
        </p:spPr>
      </p:sp>
      <p:sp>
        <p:nvSpPr>
          <p:cNvPr id="10" name="标好类别的图片">
            <a:extLst>
              <a:ext uri="{FF2B5EF4-FFF2-40B4-BE49-F238E27FC236}">
                <ns2:creationId id="{90F622CA-6218-45CA-BA9A-8D98180CE084}"/>
              </a:ext>
            </a:extLst>
          </p:cNvPr>
          <p:cNvSpPr>
            <a:spLocks noGrp="1"/>
          </p:cNvSpPr>
          <p:nvPr/>
        </p:nvSpPr>
        <p:spPr>
          <a:xfrm>
            <a:off x="781050" y="3343275"/>
            <a:ext cx="2705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标好类别的图片</a:t>
            </a:r>
          </a:p>
        </p:txBody>
      </p:sp>
      <p:sp>
        <p:nvSpPr>
          <p:cNvPr id="11" name="同类物品拍不同角度">
            <a:extLst>
              <a:ext uri="{FF2B5EF4-FFF2-40B4-BE49-F238E27FC236}">
                <ns2:creationId id="{33952926-C027-41A5-A640-2495D000B746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同类物品拍不同角度</a:t>
            </a:r>
          </a:p>
        </p:txBody>
      </p:sp>
      <p:sp>
        <p:nvSpPr>
          <p:cNvPr id="12" name="">
            <a:extLst>
              <a:ext uri="{FF2B5EF4-FFF2-40B4-BE49-F238E27FC236}">
                <ns2:creationId id="{5D7CA3A1-7383-4C57-9A46-11A0F306546B}"/>
              </a:ext>
            </a:extLst>
          </p:cNvPr>
          <p:cNvSpPr>
            <a:spLocks noGrp="1"/>
          </p:cNvSpPr>
          <p:nvPr/>
        </p:nvSpPr>
        <p:spPr>
          <a:xfrm>
            <a:off x="3905250" y="3495675"/>
            <a:ext cx="419100" cy="228600"/>
          </a:xfrm>
          <a:prstGeom prst="rightArrow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3" name="训练">
            <a:extLst>
              <a:ext uri="{FF2B5EF4-FFF2-40B4-BE49-F238E27FC236}">
                <ns2:creationId id="{CFB61CD4-6785-4595-B69E-D3B0339898FF}"/>
              </a:ext>
            </a:extLst>
          </p:cNvPr>
          <p:cNvSpPr>
            <a:spLocks noGrp="1"/>
          </p:cNvSpPr>
          <p:nvPr/>
        </p:nvSpPr>
        <p:spPr>
          <a:xfrm>
            <a:off x="4572000" y="25527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训练</a:t>
            </a:r>
          </a:p>
        </p:txBody>
      </p:sp>
      <p:sp>
        <p:nvSpPr>
          <p:cNvPr id="14" name="">
            <a:extLst>
              <a:ext uri="{FF2B5EF4-FFF2-40B4-BE49-F238E27FC236}">
                <ns2:creationId id="{D92CD576-F96B-462E-9621-D770D8D7C970}"/>
              </a:ext>
            </a:extLst>
          </p:cNvPr>
          <p:cNvSpPr>
            <a:spLocks noGrp="1"/>
          </p:cNvSpPr>
          <p:nvPr/>
        </p:nvSpPr>
        <p:spPr>
          <a:xfrm>
            <a:off x="4572000" y="3095625"/>
            <a:ext cx="3048000" cy="1057275"/>
          </a:xfrm>
          <a:prstGeom prst="rect">
            <a:avLst/>
          </a:prstGeom>
          <a:solidFill>
            <a:srgbClr val="FFF6E2"/>
          </a:solidFill>
          <a:ln w="0">
            <a:noFill/>
          </a:ln>
        </p:spPr>
      </p:sp>
      <p:sp>
        <p:nvSpPr>
          <p:cNvPr id="15" name="学习与调整">
            <a:extLst>
              <a:ext uri="{FF2B5EF4-FFF2-40B4-BE49-F238E27FC236}">
                <ns2:creationId id="{DC3DA7EE-AAF1-4DAF-8D9A-5DC18055809E}"/>
              </a:ext>
            </a:extLst>
          </p:cNvPr>
          <p:cNvSpPr>
            <a:spLocks noGrp="1"/>
          </p:cNvSpPr>
          <p:nvPr/>
        </p:nvSpPr>
        <p:spPr>
          <a:xfrm>
            <a:off x="4743450" y="3343275"/>
            <a:ext cx="2705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学习与调整</a:t>
            </a:r>
          </a:p>
        </p:txBody>
      </p:sp>
      <p:sp>
        <p:nvSpPr>
          <p:cNvPr id="16" name="利用样本建立分类部分">
            <a:extLst>
              <a:ext uri="{FF2B5EF4-FFF2-40B4-BE49-F238E27FC236}">
                <ns2:creationId id="{F454BF34-0ABA-45AC-AA77-5F3EAE9DE56A}"/>
              </a:ext>
            </a:extLst>
          </p:cNvPr>
          <p:cNvSpPr>
            <a:spLocks noGrp="1"/>
          </p:cNvSpPr>
          <p:nvPr/>
        </p:nvSpPr>
        <p:spPr>
          <a:xfrm>
            <a:off x="4572000" y="4400550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利用样本建立分类部分</a:t>
            </a:r>
          </a:p>
        </p:txBody>
      </p:sp>
      <p:sp>
        <p:nvSpPr>
          <p:cNvPr id="17" name="">
            <a:extLst>
              <a:ext uri="{FF2B5EF4-FFF2-40B4-BE49-F238E27FC236}">
                <ns2:creationId id="{54E3061B-4678-4D21-97FF-F4921487A7B6}"/>
              </a:ext>
            </a:extLst>
          </p:cNvPr>
          <p:cNvSpPr>
            <a:spLocks noGrp="1"/>
          </p:cNvSpPr>
          <p:nvPr/>
        </p:nvSpPr>
        <p:spPr>
          <a:xfrm>
            <a:off x="7867650" y="3495675"/>
            <a:ext cx="419100" cy="228600"/>
          </a:xfrm>
          <a:prstGeom prst="rightArrow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8" name="保存">
            <a:extLst>
              <a:ext uri="{FF2B5EF4-FFF2-40B4-BE49-F238E27FC236}">
                <ns2:creationId id="{C22B2418-404B-4937-88C9-F2BFE99BCD51}"/>
              </a:ext>
            </a:extLst>
          </p:cNvPr>
          <p:cNvSpPr>
            <a:spLocks noGrp="1"/>
          </p:cNvSpPr>
          <p:nvPr/>
        </p:nvSpPr>
        <p:spPr>
          <a:xfrm>
            <a:off x="8534400" y="25527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保存</a:t>
            </a:r>
          </a:p>
        </p:txBody>
      </p:sp>
      <p:sp>
        <p:nvSpPr>
          <p:cNvPr id="19" name="">
            <a:extLst>
              <a:ext uri="{FF2B5EF4-FFF2-40B4-BE49-F238E27FC236}">
                <ns2:creationId id="{EC02D4E3-51D3-4801-9A71-25C97AC0A618}"/>
              </a:ext>
            </a:extLst>
          </p:cNvPr>
          <p:cNvSpPr>
            <a:spLocks noGrp="1"/>
          </p:cNvSpPr>
          <p:nvPr/>
        </p:nvSpPr>
        <p:spPr>
          <a:xfrm>
            <a:off x="8534400" y="3095625"/>
            <a:ext cx="3048000" cy="1057275"/>
          </a:xfrm>
          <a:prstGeom prst="rect">
            <a:avLst/>
          </a:prstGeom>
          <a:solidFill>
            <a:srgbClr val="EFF5F9"/>
          </a:solidFill>
          <a:ln w="0">
            <a:noFill/>
          </a:ln>
        </p:spPr>
      </p:sp>
      <p:sp>
        <p:nvSpPr>
          <p:cNvPr id="20" name="分类模型">
            <a:extLst>
              <a:ext uri="{FF2B5EF4-FFF2-40B4-BE49-F238E27FC236}">
                <ns2:creationId id="{F56131A7-1AB8-41BD-92DF-36CB14042423}"/>
              </a:ext>
            </a:extLst>
          </p:cNvPr>
          <p:cNvSpPr>
            <a:spLocks noGrp="1"/>
          </p:cNvSpPr>
          <p:nvPr/>
        </p:nvSpPr>
        <p:spPr>
          <a:xfrm>
            <a:off x="8705850" y="3343275"/>
            <a:ext cx="2705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分类模型</a:t>
            </a:r>
          </a:p>
        </p:txBody>
      </p:sp>
      <p:sp>
        <p:nvSpPr>
          <p:cNvPr id="21" name="保留样本和当前模型">
            <a:extLst>
              <a:ext uri="{FF2B5EF4-FFF2-40B4-BE49-F238E27FC236}">
                <ns2:creationId id="{9BF55E61-B419-4C9F-8D1D-8B4CA2AEC49C}"/>
              </a:ext>
            </a:extLst>
          </p:cNvPr>
          <p:cNvSpPr>
            <a:spLocks noGrp="1"/>
          </p:cNvSpPr>
          <p:nvPr/>
        </p:nvSpPr>
        <p:spPr>
          <a:xfrm>
            <a:off x="8534400" y="4400550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保留样本和当前模型</a:t>
            </a:r>
          </a:p>
        </p:txBody>
      </p:sp>
      <p:sp>
        <p:nvSpPr>
          <p:cNvPr id="22" name="">
            <a:extLst>
              <a:ext uri="{FF2B5EF4-FFF2-40B4-BE49-F238E27FC236}">
                <ns2:creationId id="{C7D49C16-89AA-4D1B-B38E-BC8A47ACD766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3" name="样本覆盖的情况，会影响模型之后的预测。">
            <a:extLst>
              <a:ext uri="{FF2B5EF4-FFF2-40B4-BE49-F238E27FC236}">
                <ns2:creationId id="{90384CC3-DD6C-4A8D-BDEF-2BD04F83B419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样本覆盖的情况，会影响模型之后的预测。</a:t>
            </a:r>
          </a:p>
        </p:txBody>
      </p:sp>
    </p:spTree>
    <p:extLst>
      <p:ext uri="{BB962C8B-B14F-4D97-AF65-F5344CB8AC3E}">
        <p14:creationId val="985509061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4" name="">
            <a:extLst>
              <a:ext uri="{FF2B5EF4-FFF2-40B4-BE49-F238E27FC236}">
                <ns2:creationId id="{245DF4D6-9AAE-4771-8279-8FE389C938A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模型的学习与使用">
            <a:extLst>
              <a:ext uri="{FF2B5EF4-FFF2-40B4-BE49-F238E27FC236}">
                <ns2:creationId id="{D8FE6A84-2732-419B-A610-CE0E7EF4EDCF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模型的学习与使用</a:t>
            </a:r>
          </a:p>
        </p:txBody>
      </p:sp>
      <p:sp>
        <p:nvSpPr>
          <p:cNvPr id="3" name="预测：处理一张新图片">
            <a:extLst>
              <a:ext uri="{FF2B5EF4-FFF2-40B4-BE49-F238E27FC236}">
                <ns2:creationId id="{42B1ED44-3719-4B25-88FD-840D3714528A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预测：处理一张新图片</a:t>
            </a:r>
          </a:p>
        </p:txBody>
      </p:sp>
      <p:sp>
        <p:nvSpPr>
          <p:cNvPr id="4" name="">
            <a:extLst>
              <a:ext uri="{FF2B5EF4-FFF2-40B4-BE49-F238E27FC236}">
                <ns2:creationId id="{65A3718B-5C5E-44C8-B8BD-B4045B7252B9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FF622AF2-1A74-4845-95C5-3A0E49A97DD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21">
            <a:extLst>
              <a:ext uri="{FF2B5EF4-FFF2-40B4-BE49-F238E27FC236}">
                <ns2:creationId id="{D4EE476C-2C1E-4914-AD14-F83047221792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sp>
        <p:nvSpPr>
          <p:cNvPr id="7" name="模型给出预测后，还要与实际物品核对。">
            <a:extLst>
              <a:ext uri="{FF2B5EF4-FFF2-40B4-BE49-F238E27FC236}">
                <ns2:creationId id="{A92D18CC-C019-45B7-96D4-EB8F624FEACD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模型给出预测后，还要与实际物品核对。</a:t>
            </a:r>
          </a:p>
        </p:txBody>
      </p:sp>
      <p:sp>
        <p:nvSpPr>
          <p:cNvPr id="8" name="输入">
            <a:extLst>
              <a:ext uri="{FF2B5EF4-FFF2-40B4-BE49-F238E27FC236}">
                <ns2:creationId id="{E203B86B-2193-4D60-8989-DF1BCE6A8DAB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9" name="">
            <a:extLst>
              <a:ext uri="{FF2B5EF4-FFF2-40B4-BE49-F238E27FC236}">
                <ns2:creationId id="{B3640438-ADF1-4188-AA29-0E1BA504918F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3048000" cy="1057275"/>
          </a:xfrm>
          <a:prstGeom prst="rect">
            <a:avLst/>
          </a:prstGeom>
          <a:solidFill>
            <a:srgbClr val="EFF5F9"/>
          </a:solidFill>
          <a:ln w="0">
            <a:noFill/>
          </a:ln>
        </p:spPr>
      </p:sp>
      <p:sp>
        <p:nvSpPr>
          <p:cNvPr id="10" name="摄像头的新图片">
            <a:extLst>
              <a:ext uri="{FF2B5EF4-FFF2-40B4-BE49-F238E27FC236}">
                <ns2:creationId id="{08D7E1EC-0860-449E-8475-9064D61F93C1}"/>
              </a:ext>
            </a:extLst>
          </p:cNvPr>
          <p:cNvSpPr>
            <a:spLocks noGrp="1"/>
          </p:cNvSpPr>
          <p:nvPr/>
        </p:nvSpPr>
        <p:spPr>
          <a:xfrm>
            <a:off x="781050" y="3343275"/>
            <a:ext cx="2705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摄像头的新图片</a:t>
            </a:r>
          </a:p>
        </p:txBody>
      </p:sp>
      <p:sp>
        <p:nvSpPr>
          <p:cNvPr id="11" name="这一次提供的信息">
            <a:extLst>
              <a:ext uri="{FF2B5EF4-FFF2-40B4-BE49-F238E27FC236}">
                <ns2:creationId id="{87FB8469-65D8-4D7E-84F1-2CC872F6D68E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这一次提供的信息</a:t>
            </a:r>
          </a:p>
        </p:txBody>
      </p:sp>
      <p:sp>
        <p:nvSpPr>
          <p:cNvPr id="12" name="">
            <a:extLst>
              <a:ext uri="{FF2B5EF4-FFF2-40B4-BE49-F238E27FC236}">
                <ns2:creationId id="{170C77A5-799A-4EBA-9740-381092EF74AD}"/>
              </a:ext>
            </a:extLst>
          </p:cNvPr>
          <p:cNvSpPr>
            <a:spLocks noGrp="1"/>
          </p:cNvSpPr>
          <p:nvPr/>
        </p:nvSpPr>
        <p:spPr>
          <a:xfrm>
            <a:off x="3905250" y="3495675"/>
            <a:ext cx="419100" cy="228600"/>
          </a:xfrm>
          <a:prstGeom prst="rightArrow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3" name="处理">
            <a:extLst>
              <a:ext uri="{FF2B5EF4-FFF2-40B4-BE49-F238E27FC236}">
                <ns2:creationId id="{FB26DAFF-DBDB-47E5-9D0D-95803D7CDB37}"/>
              </a:ext>
            </a:extLst>
          </p:cNvPr>
          <p:cNvSpPr>
            <a:spLocks noGrp="1"/>
          </p:cNvSpPr>
          <p:nvPr/>
        </p:nvSpPr>
        <p:spPr>
          <a:xfrm>
            <a:off x="4572000" y="25527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处理</a:t>
            </a:r>
          </a:p>
        </p:txBody>
      </p:sp>
      <p:sp>
        <p:nvSpPr>
          <p:cNvPr id="14" name="">
            <a:extLst>
              <a:ext uri="{FF2B5EF4-FFF2-40B4-BE49-F238E27FC236}">
                <ns2:creationId id="{3B5E52E8-96B0-4AD3-9528-A531DB8697C9}"/>
              </a:ext>
            </a:extLst>
          </p:cNvPr>
          <p:cNvSpPr>
            <a:spLocks noGrp="1"/>
          </p:cNvSpPr>
          <p:nvPr/>
        </p:nvSpPr>
        <p:spPr>
          <a:xfrm>
            <a:off x="4572000" y="3095625"/>
            <a:ext cx="3048000" cy="1057275"/>
          </a:xfrm>
          <a:prstGeom prst="rect">
            <a:avLst/>
          </a:prstGeom>
          <a:solidFill>
            <a:srgbClr val="FFF6E2"/>
          </a:solidFill>
          <a:ln w="0">
            <a:noFill/>
          </a:ln>
        </p:spPr>
      </p:sp>
      <p:sp>
        <p:nvSpPr>
          <p:cNvPr id="15" name="已有分类模型">
            <a:extLst>
              <a:ext uri="{FF2B5EF4-FFF2-40B4-BE49-F238E27FC236}">
                <ns2:creationId id="{91498469-3038-497B-8884-F2F6010FFEEE}"/>
              </a:ext>
            </a:extLst>
          </p:cNvPr>
          <p:cNvSpPr>
            <a:spLocks noGrp="1"/>
          </p:cNvSpPr>
          <p:nvPr/>
        </p:nvSpPr>
        <p:spPr>
          <a:xfrm>
            <a:off x="4743450" y="3343275"/>
            <a:ext cx="2705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已有分类模型</a:t>
            </a:r>
          </a:p>
        </p:txBody>
      </p:sp>
      <p:sp>
        <p:nvSpPr>
          <p:cNvPr id="16" name="按当前模型进行计算">
            <a:extLst>
              <a:ext uri="{FF2B5EF4-FFF2-40B4-BE49-F238E27FC236}">
                <ns2:creationId id="{3D725B1C-934E-41EE-99AD-46AE0523DD35}"/>
              </a:ext>
            </a:extLst>
          </p:cNvPr>
          <p:cNvSpPr>
            <a:spLocks noGrp="1"/>
          </p:cNvSpPr>
          <p:nvPr/>
        </p:nvSpPr>
        <p:spPr>
          <a:xfrm>
            <a:off x="4572000" y="4400550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按当前模型进行计算</a:t>
            </a:r>
          </a:p>
        </p:txBody>
      </p:sp>
      <p:sp>
        <p:nvSpPr>
          <p:cNvPr id="17" name="">
            <a:extLst>
              <a:ext uri="{FF2B5EF4-FFF2-40B4-BE49-F238E27FC236}">
                <ns2:creationId id="{BC8CA102-AF53-48E5-BA99-5D5F31D400C1}"/>
              </a:ext>
            </a:extLst>
          </p:cNvPr>
          <p:cNvSpPr>
            <a:spLocks noGrp="1"/>
          </p:cNvSpPr>
          <p:nvPr/>
        </p:nvSpPr>
        <p:spPr>
          <a:xfrm>
            <a:off x="7867650" y="3495675"/>
            <a:ext cx="419100" cy="228600"/>
          </a:xfrm>
          <a:prstGeom prst="rightArrow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8" name="输出">
            <a:extLst>
              <a:ext uri="{FF2B5EF4-FFF2-40B4-BE49-F238E27FC236}">
                <ns2:creationId id="{CF571392-A5BB-4927-BFF9-037DC54991D8}"/>
              </a:ext>
            </a:extLst>
          </p:cNvPr>
          <p:cNvSpPr>
            <a:spLocks noGrp="1"/>
          </p:cNvSpPr>
          <p:nvPr/>
        </p:nvSpPr>
        <p:spPr>
          <a:xfrm>
            <a:off x="8534400" y="25527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输出</a:t>
            </a:r>
          </a:p>
        </p:txBody>
      </p:sp>
      <p:sp>
        <p:nvSpPr>
          <p:cNvPr id="19" name="">
            <a:extLst>
              <a:ext uri="{FF2B5EF4-FFF2-40B4-BE49-F238E27FC236}">
                <ns2:creationId id="{39805842-5F44-46E5-9775-CADC35FDD166}"/>
              </a:ext>
            </a:extLst>
          </p:cNvPr>
          <p:cNvSpPr>
            <a:spLocks noGrp="1"/>
          </p:cNvSpPr>
          <p:nvPr/>
        </p:nvSpPr>
        <p:spPr>
          <a:xfrm>
            <a:off x="8534400" y="3095625"/>
            <a:ext cx="3048000" cy="1057275"/>
          </a:xfrm>
          <a:prstGeom prst="rect">
            <a:avLst/>
          </a:prstGeom>
          <a:solidFill>
            <a:srgbClr val="EFF5F9"/>
          </a:solidFill>
          <a:ln w="0">
            <a:noFill/>
          </a:ln>
        </p:spPr>
      </p:sp>
      <p:sp>
        <p:nvSpPr>
          <p:cNvPr id="20" name="预测类别">
            <a:extLst>
              <a:ext uri="{FF2B5EF4-FFF2-40B4-BE49-F238E27FC236}">
                <ns2:creationId id="{662E28B6-E086-42FE-8A17-1F3BBCFC20E4}"/>
              </a:ext>
            </a:extLst>
          </p:cNvPr>
          <p:cNvSpPr>
            <a:spLocks noGrp="1"/>
          </p:cNvSpPr>
          <p:nvPr/>
        </p:nvSpPr>
        <p:spPr>
          <a:xfrm>
            <a:off x="8705850" y="3343275"/>
            <a:ext cx="2705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预测类别</a:t>
            </a:r>
          </a:p>
        </p:txBody>
      </p:sp>
      <p:sp>
        <p:nvSpPr>
          <p:cNvPr id="21" name="与实际类别核对">
            <a:extLst>
              <a:ext uri="{FF2B5EF4-FFF2-40B4-BE49-F238E27FC236}">
                <ns2:creationId id="{84E3D15A-0F28-4938-B8A8-8261844785D3}"/>
              </a:ext>
            </a:extLst>
          </p:cNvPr>
          <p:cNvSpPr>
            <a:spLocks noGrp="1"/>
          </p:cNvSpPr>
          <p:nvPr/>
        </p:nvSpPr>
        <p:spPr>
          <a:xfrm>
            <a:off x="8534400" y="4400550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与实际类别核对</a:t>
            </a:r>
          </a:p>
        </p:txBody>
      </p:sp>
      <p:sp>
        <p:nvSpPr>
          <p:cNvPr id="22" name="">
            <a:extLst>
              <a:ext uri="{FF2B5EF4-FFF2-40B4-BE49-F238E27FC236}">
                <ns2:creationId id="{83F22E7C-67F3-4190-A700-BFE356C1D8AE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3" name="普通预测通常不更新模型；补样本后，需要再训练。">
            <a:extLst>
              <a:ext uri="{FF2B5EF4-FFF2-40B4-BE49-F238E27FC236}">
                <ns2:creationId id="{C3C9E92A-331C-4E35-8928-49B1928F849A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普通预测通常不更新模型；补样本后，需要再训练。</a:t>
            </a:r>
          </a:p>
        </p:txBody>
      </p:sp>
    </p:spTree>
    <p:extLst>
      <p:ext uri="{BB962C8B-B14F-4D97-AF65-F5344CB8AC3E}">
        <p14:creationId val="2124966242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">
            <a:extLst>
              <a:ext uri="{FF2B5EF4-FFF2-40B4-BE49-F238E27FC236}">
                <ns2:creationId id="{386EBDE2-C74D-425C-965B-FEE9D0038CA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模型的学习与使用">
            <a:extLst>
              <a:ext uri="{FF2B5EF4-FFF2-40B4-BE49-F238E27FC236}">
                <ns2:creationId id="{FED270B2-7402-437C-88C2-5F153C0CD367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模型的学习与使用</a:t>
            </a:r>
          </a:p>
        </p:txBody>
      </p:sp>
      <p:sp>
        <p:nvSpPr>
          <p:cNvPr id="3" name="语言模型怎样生成回答？">
            <a:extLst>
              <a:ext uri="{FF2B5EF4-FFF2-40B4-BE49-F238E27FC236}">
                <ns2:creationId id="{664BDBF5-1FFA-47D6-AC39-15FFF09450B1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语言模型怎样生成回答？</a:t>
            </a:r>
          </a:p>
        </p:txBody>
      </p:sp>
      <p:sp>
        <p:nvSpPr>
          <p:cNvPr id="4" name="">
            <a:extLst>
              <a:ext uri="{FF2B5EF4-FFF2-40B4-BE49-F238E27FC236}">
                <ns2:creationId id="{EFBA0B47-4244-42A1-845F-D18CEE1941A4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9C99B42E-910B-485D-8D4E-E7AD4A2D7D6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22">
            <a:extLst>
              <a:ext uri="{FF2B5EF4-FFF2-40B4-BE49-F238E27FC236}">
                <ns2:creationId id="{809D89AE-2526-45A8-AADB-90E16793F3DA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sp>
        <p:nvSpPr>
          <p:cNvPr id="7" name="训练阶段">
            <a:extLst>
              <a:ext uri="{FF2B5EF4-FFF2-40B4-BE49-F238E27FC236}">
                <ns2:creationId id="{BAADC179-1965-4175-9641-CC29D51A8334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4286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训练阶段</a:t>
            </a:r>
          </a:p>
        </p:txBody>
      </p:sp>
      <p:sp>
        <p:nvSpPr>
          <p:cNvPr id="8" name="从大量内容中学习&#10;语言及其他规律。">
            <a:extLst>
              <a:ext uri="{FF2B5EF4-FFF2-40B4-BE49-F238E27FC236}">
                <ns2:creationId id="{2596C8E4-F14E-4DBC-ADA9-664B0774DD75}"/>
              </a:ext>
            </a:extLst>
          </p:cNvPr>
          <p:cNvSpPr>
            <a:spLocks noGrp="1"/>
          </p:cNvSpPr>
          <p:nvPr/>
        </p:nvSpPr>
        <p:spPr>
          <a:xfrm>
            <a:off x="609600" y="2771775"/>
            <a:ext cx="42862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从大量内容中学习</a:t>
            </a:r>
          </a:p>
          <a:p>
            <a:pPr algn="l">
              <a:lnSpc>
                <a:spcPct val="122000"/>
              </a:lnSpc>
              <a:buNone/>
              <a:def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语言及其他规律。</a:t>
            </a:r>
          </a:p>
        </p:txBody>
      </p:sp>
      <p:sp>
        <p:nvSpPr>
          <p:cNvPr id="9" name="学到的规律会参与&#10;每一次回答的生成。">
            <a:extLst>
              <a:ext uri="{FF2B5EF4-FFF2-40B4-BE49-F238E27FC236}">
                <ns2:creationId id="{9495E344-C3CA-4674-8DD1-0B3E8D45A01A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428625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学到的规律会参与</a:t>
            </a: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每一次回答的生成。</a:t>
            </a:r>
          </a:p>
        </p:txBody>
      </p:sp>
      <p:sp>
        <p:nvSpPr>
          <p:cNvPr id="10" name="">
            <a:extLst>
              <a:ext uri="{FF2B5EF4-FFF2-40B4-BE49-F238E27FC236}">
                <ns2:creationId id="{70492EFE-0F04-42D9-976A-57B2CCC68C5D}"/>
              </a:ext>
            </a:extLst>
          </p:cNvPr>
          <p:cNvSpPr>
            <a:spLocks noGrp="1"/>
          </p:cNvSpPr>
          <p:nvPr/>
        </p:nvSpPr>
        <p:spPr>
          <a:xfrm>
            <a:off x="5410200" y="2314575"/>
            <a:ext cx="9525" cy="2990850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1" name="这一次交流">
            <a:extLst>
              <a:ext uri="{FF2B5EF4-FFF2-40B4-BE49-F238E27FC236}">
                <ns2:creationId id="{76CAB545-EEE7-4935-8464-F4240E1555A5}"/>
              </a:ext>
            </a:extLst>
          </p:cNvPr>
          <p:cNvSpPr>
            <a:spLocks noGrp="1"/>
          </p:cNvSpPr>
          <p:nvPr/>
        </p:nvSpPr>
        <p:spPr>
          <a:xfrm>
            <a:off x="5981700" y="2276475"/>
            <a:ext cx="5600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这一次交流</a:t>
            </a:r>
          </a:p>
        </p:txBody>
      </p:sp>
      <p:sp>
        <p:nvSpPr>
          <p:cNvPr id="12" name="输入社团资料和要求：&#10;“向新同学介绍活动。”">
            <a:extLst>
              <a:ext uri="{FF2B5EF4-FFF2-40B4-BE49-F238E27FC236}">
                <ns2:creationId id="{8BA5BA84-DFB4-4855-8DBF-FFBFF6DF5F5F}"/>
              </a:ext>
            </a:extLst>
          </p:cNvPr>
          <p:cNvSpPr>
            <a:spLocks noGrp="1"/>
          </p:cNvSpPr>
          <p:nvPr/>
        </p:nvSpPr>
        <p:spPr>
          <a:xfrm>
            <a:off x="5981700" y="2781300"/>
            <a:ext cx="56007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输入社团资料和要求：</a:t>
            </a:r>
          </a:p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“向新同学介绍活动。”</a:t>
            </a:r>
          </a:p>
        </p:txBody>
      </p:sp>
      <p:sp>
        <p:nvSpPr>
          <p:cNvPr id="13" name="↓">
            <a:extLst>
              <a:ext uri="{FF2B5EF4-FFF2-40B4-BE49-F238E27FC236}">
                <ns2:creationId id="{A588F33D-AA6C-470F-8EA9-9C017E922FA3}"/>
              </a:ext>
            </a:extLst>
          </p:cNvPr>
          <p:cNvSpPr>
            <a:spLocks noGrp="1"/>
          </p:cNvSpPr>
          <p:nvPr/>
        </p:nvSpPr>
        <p:spPr>
          <a:xfrm>
            <a:off x="5981700" y="3933825"/>
            <a:ext cx="5600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5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↓</a:t>
            </a:r>
          </a:p>
        </p:txBody>
      </p:sp>
      <p:sp>
        <p:nvSpPr>
          <p:cNvPr id="14" name="结合当前上下文，逐步生成回答。">
            <a:extLst>
              <a:ext uri="{FF2B5EF4-FFF2-40B4-BE49-F238E27FC236}">
                <ns2:creationId id="{4D646278-F7A3-4AE2-BC7D-12446F9F14D7}"/>
              </a:ext>
            </a:extLst>
          </p:cNvPr>
          <p:cNvSpPr>
            <a:spLocks noGrp="1"/>
          </p:cNvSpPr>
          <p:nvPr/>
        </p:nvSpPr>
        <p:spPr>
          <a:xfrm>
            <a:off x="5981700" y="4581525"/>
            <a:ext cx="56007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结合当前上下文，逐步生成回答。</a:t>
            </a:r>
          </a:p>
        </p:txBody>
      </p:sp>
      <p:sp>
        <p:nvSpPr>
          <p:cNvPr id="15" name="">
            <a:extLst>
              <a:ext uri="{FF2B5EF4-FFF2-40B4-BE49-F238E27FC236}">
                <ns2:creationId id="{ADCC0479-A945-4A0F-85D9-93B2E0825373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6" name="补充资料会影响本次回答，不等于重新训练模型。">
            <a:extLst>
              <a:ext uri="{FF2B5EF4-FFF2-40B4-BE49-F238E27FC236}">
                <ns2:creationId id="{10533F83-BA9B-4833-AC97-944E7647A644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补充资料会影响本次回答，不等于重新训练模型。</a:t>
            </a:r>
          </a:p>
        </p:txBody>
      </p:sp>
    </p:spTree>
    <p:extLst>
      <p:ext uri="{BB962C8B-B14F-4D97-AF65-F5344CB8AC3E}">
        <p14:creationId val="378564260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4" name="">
            <a:extLst>
              <a:ext uri="{FF2B5EF4-FFF2-40B4-BE49-F238E27FC236}">
                <ns2:creationId id="{F413EBF1-47D6-498D-8FB0-66A2F7C7DF0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模型与程序的分工">
            <a:extLst>
              <a:ext uri="{FF2B5EF4-FFF2-40B4-BE49-F238E27FC236}">
                <ns2:creationId id="{1E70869B-7044-48A9-89C7-3BFC4BB2D052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模型与程序的分工</a:t>
            </a:r>
          </a:p>
        </p:txBody>
      </p:sp>
      <p:sp>
        <p:nvSpPr>
          <p:cNvPr id="3" name="模型、程序和设备各做什么？">
            <a:extLst>
              <a:ext uri="{FF2B5EF4-FFF2-40B4-BE49-F238E27FC236}">
                <ns2:creationId id="{65FADFF7-F2F7-440D-8F60-C493858E2706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模型、程序和设备各做什么？</a:t>
            </a:r>
          </a:p>
        </p:txBody>
      </p:sp>
      <p:sp>
        <p:nvSpPr>
          <p:cNvPr id="4" name="">
            <a:extLst>
              <a:ext uri="{FF2B5EF4-FFF2-40B4-BE49-F238E27FC236}">
                <ns2:creationId id="{605C160C-DE2B-4CB8-BA17-8475EE11ABE6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1EC3D396-6F90-4BF1-9B21-7D03EB60A08B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23">
            <a:extLst>
              <a:ext uri="{FF2B5EF4-FFF2-40B4-BE49-F238E27FC236}">
                <ns2:creationId id="{17592C57-7F6D-4745-8E73-909E1D0BFF74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23</a:t>
            </a:r>
          </a:p>
        </p:txBody>
      </p:sp>
      <p:sp>
        <p:nvSpPr>
          <p:cNvPr id="7" name="用物品识别提示器，看看各部分怎样配合。">
            <a:extLst>
              <a:ext uri="{FF2B5EF4-FFF2-40B4-BE49-F238E27FC236}">
                <ns2:creationId id="{E6F4F6B4-E85B-4E83-A98B-E47EA790DD21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用物品识别提示器，看看各部分怎样配合。</a:t>
            </a:r>
          </a:p>
        </p:txBody>
      </p:sp>
      <p:sp>
        <p:nvSpPr>
          <p:cNvPr id="8" name="设备提供输入">
            <a:extLst>
              <a:ext uri="{FF2B5EF4-FFF2-40B4-BE49-F238E27FC236}">
                <ns2:creationId id="{FFC2C968-F556-4CB9-B4AC-D9283343F9F2}"/>
              </a:ext>
            </a:extLst>
          </p:cNvPr>
          <p:cNvSpPr>
            <a:spLocks noGrp="1"/>
          </p:cNvSpPr>
          <p:nvPr/>
        </p:nvSpPr>
        <p:spPr>
          <a:xfrm>
            <a:off x="609600" y="2543175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设备提供输入</a:t>
            </a:r>
          </a:p>
        </p:txBody>
      </p:sp>
      <p:sp>
        <p:nvSpPr>
          <p:cNvPr id="9" name="">
            <a:extLst>
              <a:ext uri="{FF2B5EF4-FFF2-40B4-BE49-F238E27FC236}">
                <ns2:creationId id="{8F74CDCE-28B2-4BE7-BE84-8A27D764FAED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3048000" cy="1057275"/>
          </a:xfrm>
          <a:prstGeom prst="rect">
            <a:avLst/>
          </a:prstGeom>
          <a:solidFill>
            <a:srgbClr val="EFF5F9"/>
          </a:solidFill>
          <a:ln w="0">
            <a:noFill/>
          </a:ln>
        </p:spPr>
      </p:sp>
      <p:sp>
        <p:nvSpPr>
          <p:cNvPr id="10" name="摄像头">
            <a:extLst>
              <a:ext uri="{FF2B5EF4-FFF2-40B4-BE49-F238E27FC236}">
                <ns2:creationId id="{B34FA932-456D-417C-97B5-04B05135842D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705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摄像头</a:t>
            </a:r>
          </a:p>
        </p:txBody>
      </p:sp>
      <p:sp>
        <p:nvSpPr>
          <p:cNvPr id="11" name="拍摄物品图片">
            <a:extLst>
              <a:ext uri="{FF2B5EF4-FFF2-40B4-BE49-F238E27FC236}">
                <ns2:creationId id="{2501E273-11B3-42AD-ADB1-2C2DD7FFD2A2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拍摄物品图片</a:t>
            </a:r>
          </a:p>
        </p:txBody>
      </p:sp>
      <p:sp>
        <p:nvSpPr>
          <p:cNvPr id="12" name="">
            <a:extLst>
              <a:ext uri="{FF2B5EF4-FFF2-40B4-BE49-F238E27FC236}">
                <ns2:creationId id="{2FB0D93C-BBF2-47FE-BB4C-4C1B1B71AC68}"/>
              </a:ext>
            </a:extLst>
          </p:cNvPr>
          <p:cNvSpPr>
            <a:spLocks noGrp="1"/>
          </p:cNvSpPr>
          <p:nvPr/>
        </p:nvSpPr>
        <p:spPr>
          <a:xfrm>
            <a:off x="3905250" y="3486150"/>
            <a:ext cx="419100" cy="228600"/>
          </a:xfrm>
          <a:prstGeom prst="rightArrow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3" name="模型处理图片">
            <a:extLst>
              <a:ext uri="{FF2B5EF4-FFF2-40B4-BE49-F238E27FC236}">
                <ns2:creationId id="{598AEA25-95CA-4201-88FE-1A7834C544E2}"/>
              </a:ext>
            </a:extLst>
          </p:cNvPr>
          <p:cNvSpPr>
            <a:spLocks noGrp="1"/>
          </p:cNvSpPr>
          <p:nvPr/>
        </p:nvSpPr>
        <p:spPr>
          <a:xfrm>
            <a:off x="4572000" y="2543175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模型处理图片</a:t>
            </a:r>
          </a:p>
        </p:txBody>
      </p:sp>
      <p:sp>
        <p:nvSpPr>
          <p:cNvPr id="14" name="">
            <a:extLst>
              <a:ext uri="{FF2B5EF4-FFF2-40B4-BE49-F238E27FC236}">
                <ns2:creationId id="{B33EB554-8048-4CB8-AEB3-79F222341E70}"/>
              </a:ext>
            </a:extLst>
          </p:cNvPr>
          <p:cNvSpPr>
            <a:spLocks noGrp="1"/>
          </p:cNvSpPr>
          <p:nvPr/>
        </p:nvSpPr>
        <p:spPr>
          <a:xfrm>
            <a:off x="4572000" y="3086100"/>
            <a:ext cx="3048000" cy="1057275"/>
          </a:xfrm>
          <a:prstGeom prst="rect">
            <a:avLst/>
          </a:prstGeom>
          <a:solidFill>
            <a:srgbClr val="FFF6E2"/>
          </a:solidFill>
          <a:ln w="0">
            <a:noFill/>
          </a:ln>
        </p:spPr>
      </p:sp>
      <p:sp>
        <p:nvSpPr>
          <p:cNvPr id="15" name="分类模型">
            <a:extLst>
              <a:ext uri="{FF2B5EF4-FFF2-40B4-BE49-F238E27FC236}">
                <ns2:creationId id="{7F477716-4A8F-4B0F-9544-C25679D299ED}"/>
              </a:ext>
            </a:extLst>
          </p:cNvPr>
          <p:cNvSpPr>
            <a:spLocks noGrp="1"/>
          </p:cNvSpPr>
          <p:nvPr/>
        </p:nvSpPr>
        <p:spPr>
          <a:xfrm>
            <a:off x="4743450" y="3333750"/>
            <a:ext cx="2705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分类模型</a:t>
            </a:r>
          </a:p>
        </p:txBody>
      </p:sp>
      <p:sp>
        <p:nvSpPr>
          <p:cNvPr id="16" name="预测物品类别">
            <a:extLst>
              <a:ext uri="{FF2B5EF4-FFF2-40B4-BE49-F238E27FC236}">
                <ns2:creationId id="{C5D6D4C1-7228-415E-815D-36E3C1A928B4}"/>
              </a:ext>
            </a:extLst>
          </p:cNvPr>
          <p:cNvSpPr>
            <a:spLocks noGrp="1"/>
          </p:cNvSpPr>
          <p:nvPr/>
        </p:nvSpPr>
        <p:spPr>
          <a:xfrm>
            <a:off x="4572000" y="4391025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预测物品类别</a:t>
            </a:r>
          </a:p>
        </p:txBody>
      </p:sp>
      <p:sp>
        <p:nvSpPr>
          <p:cNvPr id="17" name="">
            <a:extLst>
              <a:ext uri="{FF2B5EF4-FFF2-40B4-BE49-F238E27FC236}">
                <ns2:creationId id="{D4AD27F4-B9D7-4899-80F9-18DCB99E3292}"/>
              </a:ext>
            </a:extLst>
          </p:cNvPr>
          <p:cNvSpPr>
            <a:spLocks noGrp="1"/>
          </p:cNvSpPr>
          <p:nvPr/>
        </p:nvSpPr>
        <p:spPr>
          <a:xfrm>
            <a:off x="7867650" y="3486150"/>
            <a:ext cx="419100" cy="228600"/>
          </a:xfrm>
          <a:prstGeom prst="rightArrow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8" name="程序控制显示">
            <a:extLst>
              <a:ext uri="{FF2B5EF4-FFF2-40B4-BE49-F238E27FC236}">
                <ns2:creationId id="{AE590330-5163-4D91-B8D7-0D56C3AC0DFF}"/>
              </a:ext>
            </a:extLst>
          </p:cNvPr>
          <p:cNvSpPr>
            <a:spLocks noGrp="1"/>
          </p:cNvSpPr>
          <p:nvPr/>
        </p:nvSpPr>
        <p:spPr>
          <a:xfrm>
            <a:off x="8534400" y="2543175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程序控制显示</a:t>
            </a:r>
          </a:p>
        </p:txBody>
      </p:sp>
      <p:sp>
        <p:nvSpPr>
          <p:cNvPr id="19" name="">
            <a:extLst>
              <a:ext uri="{FF2B5EF4-FFF2-40B4-BE49-F238E27FC236}">
                <ns2:creationId id="{8745CDD5-856D-4301-ACC2-40C56991B2C8}"/>
              </a:ext>
            </a:extLst>
          </p:cNvPr>
          <p:cNvSpPr>
            <a:spLocks noGrp="1"/>
          </p:cNvSpPr>
          <p:nvPr/>
        </p:nvSpPr>
        <p:spPr>
          <a:xfrm>
            <a:off x="8534400" y="3086100"/>
            <a:ext cx="3048000" cy="1057275"/>
          </a:xfrm>
          <a:prstGeom prst="rect">
            <a:avLst/>
          </a:prstGeom>
          <a:solidFill>
            <a:srgbClr val="EFF5F9"/>
          </a:solidFill>
          <a:ln w="0">
            <a:noFill/>
          </a:ln>
        </p:spPr>
      </p:sp>
      <p:sp>
        <p:nvSpPr>
          <p:cNvPr id="20" name="micro:bit灯阵">
            <a:extLst>
              <a:ext uri="{FF2B5EF4-FFF2-40B4-BE49-F238E27FC236}">
                <ns2:creationId id="{5AE67392-EC46-4F0D-BCEA-AA994ACF46DC}"/>
              </a:ext>
            </a:extLst>
          </p:cNvPr>
          <p:cNvSpPr>
            <a:spLocks noGrp="1"/>
          </p:cNvSpPr>
          <p:nvPr/>
        </p:nvSpPr>
        <p:spPr>
          <a:xfrm>
            <a:off x="8705850" y="3333750"/>
            <a:ext cx="2705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micro:bit灯阵</a:t>
            </a:r>
          </a:p>
        </p:txBody>
      </p:sp>
      <p:sp>
        <p:nvSpPr>
          <p:cNvPr id="21" name="显示对应的图案">
            <a:extLst>
              <a:ext uri="{FF2B5EF4-FFF2-40B4-BE49-F238E27FC236}">
                <ns2:creationId id="{35A0E54C-6885-4098-8392-D4EFE62C937D}"/>
              </a:ext>
            </a:extLst>
          </p:cNvPr>
          <p:cNvSpPr>
            <a:spLocks noGrp="1"/>
          </p:cNvSpPr>
          <p:nvPr/>
        </p:nvSpPr>
        <p:spPr>
          <a:xfrm>
            <a:off x="8534400" y="4391025"/>
            <a:ext cx="304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显示对应的图案</a:t>
            </a:r>
          </a:p>
        </p:txBody>
      </p:sp>
      <p:sp>
        <p:nvSpPr>
          <p:cNvPr id="22" name="">
            <a:extLst>
              <a:ext uri="{FF2B5EF4-FFF2-40B4-BE49-F238E27FC236}">
                <ns2:creationId id="{B6B431D2-9282-4506-9E6F-6290DE5EB920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3" name="讲解助手也有分工：程序找资料，模型组织回答。">
            <a:extLst>
              <a:ext uri="{FF2B5EF4-FFF2-40B4-BE49-F238E27FC236}">
                <ns2:creationId id="{AFCD994C-6967-47E3-A7ED-A14AA3AFCFD1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讲解助手也有分工：程序找资料，模型组织回答。</a:t>
            </a:r>
          </a:p>
        </p:txBody>
      </p:sp>
    </p:spTree>
    <p:extLst>
      <p:ext uri="{BB962C8B-B14F-4D97-AF65-F5344CB8AC3E}">
        <p14:creationId val="1417176183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05">
            <a:extLst>
              <a:ext uri="{FF2B5EF4-FFF2-40B4-BE49-F238E27FC236}">
                <ns2:creationId id="{8C3FDB7B-0217-4B9C-8E50-09C905684938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4476750" cy="2057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2" name="分钟">
            <a:extLst>
              <a:ext uri="{FF2B5EF4-FFF2-40B4-BE49-F238E27FC236}">
                <ns2:creationId id="{79FE1783-AF7F-46A6-B2A3-347FDA644595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3810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7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分钟</a:t>
            </a:r>
          </a:p>
        </p:txBody>
      </p:sp>
      <p:sp>
        <p:nvSpPr>
          <p:cNvPr id="3" name="休息一下">
            <a:extLst>
              <a:ext uri="{FF2B5EF4-FFF2-40B4-BE49-F238E27FC236}">
                <ns2:creationId id="{D99086B6-EC35-4E1E-90B8-33A4384BBEF1}"/>
              </a:ext>
            </a:extLst>
          </p:cNvPr>
          <p:cNvSpPr>
            <a:spLocks noGrp="1"/>
          </p:cNvSpPr>
          <p:nvPr/>
        </p:nvSpPr>
        <p:spPr>
          <a:xfrm>
            <a:off x="5867400" y="2009775"/>
            <a:ext cx="5715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4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休息一下</a:t>
            </a:r>
          </a:p>
        </p:txBody>
      </p:sp>
      <p:sp>
        <p:nvSpPr>
          <p:cNvPr id="4" name="稍后测试：&#10;同一支笔只换背景，&#10;分类器的预测会不会改变？">
            <a:extLst>
              <a:ext uri="{FF2B5EF4-FFF2-40B4-BE49-F238E27FC236}">
                <ns2:creationId id="{3438C831-270D-40DB-9621-39874B83CF87}"/>
              </a:ext>
            </a:extLst>
          </p:cNvPr>
          <p:cNvSpPr>
            <a:spLocks noGrp="1"/>
          </p:cNvSpPr>
          <p:nvPr/>
        </p:nvSpPr>
        <p:spPr>
          <a:xfrm>
            <a:off x="5867400" y="3495675"/>
            <a:ext cx="5715000" cy="1819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稍后测试：</a:t>
            </a:r>
          </a:p>
          <a:p>
            <a:pPr algn="l">
              <a:lnSpc>
                <a:spcPct val="122000"/>
              </a:lnSpc>
              <a:buNone/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同一支笔只换背景，</a:t>
            </a:r>
          </a:p>
          <a:p>
            <a:pPr algn="l">
              <a:lnSpc>
                <a:spcPct val="122000"/>
              </a:lnSpc>
              <a:buNone/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分类器的预测会不会改变？</a:t>
            </a:r>
          </a:p>
        </p:txBody>
      </p:sp>
      <p:sp>
        <p:nvSpPr>
          <p:cNvPr id="5" name="">
            <a:extLst>
              <a:ext uri="{FF2B5EF4-FFF2-40B4-BE49-F238E27FC236}">
                <ns2:creationId id="{A992B0D2-5B7B-42C0-8E51-1823D404C386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6" name="先保留你的猜想。">
            <a:extLst>
              <a:ext uri="{FF2B5EF4-FFF2-40B4-BE49-F238E27FC236}">
                <ns2:creationId id="{F1D178BC-1998-4EF2-9588-3C5E9D9F2FE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先保留你的猜想。</a:t>
            </a:r>
          </a:p>
        </p:txBody>
      </p:sp>
    </p:spTree>
    <p:extLst>
      <p:ext uri="{BB962C8B-B14F-4D97-AF65-F5344CB8AC3E}">
        <p14:creationId val="333166242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8FD0D9B0-6553-4FEE-9E92-506F742BABC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分类器测试">
            <a:extLst>
              <a:ext uri="{FF2B5EF4-FFF2-40B4-BE49-F238E27FC236}">
                <ns2:creationId id="{BCC8805A-64C9-4242-9DC4-2FAE2E96CA36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分类器测试</a:t>
            </a:r>
          </a:p>
        </p:txBody>
      </p:sp>
      <p:sp>
        <p:nvSpPr>
          <p:cNvPr id="3" name="换个背景，结果会变吗？">
            <a:extLst>
              <a:ext uri="{FF2B5EF4-FFF2-40B4-BE49-F238E27FC236}">
                <ns2:creationId id="{9E36DC3D-94C9-4F8E-98B4-9F3AD1CA352F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换个背景，结果会变吗？</a:t>
            </a:r>
          </a:p>
        </p:txBody>
      </p:sp>
      <p:sp>
        <p:nvSpPr>
          <p:cNvPr id="4" name="">
            <a:extLst>
              <a:ext uri="{FF2B5EF4-FFF2-40B4-BE49-F238E27FC236}">
                <ns2:creationId id="{16CAA9AD-BBDE-40DE-92D5-B10CE7C35CB6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16C2949C-8D90-40B1-9A9F-F96B40EB7D7B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25">
            <a:extLst>
              <a:ext uri="{FF2B5EF4-FFF2-40B4-BE49-F238E27FC236}">
                <ns2:creationId id="{5CEE22B2-C844-4407-B539-A34749E20565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25</a:t>
            </a:r>
          </a:p>
        </p:txBody>
      </p:sp>
      <p:sp>
        <p:nvSpPr>
          <p:cNvPr id="7" name="同一支笔，保持角度、距离和光照相同，只换背景。">
            <a:extLst>
              <a:ext uri="{FF2B5EF4-FFF2-40B4-BE49-F238E27FC236}">
                <ns2:creationId id="{6B44E367-FBAC-45EA-A21A-463E3F47D9C0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同一支笔，保持角度、距离和光照相同，只换背景。</a:t>
            </a:r>
          </a:p>
        </p:txBody>
      </p:sp>
      <p:sp>
        <p:nvSpPr>
          <p:cNvPr id="8" name="">
            <a:extLst>
              <a:ext uri="{FF2B5EF4-FFF2-40B4-BE49-F238E27FC236}">
                <ns2:creationId id="{E2B5FC2C-CFA3-464A-B5FD-320873F2CE88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5067300" cy="1724025"/>
          </a:xfrm>
          <a:prstGeom prst="rect">
            <a:avLst/>
          </a:prstGeom>
          <a:solidFill>
            <a:srgbClr val="EFF5F9"/>
          </a:solidFill>
          <a:ln w="0">
            <a:noFill/>
          </a:ln>
        </p:spPr>
      </p:sp>
      <p:sp>
        <p:nvSpPr>
          <p:cNvPr id="9" name="">
            <a:extLst>
              <a:ext uri="{FF2B5EF4-FFF2-40B4-BE49-F238E27FC236}">
                <ns2:creationId id="{E06C5CDB-8F0B-4C91-8FF5-FF4EBD8E82FB}"/>
              </a:ext>
            </a:extLst>
          </p:cNvPr>
          <p:cNvSpPr>
            <a:spLocks noGrp="1"/>
          </p:cNvSpPr>
          <p:nvPr/>
        </p:nvSpPr>
        <p:spPr>
          <a:xfrm>
            <a:off x="6515100" y="2524125"/>
            <a:ext cx="5067300" cy="1724025"/>
          </a:xfrm>
          <a:prstGeom prst="rect">
            <a:avLst/>
          </a:prstGeom>
          <a:solidFill>
            <a:srgbClr val="172F42"/>
          </a:solidFill>
          <a:ln w="0">
            <a:noFill/>
          </a:ln>
        </p:spPr>
      </p:sp>
      <p:pic>
        <p:nvPicPr>
          <p:cNvPr id="27" name=""/>
          <p:cNvPicPr>
            <a:picLocks noChangeAspect="1"/>
          </p:cNvPicPr>
          <p:nvPr/>
        </p:nvPicPr>
        <p:blipFill>
          <a:blip r:embed="R1eb5e9cc732c4ece"/>
          <a:stretch/>
        </p:blipFill>
        <p:spPr>
          <a:xfrm>
            <a:off x="985838" y="2657475"/>
            <a:ext cx="4314825" cy="1438275"/>
          </a:xfrm>
          <a:prstGeom prst="rect">
            <a:avLst/>
          </a:prstGeom>
        </p:spPr>
      </p:pic>
      <p:pic>
        <p:nvPicPr>
          <p:cNvPr id="28" name=""/>
          <p:cNvPicPr>
            <a:picLocks noChangeAspect="1"/>
          </p:cNvPicPr>
          <p:nvPr/>
        </p:nvPicPr>
        <p:blipFill>
          <a:blip r:embed="R61920f50b49a4081"/>
          <a:stretch/>
        </p:blipFill>
        <p:spPr>
          <a:xfrm>
            <a:off x="6891338" y="2657475"/>
            <a:ext cx="4314825" cy="1438275"/>
          </a:xfrm>
          <a:prstGeom prst="rect">
            <a:avLst/>
          </a:prstGeom>
        </p:spPr>
      </p:pic>
      <p:sp>
        <p:nvSpPr>
          <p:cNvPr id="12" name="浅色背景">
            <a:extLst>
              <a:ext uri="{FF2B5EF4-FFF2-40B4-BE49-F238E27FC236}">
                <ns2:creationId id="{32C942C3-EFD8-4284-9B1E-C561EB5C9068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浅色背景</a:t>
            </a:r>
          </a:p>
        </p:txBody>
      </p:sp>
      <p:sp>
        <p:nvSpPr>
          <p:cNvPr id="13" name="深色背景">
            <a:extLst>
              <a:ext uri="{FF2B5EF4-FFF2-40B4-BE49-F238E27FC236}">
                <ns2:creationId id="{743FBEF8-C2D9-4E14-A2A8-287E88A0CE64}"/>
              </a:ext>
            </a:extLst>
          </p:cNvPr>
          <p:cNvSpPr>
            <a:spLocks noGrp="1"/>
          </p:cNvSpPr>
          <p:nvPr/>
        </p:nvSpPr>
        <p:spPr>
          <a:xfrm>
            <a:off x="6515100" y="4400550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深色背景</a:t>
            </a:r>
          </a:p>
        </p:txBody>
      </p:sp>
      <p:sp>
        <p:nvSpPr>
          <p:cNvPr id="14" name="先说预测 → 改变背景 → 查看结果并记录">
            <a:extLst>
              <a:ext uri="{FF2B5EF4-FFF2-40B4-BE49-F238E27FC236}">
                <ns2:creationId id="{5E8ACCD3-FD88-46C4-A76D-620DBE2C8B5F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先说预测 → 改变背景 → 查看结果并记录</a:t>
            </a:r>
          </a:p>
        </p:txBody>
      </p:sp>
      <p:sp>
        <p:nvSpPr>
          <p:cNvPr id="15" name="">
            <a:extLst>
              <a:ext uri="{FF2B5EF4-FFF2-40B4-BE49-F238E27FC236}">
                <ns2:creationId id="{8F01CDC2-469C-4350-B33C-70117026DE0B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6" name="每个人都操作一次。镜头只拍物品和背景。">
            <a:extLst>
              <a:ext uri="{FF2B5EF4-FFF2-40B4-BE49-F238E27FC236}">
                <ns2:creationId id="{1A82F2EC-90A6-41D0-8A77-A6A972488BE2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每个人都操作一次。镜头只拍物品和背景。</a:t>
            </a:r>
          </a:p>
        </p:txBody>
      </p:sp>
      <p:sp>
        <p:nvSpPr>
          <p:cNvPr id="17" name="物品示意图">
            <a:extLst>
              <a:ext uri="{FF2B5EF4-FFF2-40B4-BE49-F238E27FC236}">
                <ns2:creationId id="{E65A9147-B9CE-4752-A271-14BDBBEB87CE}"/>
              </a:ext>
            </a:extLst>
          </p:cNvPr>
          <p:cNvSpPr>
            <a:spLocks noGrp="1"/>
          </p:cNvSpPr>
          <p:nvPr/>
        </p:nvSpPr>
        <p:spPr>
          <a:xfrm>
            <a:off x="10010775" y="6172200"/>
            <a:ext cx="15716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物品示意图</a:t>
            </a:r>
          </a:p>
        </p:txBody>
      </p:sp>
    </p:spTree>
    <p:extLst>
      <p:ext uri="{BB962C8B-B14F-4D97-AF65-F5344CB8AC3E}">
        <p14:creationId val="199224984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F24E0ADA-63C0-42E9-B3CA-40223419933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分类器测试">
            <a:extLst>
              <a:ext uri="{FF2B5EF4-FFF2-40B4-BE49-F238E27FC236}">
                <ns2:creationId id="{A23FAA6A-4DDC-46AF-9858-6283169AF6DA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分类器测试</a:t>
            </a:r>
          </a:p>
        </p:txBody>
      </p:sp>
      <p:sp>
        <p:nvSpPr>
          <p:cNvPr id="3" name="记录两次实际测试">
            <a:extLst>
              <a:ext uri="{FF2B5EF4-FFF2-40B4-BE49-F238E27FC236}">
                <ns2:creationId id="{370CA63C-4155-4B15-93DE-E168642AE61F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记录两次实际测试</a:t>
            </a:r>
          </a:p>
        </p:txBody>
      </p:sp>
      <p:sp>
        <p:nvSpPr>
          <p:cNvPr id="4" name="">
            <a:extLst>
              <a:ext uri="{FF2B5EF4-FFF2-40B4-BE49-F238E27FC236}">
                <ns2:creationId id="{938D5EE8-E77F-491D-B945-CC21FE9974AA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6F27112C-A617-47D8-AD5B-522B2A76CA7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26">
            <a:extLst>
              <a:ext uri="{FF2B5EF4-FFF2-40B4-BE49-F238E27FC236}">
                <ns2:creationId id="{8A6F7BEB-377A-42AC-B6C0-09E67DE5149B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26</a:t>
            </a:r>
          </a:p>
        </p:txBody>
      </p:sp>
      <p:sp>
        <p:nvSpPr>
          <p:cNvPr id="7" name="无论预测是否正确，都写下实际结果。">
            <a:extLst>
              <a:ext uri="{FF2B5EF4-FFF2-40B4-BE49-F238E27FC236}">
                <ns2:creationId id="{192AC652-16CC-4D35-9BE7-6CABE6FA78CF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无论预测是否正确，都写下实际结果。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="609600" y="2543175"/>
          <a:ext cx="10972800" cy="2743200"/>
        </p:xfrm>
        <a:graphic>
          <a:graphicData uri="http://schemas.openxmlformats.org/drawingml/2006/table">
            <a:tbl>
              <a:tblPr firstRow="1" bandRow="0"/>
              <a:tblGrid>
                <a:gridCol w="2743200"/>
                <a:gridCol w="2743200"/>
                <a:gridCol w="2743200"/>
                <a:gridCol w="2743200"/>
              </a:tblGrid>
              <a:tr h="609600">
                <a:tc>
                  <a:txBody>
                    <a:bodyPr lIns="171450" tIns="161925" rIns="171450" bIns="952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22F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改变的条件</a:t>
                      </a:r>
                    </a:p>
                  </a:txBody>
                  <a:tcPr marL="171450" marR="171450" marT="133350" marB="95250">
                    <a:lnL w="9525">
                      <a:solidFill>
                        <a:srgbClr val="CBD7E0"/>
                      </a:solidFill>
                      <a:prstDash val="solid"/>
                    </a:lnL>
                    <a:lnR w="9525">
                      <a:solidFill>
                        <a:srgbClr val="CBD7E0"/>
                      </a:solidFill>
                      <a:prstDash val="solid"/>
                    </a:lnR>
                    <a:lnT w="9525">
                      <a:solidFill>
                        <a:srgbClr val="CBD7E0"/>
                      </a:solidFill>
                      <a:prstDash val="solid"/>
                    </a:lnT>
                    <a:lnB w="9525">
                      <a:solidFill>
                        <a:srgbClr val="CBD7E0"/>
                      </a:solidFill>
                      <a:prstDash val="solid"/>
                    </a:lnB>
                    <a:solidFill>
                      <a:srgbClr val="EFF5F9"/>
                    </a:solidFill>
                  </a:tcPr>
                </a:tc>
                <a:tc>
                  <a:txBody>
                    <a:bodyPr lIns="171450" tIns="161925" rIns="171450" bIns="952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22F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原先预测</a:t>
                      </a:r>
                    </a:p>
                  </a:txBody>
                  <a:tcPr marL="171450" marR="171450" marT="133350" marB="95250">
                    <a:lnL w="9525">
                      <a:solidFill>
                        <a:srgbClr val="CBD7E0"/>
                      </a:solidFill>
                      <a:prstDash val="solid"/>
                    </a:lnL>
                    <a:lnR w="9525">
                      <a:solidFill>
                        <a:srgbClr val="CBD7E0"/>
                      </a:solidFill>
                      <a:prstDash val="solid"/>
                    </a:lnR>
                    <a:lnT w="9525">
                      <a:solidFill>
                        <a:srgbClr val="CBD7E0"/>
                      </a:solidFill>
                      <a:prstDash val="solid"/>
                    </a:lnT>
                    <a:lnB w="9525">
                      <a:solidFill>
                        <a:srgbClr val="CBD7E0"/>
                      </a:solidFill>
                      <a:prstDash val="solid"/>
                    </a:lnB>
                    <a:solidFill>
                      <a:srgbClr val="EFF5F9"/>
                    </a:solidFill>
                  </a:tcPr>
                </a:tc>
                <a:tc>
                  <a:txBody>
                    <a:bodyPr lIns="171450" tIns="161925" rIns="171450" bIns="952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22F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实际结果</a:t>
                      </a:r>
                    </a:p>
                  </a:txBody>
                  <a:tcPr marL="171450" marR="171450" marT="133350" marB="95250">
                    <a:lnL w="9525">
                      <a:solidFill>
                        <a:srgbClr val="CBD7E0"/>
                      </a:solidFill>
                      <a:prstDash val="solid"/>
                    </a:lnL>
                    <a:lnR w="9525">
                      <a:solidFill>
                        <a:srgbClr val="CBD7E0"/>
                      </a:solidFill>
                      <a:prstDash val="solid"/>
                    </a:lnR>
                    <a:lnT w="9525">
                      <a:solidFill>
                        <a:srgbClr val="CBD7E0"/>
                      </a:solidFill>
                      <a:prstDash val="solid"/>
                    </a:lnT>
                    <a:lnB w="9525">
                      <a:solidFill>
                        <a:srgbClr val="CBD7E0"/>
                      </a:solidFill>
                      <a:prstDash val="solid"/>
                    </a:lnB>
                    <a:solidFill>
                      <a:srgbClr val="EFF5F9"/>
                    </a:solidFill>
                  </a:tcPr>
                </a:tc>
                <a:tc>
                  <a:txBody>
                    <a:bodyPr lIns="171450" tIns="161925" rIns="171450" bIns="952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22F4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发现或疑问</a:t>
                      </a:r>
                    </a:p>
                  </a:txBody>
                  <a:tcPr marL="171450" marR="171450" marT="133350" marB="95250">
                    <a:lnL w="9525">
                      <a:solidFill>
                        <a:srgbClr val="CBD7E0"/>
                      </a:solidFill>
                      <a:prstDash val="solid"/>
                    </a:lnL>
                    <a:lnR w="9525">
                      <a:solidFill>
                        <a:srgbClr val="CBD7E0"/>
                      </a:solidFill>
                      <a:prstDash val="solid"/>
                    </a:lnR>
                    <a:lnT w="9525">
                      <a:solidFill>
                        <a:srgbClr val="CBD7E0"/>
                      </a:solidFill>
                      <a:prstDash val="solid"/>
                    </a:lnT>
                    <a:lnB w="9525">
                      <a:solidFill>
                        <a:srgbClr val="CBD7E0"/>
                      </a:solidFill>
                      <a:prstDash val="solid"/>
                    </a:lnB>
                    <a:solidFill>
                      <a:srgbClr val="EFF5F9"/>
                    </a:solidFill>
                  </a:tcPr>
                </a:tc>
              </a:tr>
              <a:tr h="1066800">
                <a:tc>
                  <a:txBody>
                    <a:bodyPr lIns="171450" tIns="161925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B6B7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第1次</a:t>
                      </a:r>
                    </a:p>
                  </a:txBody>
                  <a:tcPr marL="171450" marR="171450" marT="133350" marB="95250">
                    <a:lnL w="9525">
                      <a:solidFill>
                        <a:srgbClr val="CBD7E0"/>
                      </a:solidFill>
                      <a:prstDash val="solid"/>
                    </a:lnL>
                    <a:lnR w="9525">
                      <a:solidFill>
                        <a:srgbClr val="CBD7E0"/>
                      </a:solidFill>
                      <a:prstDash val="solid"/>
                    </a:lnR>
                    <a:lnT w="9525">
                      <a:solidFill>
                        <a:srgbClr val="CBD7E0"/>
                      </a:solidFill>
                      <a:prstDash val="solid"/>
                    </a:lnT>
                    <a:lnB w="9525">
                      <a:solidFill>
                        <a:srgbClr val="CBD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61925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B6B7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 marL="171450" marR="171450" marT="133350" marB="95250">
                    <a:lnL w="9525">
                      <a:solidFill>
                        <a:srgbClr val="CBD7E0"/>
                      </a:solidFill>
                      <a:prstDash val="solid"/>
                    </a:lnL>
                    <a:lnR w="9525">
                      <a:solidFill>
                        <a:srgbClr val="CBD7E0"/>
                      </a:solidFill>
                      <a:prstDash val="solid"/>
                    </a:lnR>
                    <a:lnT w="9525">
                      <a:solidFill>
                        <a:srgbClr val="CBD7E0"/>
                      </a:solidFill>
                      <a:prstDash val="solid"/>
                    </a:lnT>
                    <a:lnB w="9525">
                      <a:solidFill>
                        <a:srgbClr val="CBD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61925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B6B7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 marL="171450" marR="171450" marT="133350" marB="95250">
                    <a:lnL w="9525">
                      <a:solidFill>
                        <a:srgbClr val="CBD7E0"/>
                      </a:solidFill>
                      <a:prstDash val="solid"/>
                    </a:lnL>
                    <a:lnR w="9525">
                      <a:solidFill>
                        <a:srgbClr val="CBD7E0"/>
                      </a:solidFill>
                      <a:prstDash val="solid"/>
                    </a:lnR>
                    <a:lnT w="9525">
                      <a:solidFill>
                        <a:srgbClr val="CBD7E0"/>
                      </a:solidFill>
                      <a:prstDash val="solid"/>
                    </a:lnT>
                    <a:lnB w="9525">
                      <a:solidFill>
                        <a:srgbClr val="CBD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61925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B6B7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 marL="171450" marR="171450" marT="133350" marB="95250">
                    <a:lnL w="9525">
                      <a:solidFill>
                        <a:srgbClr val="CBD7E0"/>
                      </a:solidFill>
                      <a:prstDash val="solid"/>
                    </a:lnL>
                    <a:lnR w="9525">
                      <a:solidFill>
                        <a:srgbClr val="CBD7E0"/>
                      </a:solidFill>
                      <a:prstDash val="solid"/>
                    </a:lnR>
                    <a:lnT w="9525">
                      <a:solidFill>
                        <a:srgbClr val="CBD7E0"/>
                      </a:solidFill>
                      <a:prstDash val="solid"/>
                    </a:lnT>
                    <a:lnB w="9525">
                      <a:solidFill>
                        <a:srgbClr val="CBD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71450" tIns="161925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B6B7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第2次</a:t>
                      </a:r>
                    </a:p>
                  </a:txBody>
                  <a:tcPr marL="171450" marR="171450" marT="133350" marB="95250">
                    <a:lnL w="9525">
                      <a:solidFill>
                        <a:srgbClr val="CBD7E0"/>
                      </a:solidFill>
                      <a:prstDash val="solid"/>
                    </a:lnL>
                    <a:lnR w="9525">
                      <a:solidFill>
                        <a:srgbClr val="CBD7E0"/>
                      </a:solidFill>
                      <a:prstDash val="solid"/>
                    </a:lnR>
                    <a:lnT w="9525">
                      <a:solidFill>
                        <a:srgbClr val="CBD7E0"/>
                      </a:solidFill>
                      <a:prstDash val="solid"/>
                    </a:lnT>
                    <a:lnB w="9525">
                      <a:solidFill>
                        <a:srgbClr val="CBD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61925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B6B7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 marL="171450" marR="171450" marT="133350" marB="95250">
                    <a:lnL w="9525">
                      <a:solidFill>
                        <a:srgbClr val="CBD7E0"/>
                      </a:solidFill>
                      <a:prstDash val="solid"/>
                    </a:lnL>
                    <a:lnR w="9525">
                      <a:solidFill>
                        <a:srgbClr val="CBD7E0"/>
                      </a:solidFill>
                      <a:prstDash val="solid"/>
                    </a:lnR>
                    <a:lnT w="9525">
                      <a:solidFill>
                        <a:srgbClr val="CBD7E0"/>
                      </a:solidFill>
                      <a:prstDash val="solid"/>
                    </a:lnT>
                    <a:lnB w="9525">
                      <a:solidFill>
                        <a:srgbClr val="CBD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61925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B6B7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 marL="171450" marR="171450" marT="133350" marB="95250">
                    <a:lnL w="9525">
                      <a:solidFill>
                        <a:srgbClr val="CBD7E0"/>
                      </a:solidFill>
                      <a:prstDash val="solid"/>
                    </a:lnL>
                    <a:lnR w="9525">
                      <a:solidFill>
                        <a:srgbClr val="CBD7E0"/>
                      </a:solidFill>
                      <a:prstDash val="solid"/>
                    </a:lnR>
                    <a:lnT w="9525">
                      <a:solidFill>
                        <a:srgbClr val="CBD7E0"/>
                      </a:solidFill>
                      <a:prstDash val="solid"/>
                    </a:lnT>
                    <a:lnB w="9525">
                      <a:solidFill>
                        <a:srgbClr val="CBD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61925" rIns="1714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5B6B7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/>
                      </a:r>
                    </a:p>
                  </a:txBody>
                  <a:tcPr marL="171450" marR="171450" marT="133350" marB="95250">
                    <a:lnL w="9525">
                      <a:solidFill>
                        <a:srgbClr val="CBD7E0"/>
                      </a:solidFill>
                      <a:prstDash val="solid"/>
                    </a:lnL>
                    <a:lnR w="9525">
                      <a:solidFill>
                        <a:srgbClr val="CBD7E0"/>
                      </a:solidFill>
                      <a:prstDash val="solid"/>
                    </a:lnR>
                    <a:lnT w="9525">
                      <a:solidFill>
                        <a:srgbClr val="CBD7E0"/>
                      </a:solidFill>
                      <a:prstDash val="solid"/>
                    </a:lnT>
                    <a:lnB w="9525">
                      <a:solidFill>
                        <a:srgbClr val="CBD7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>
              <a:ext uri="{FF2B5EF4-FFF2-40B4-BE49-F238E27FC236}">
                <ns2:creationId id="{FB1C08D8-EAF5-4F41-8B89-ABD806ACC58E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0" name="写“浅色背景换成深色”，比“换了背景”更具体。">
            <a:extLst>
              <a:ext uri="{FF2B5EF4-FFF2-40B4-BE49-F238E27FC236}">
                <ns2:creationId id="{9A97B754-43B6-4CC1-A013-D582278F2FC2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写“浅色背景换成深色”，比“换了背景”更具体。</a:t>
            </a:r>
          </a:p>
        </p:txBody>
      </p:sp>
    </p:spTree>
    <p:extLst>
      <p:ext uri="{BB962C8B-B14F-4D97-AF65-F5344CB8AC3E}">
        <p14:creationId val="1611498991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">
            <a:extLst>
              <a:ext uri="{FF2B5EF4-FFF2-40B4-BE49-F238E27FC236}">
                <ns2:creationId id="{BB99D0BC-E47E-43C1-8DE6-19ECBF01DA0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解释测试结果">
            <a:extLst>
              <a:ext uri="{FF2B5EF4-FFF2-40B4-BE49-F238E27FC236}">
                <ns2:creationId id="{F8949B40-3668-4C2C-A512-8A2FFBD44DC4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解释测试结果</a:t>
            </a:r>
          </a:p>
        </p:txBody>
      </p:sp>
      <p:sp>
        <p:nvSpPr>
          <p:cNvPr id="3" name="观察结果与可能的解释">
            <a:extLst>
              <a:ext uri="{FF2B5EF4-FFF2-40B4-BE49-F238E27FC236}">
                <ns2:creationId id="{8D392B84-3D17-4B5E-9AC4-572376BA7A37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观察结果与可能的解释</a:t>
            </a:r>
          </a:p>
        </p:txBody>
      </p:sp>
      <p:sp>
        <p:nvSpPr>
          <p:cNvPr id="4" name="">
            <a:extLst>
              <a:ext uri="{FF2B5EF4-FFF2-40B4-BE49-F238E27FC236}">
                <ns2:creationId id="{10D02545-B1A1-4FEC-B273-629D32BEF5E0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9CAF92E3-ECB6-47E5-8EC1-78E2EFCF52CD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27">
            <a:extLst>
              <a:ext uri="{FF2B5EF4-FFF2-40B4-BE49-F238E27FC236}">
                <ns2:creationId id="{54BD71AA-7471-47E0-A124-21202719B5A3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27</a:t>
            </a:r>
          </a:p>
        </p:txBody>
      </p:sp>
      <p:sp>
        <p:nvSpPr>
          <p:cNvPr id="7" name="实际观察">
            <a:extLst>
              <a:ext uri="{FF2B5EF4-FFF2-40B4-BE49-F238E27FC236}">
                <ns2:creationId id="{68ABBA1A-5CA5-4AF5-A9BB-1CDA56CB3BDA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实际观察</a:t>
            </a:r>
          </a:p>
        </p:txBody>
      </p:sp>
      <p:sp>
        <p:nvSpPr>
          <p:cNvPr id="8" name="同一件物品换背景后，预测改变了或保持不变。">
            <a:extLst>
              <a:ext uri="{FF2B5EF4-FFF2-40B4-BE49-F238E27FC236}">
                <ns2:creationId id="{2EA5BA10-A606-4175-9817-A56D0A7F98BE}"/>
              </a:ext>
            </a:extLst>
          </p:cNvPr>
          <p:cNvSpPr>
            <a:spLocks noGrp="1"/>
          </p:cNvSpPr>
          <p:nvPr/>
        </p:nvSpPr>
        <p:spPr>
          <a:xfrm>
            <a:off x="3371850" y="2305050"/>
            <a:ext cx="82105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同一件物品换背景后，预测改变了或保持不变。</a:t>
            </a:r>
          </a:p>
        </p:txBody>
      </p:sp>
      <p:sp>
        <p:nvSpPr>
          <p:cNvPr id="9" name="">
            <a:extLst>
              <a:ext uri="{FF2B5EF4-FFF2-40B4-BE49-F238E27FC236}">
                <ns2:creationId id="{DBED3CB4-722F-484B-A513-203C4FB05636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0" name="可能的解释">
            <a:extLst>
              <a:ext uri="{FF2B5EF4-FFF2-40B4-BE49-F238E27FC236}">
                <ns2:creationId id="{516707C5-64D6-4695-BA1B-70695DC6C097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可能的解释</a:t>
            </a:r>
          </a:p>
        </p:txBody>
      </p:sp>
      <p:sp>
        <p:nvSpPr>
          <p:cNvPr id="11" name="模型可能用了背景线索，也可能是其他条件变了。">
            <a:extLst>
              <a:ext uri="{FF2B5EF4-FFF2-40B4-BE49-F238E27FC236}">
                <ns2:creationId id="{D8A911F4-2C87-4140-B221-EB8BFFBFD992}"/>
              </a:ext>
            </a:extLst>
          </p:cNvPr>
          <p:cNvSpPr>
            <a:spLocks noGrp="1"/>
          </p:cNvSpPr>
          <p:nvPr/>
        </p:nvSpPr>
        <p:spPr>
          <a:xfrm>
            <a:off x="3371850" y="3381375"/>
            <a:ext cx="82105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模型可能用了背景线索，也可能是其他条件变了。</a:t>
            </a:r>
          </a:p>
        </p:txBody>
      </p:sp>
      <p:sp>
        <p:nvSpPr>
          <p:cNvPr id="12" name="">
            <a:extLst>
              <a:ext uri="{FF2B5EF4-FFF2-40B4-BE49-F238E27FC236}">
                <ns2:creationId id="{63896B49-A84B-4ACA-937D-B5A66265BFAF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3" name="下一次测试">
            <a:extLst>
              <a:ext uri="{FF2B5EF4-FFF2-40B4-BE49-F238E27FC236}">
                <ns2:creationId id="{041A6FAB-9889-4BB1-8090-231656AC216B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2333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下一次测试</a:t>
            </a:r>
          </a:p>
        </p:txBody>
      </p:sp>
      <p:sp>
        <p:nvSpPr>
          <p:cNvPr id="14" name="固定角度、距离和光照，再单独改变背景。">
            <a:extLst>
              <a:ext uri="{FF2B5EF4-FFF2-40B4-BE49-F238E27FC236}">
                <ns2:creationId id="{B4681C57-5013-4804-9F95-AB702BFFCCD5}"/>
              </a:ext>
            </a:extLst>
          </p:cNvPr>
          <p:cNvSpPr>
            <a:spLocks noGrp="1"/>
          </p:cNvSpPr>
          <p:nvPr/>
        </p:nvSpPr>
        <p:spPr>
          <a:xfrm>
            <a:off x="3371850" y="4457700"/>
            <a:ext cx="82105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固定角度、距离和光照，再单独改变背景。</a:t>
            </a:r>
          </a:p>
        </p:txBody>
      </p:sp>
      <p:sp>
        <p:nvSpPr>
          <p:cNvPr id="15" name="">
            <a:extLst>
              <a:ext uri="{FF2B5EF4-FFF2-40B4-BE49-F238E27FC236}">
                <ns2:creationId id="{A6EF5FE0-D76B-4AA4-B2D8-569E9FC5F176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6" name="一次结果提供线索，还需要有针对性的测试。">
            <a:extLst>
              <a:ext uri="{FF2B5EF4-FFF2-40B4-BE49-F238E27FC236}">
                <ns2:creationId id="{C6962525-54C1-4AF8-94AE-19E28F25F2AA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一次结果提供线索，还需要有针对性的测试。</a:t>
            </a:r>
          </a:p>
        </p:txBody>
      </p:sp>
    </p:spTree>
    <p:extLst>
      <p:ext uri="{BB962C8B-B14F-4D97-AF65-F5344CB8AC3E}">
        <p14:creationId val="1852229130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01DE09C7-F190-43FD-BE98-AD25E521FC9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改进分类模型">
            <a:extLst>
              <a:ext uri="{FF2B5EF4-FFF2-40B4-BE49-F238E27FC236}">
                <ns2:creationId id="{2A93028C-2084-4FA8-85F8-3B195660E1FC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改进分类模型</a:t>
            </a:r>
          </a:p>
        </p:txBody>
      </p:sp>
      <p:sp>
        <p:nvSpPr>
          <p:cNvPr id="3" name="哪些样本值得补充？">
            <a:extLst>
              <a:ext uri="{FF2B5EF4-FFF2-40B4-BE49-F238E27FC236}">
                <ns2:creationId id="{B118C264-E657-42F7-991C-89B07BF68C70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哪些样本值得补充？</a:t>
            </a:r>
          </a:p>
        </p:txBody>
      </p:sp>
      <p:sp>
        <p:nvSpPr>
          <p:cNvPr id="4" name="">
            <a:extLst>
              <a:ext uri="{FF2B5EF4-FFF2-40B4-BE49-F238E27FC236}">
                <ns2:creationId id="{AF0179B0-3041-4D33-B526-E1D7BFA0637A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D8FF45E7-E776-47F5-99DA-13E90178070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28">
            <a:extLst>
              <a:ext uri="{FF2B5EF4-FFF2-40B4-BE49-F238E27FC236}">
                <ns2:creationId id="{6C9C91AE-A7FD-408A-A314-9EF747212CF3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28</a:t>
            </a:r>
          </a:p>
        </p:txBody>
      </p:sp>
      <p:sp>
        <p:nvSpPr>
          <p:cNvPr id="7" name="先看遇到的问题，再决定补充什么图片。">
            <a:extLst>
              <a:ext uri="{FF2B5EF4-FFF2-40B4-BE49-F238E27FC236}">
                <ns2:creationId id="{C9D7051C-3677-4FF7-A201-AACE4280C541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先看遇到的问题，再决定补充什么图片。</a:t>
            </a:r>
          </a:p>
        </p:txBody>
      </p:sp>
      <p:sp>
        <p:nvSpPr>
          <p:cNvPr id="8" name="">
            <a:extLst>
              <a:ext uri="{FF2B5EF4-FFF2-40B4-BE49-F238E27FC236}">
                <ns2:creationId id="{FF317CF1-5EBE-437B-B7BB-36CE63F8BBAC}"/>
              </a:ext>
            </a:extLst>
          </p:cNvPr>
          <p:cNvSpPr>
            <a:spLocks noGrp="1"/>
          </p:cNvSpPr>
          <p:nvPr/>
        </p:nvSpPr>
        <p:spPr>
          <a:xfrm>
            <a:off x="6048375" y="2628900"/>
            <a:ext cx="9525" cy="261937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9" name="只换背景时不稳定">
            <a:extLst>
              <a:ext uri="{FF2B5EF4-FFF2-40B4-BE49-F238E27FC236}">
                <ns2:creationId id="{7CAA1CE1-A497-4AE0-BE57-4E9216FB613B}"/>
              </a:ext>
            </a:extLst>
          </p:cNvPr>
          <p:cNvSpPr>
            <a:spLocks noGrp="1"/>
          </p:cNvSpPr>
          <p:nvPr/>
        </p:nvSpPr>
        <p:spPr>
          <a:xfrm>
            <a:off x="609600" y="2676525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只换背景时不稳定</a:t>
            </a:r>
          </a:p>
        </p:txBody>
      </p:sp>
      <p:sp>
        <p:nvSpPr>
          <p:cNvPr id="10" name="补充同类物品&#10;在不同背景上的图片。">
            <a:extLst>
              <a:ext uri="{FF2B5EF4-FFF2-40B4-BE49-F238E27FC236}">
                <ns2:creationId id="{AE5F5AEF-C7A3-48C1-8DDB-9DC2172E5D4B}"/>
              </a:ext>
            </a:extLst>
          </p:cNvPr>
          <p:cNvSpPr>
            <a:spLocks noGrp="1"/>
          </p:cNvSpPr>
          <p:nvPr/>
        </p:nvSpPr>
        <p:spPr>
          <a:xfrm>
            <a:off x="609600" y="3248025"/>
            <a:ext cx="50673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补充同类物品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在不同背景上的图片。</a:t>
            </a:r>
          </a:p>
        </p:txBody>
      </p:sp>
      <p:sp>
        <p:nvSpPr>
          <p:cNvPr id="11" name="换同类物品时不稳定">
            <a:extLst>
              <a:ext uri="{FF2B5EF4-FFF2-40B4-BE49-F238E27FC236}">
                <ns2:creationId id="{D7BA0A71-1C20-49C3-A17E-B726A141502D}"/>
              </a:ext>
            </a:extLst>
          </p:cNvPr>
          <p:cNvSpPr>
            <a:spLocks noGrp="1"/>
          </p:cNvSpPr>
          <p:nvPr/>
        </p:nvSpPr>
        <p:spPr>
          <a:xfrm>
            <a:off x="6515100" y="2676525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换同类物品时不稳定</a:t>
            </a:r>
          </a:p>
        </p:txBody>
      </p:sp>
      <p:sp>
        <p:nvSpPr>
          <p:cNvPr id="12" name="补充不同颜色、大小&#10;或款式的同类物品。">
            <a:extLst>
              <a:ext uri="{FF2B5EF4-FFF2-40B4-BE49-F238E27FC236}">
                <ns2:creationId id="{BB23CA43-95C1-4048-B0B8-0632686AC379}"/>
              </a:ext>
            </a:extLst>
          </p:cNvPr>
          <p:cNvSpPr>
            <a:spLocks noGrp="1"/>
          </p:cNvSpPr>
          <p:nvPr/>
        </p:nvSpPr>
        <p:spPr>
          <a:xfrm>
            <a:off x="6515100" y="3248025"/>
            <a:ext cx="50673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补充不同颜色、大小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或款式的同类物品。</a:t>
            </a:r>
          </a:p>
        </p:txBody>
      </p:sp>
      <p:sp>
        <p:nvSpPr>
          <p:cNvPr id="13" name="">
            <a:extLst>
              <a:ext uri="{FF2B5EF4-FFF2-40B4-BE49-F238E27FC236}">
                <ns2:creationId id="{84FD8363-DABF-49E1-AFE7-7C7B88C5B902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4" name="保存旧模型，用同一组测试图片比较改进效果。">
            <a:extLst>
              <a:ext uri="{FF2B5EF4-FFF2-40B4-BE49-F238E27FC236}">
                <ns2:creationId id="{814263FA-90BD-4F8A-B3A9-A5BB5F01D896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保存旧模型，用同一组测试图片比较改进效果。</a:t>
            </a:r>
          </a:p>
        </p:txBody>
      </p:sp>
    </p:spTree>
    <p:extLst>
      <p:ext uri="{BB962C8B-B14F-4D97-AF65-F5344CB8AC3E}">
        <p14:creationId val="2859036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61FF213B-1B26-4910-AE5B-97A0BF36E1B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修改 AI 生成的程序">
            <a:extLst>
              <a:ext uri="{FF2B5EF4-FFF2-40B4-BE49-F238E27FC236}">
                <ns2:creationId id="{DEA7CC7B-3628-4DAB-8DD3-AE97B6398C2E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修改 AI 生成的程序</a:t>
            </a:r>
          </a:p>
        </p:txBody>
      </p:sp>
      <p:sp>
        <p:nvSpPr>
          <p:cNvPr id="3" name="把游戏想法说清楚">
            <a:extLst>
              <a:ext uri="{FF2B5EF4-FFF2-40B4-BE49-F238E27FC236}">
                <ns2:creationId id="{CFAA7114-59EF-4A2F-A066-D40D6BCE8B43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把游戏想法说清楚</a:t>
            </a:r>
          </a:p>
        </p:txBody>
      </p:sp>
      <p:sp>
        <p:nvSpPr>
          <p:cNvPr id="4" name="">
            <a:extLst>
              <a:ext uri="{FF2B5EF4-FFF2-40B4-BE49-F238E27FC236}">
                <ns2:creationId id="{7F469B73-D711-4A63-BD9D-1253339A414A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69A7C55D-1959-4F7A-94A1-BF74ED1273B2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29">
            <a:extLst>
              <a:ext uri="{FF2B5EF4-FFF2-40B4-BE49-F238E27FC236}">
                <ns2:creationId id="{29897E1E-33CC-41EF-A0B4-F31056C2F82C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29</a:t>
            </a:r>
          </a:p>
        </p:txBody>
      </p:sp>
      <p:sp>
        <p:nvSpPr>
          <p:cNvPr id="7" name="课堂示例：角色收集星星的小游戏。">
            <a:extLst>
              <a:ext uri="{FF2B5EF4-FFF2-40B4-BE49-F238E27FC236}">
                <ns2:creationId id="{6FE49A4A-CB82-4EC1-9BA6-653EF52B8D6B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课堂示例：角色收集星星的小游戏。</a:t>
            </a:r>
          </a:p>
        </p:txBody>
      </p:sp>
      <p:sp>
        <p:nvSpPr>
          <p:cNvPr id="8" name="操作方式">
            <a:extLst>
              <a:ext uri="{FF2B5EF4-FFF2-40B4-BE49-F238E27FC236}">
                <ns2:creationId id="{59BC03DB-F5F4-451E-8A71-8948C40C585B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操作方式</a:t>
            </a:r>
          </a:p>
        </p:txBody>
      </p:sp>
      <p:sp>
        <p:nvSpPr>
          <p:cNvPr id="9" name="用方向键移动角色。">
            <a:extLst>
              <a:ext uri="{FF2B5EF4-FFF2-40B4-BE49-F238E27FC236}">
                <ns2:creationId id="{006A5F17-AFE2-448A-AB72-F3B04E801710}"/>
              </a:ext>
            </a:extLst>
          </p:cNvPr>
          <p:cNvSpPr>
            <a:spLocks noGrp="1"/>
          </p:cNvSpPr>
          <p:nvPr/>
        </p:nvSpPr>
        <p:spPr>
          <a:xfrm>
            <a:off x="3352800" y="2476500"/>
            <a:ext cx="82296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用方向键移动角色。</a:t>
            </a:r>
          </a:p>
        </p:txBody>
      </p:sp>
      <p:sp>
        <p:nvSpPr>
          <p:cNvPr id="10" name="">
            <a:extLst>
              <a:ext uri="{FF2B5EF4-FFF2-40B4-BE49-F238E27FC236}">
                <ns2:creationId id="{5F35E23A-2775-4946-A1E8-47573BBBFD70}"/>
              </a:ext>
            </a:extLst>
          </p:cNvPr>
          <p:cNvSpPr>
            <a:spLocks noGrp="1"/>
          </p:cNvSpPr>
          <p:nvPr/>
        </p:nvSpPr>
        <p:spPr>
          <a:xfrm>
            <a:off x="609600" y="324802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1" name="计分规则">
            <a:extLst>
              <a:ext uri="{FF2B5EF4-FFF2-40B4-BE49-F238E27FC236}">
                <ns2:creationId id="{566E522B-D136-406B-88F3-D2E5D5612289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计分规则</a:t>
            </a:r>
          </a:p>
        </p:txBody>
      </p:sp>
      <p:sp>
        <p:nvSpPr>
          <p:cNvPr id="12" name="碰到星星加1分。">
            <a:extLst>
              <a:ext uri="{FF2B5EF4-FFF2-40B4-BE49-F238E27FC236}">
                <ns2:creationId id="{4BE646F4-EA6A-4922-A73C-D1B40A833F1F}"/>
              </a:ext>
            </a:extLst>
          </p:cNvPr>
          <p:cNvSpPr>
            <a:spLocks noGrp="1"/>
          </p:cNvSpPr>
          <p:nvPr/>
        </p:nvSpPr>
        <p:spPr>
          <a:xfrm>
            <a:off x="3352800" y="3448050"/>
            <a:ext cx="82296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碰到星星加1分。</a:t>
            </a:r>
          </a:p>
        </p:txBody>
      </p:sp>
      <p:sp>
        <p:nvSpPr>
          <p:cNvPr id="13" name="">
            <a:extLst>
              <a:ext uri="{FF2B5EF4-FFF2-40B4-BE49-F238E27FC236}">
                <ns2:creationId id="{EA4A2B30-3458-4B23-B533-48638DBDD11E}"/>
              </a:ext>
            </a:extLst>
          </p:cNvPr>
          <p:cNvSpPr>
            <a:spLocks noGrp="1"/>
          </p:cNvSpPr>
          <p:nvPr/>
        </p:nvSpPr>
        <p:spPr>
          <a:xfrm>
            <a:off x="609600" y="42195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4" name="界面要求">
            <a:extLst>
              <a:ext uri="{FF2B5EF4-FFF2-40B4-BE49-F238E27FC236}">
                <ns2:creationId id="{4861BDF9-F53D-492B-B9A2-B0164561A82E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界面要求</a:t>
            </a:r>
          </a:p>
        </p:txBody>
      </p:sp>
      <p:sp>
        <p:nvSpPr>
          <p:cNvPr id="15" name="显示分数和重新开始按钮。&#10;让第一次玩的人看懂操作。">
            <a:extLst>
              <a:ext uri="{FF2B5EF4-FFF2-40B4-BE49-F238E27FC236}">
                <ns2:creationId id="{4CF1FC5B-7315-43B6-9617-0764FE9C969F}"/>
              </a:ext>
            </a:extLst>
          </p:cNvPr>
          <p:cNvSpPr>
            <a:spLocks noGrp="1"/>
          </p:cNvSpPr>
          <p:nvPr/>
        </p:nvSpPr>
        <p:spPr>
          <a:xfrm>
            <a:off x="3352800" y="4419600"/>
            <a:ext cx="82296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显示分数和重新开始按钮。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让第一次玩的人看懂操作。</a:t>
            </a:r>
          </a:p>
        </p:txBody>
      </p:sp>
      <p:sp>
        <p:nvSpPr>
          <p:cNvPr id="16" name="">
            <a:extLst>
              <a:ext uri="{FF2B5EF4-FFF2-40B4-BE49-F238E27FC236}">
                <ns2:creationId id="{153EF3EC-B1ED-4B12-9445-990B323DA485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7" name="这些要求是否实现，需要运行程序检查。">
            <a:extLst>
              <a:ext uri="{FF2B5EF4-FFF2-40B4-BE49-F238E27FC236}">
                <ns2:creationId id="{4200B5AE-53D0-449D-AE14-F333C62734EC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这些要求是否实现，需要运行程序检查。</a:t>
            </a:r>
          </a:p>
        </p:txBody>
      </p:sp>
    </p:spTree>
    <p:extLst>
      <p:ext uri="{BB962C8B-B14F-4D97-AF65-F5344CB8AC3E}">
        <p14:creationId val="1942361402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6095968D-D94A-4C1D-9748-4A81D11DFD2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修改 AI 生成的程序">
            <a:extLst>
              <a:ext uri="{FF2B5EF4-FFF2-40B4-BE49-F238E27FC236}">
                <ns2:creationId id="{9BE64288-A3FF-408D-B351-6F6325D11D70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修改 AI 生成的程序</a:t>
            </a:r>
          </a:p>
        </p:txBody>
      </p:sp>
      <p:sp>
        <p:nvSpPr>
          <p:cNvPr id="3" name="把“慢一点”说成明确的要求">
            <a:extLst>
              <a:ext uri="{FF2B5EF4-FFF2-40B4-BE49-F238E27FC236}">
                <ns2:creationId id="{6A19E22F-C3F1-4DB8-A49E-11A3E1F86DB8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把“慢一点”说成明确的要求</a:t>
            </a:r>
          </a:p>
        </p:txBody>
      </p:sp>
      <p:sp>
        <p:nvSpPr>
          <p:cNvPr id="4" name="">
            <a:extLst>
              <a:ext uri="{FF2B5EF4-FFF2-40B4-BE49-F238E27FC236}">
                <ns2:creationId id="{4A364B4C-9A03-4E5E-BC75-4A8EFA02F1C5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23DE40A3-27B4-4FEF-A977-65A74AEA48F9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30">
            <a:extLst>
              <a:ext uri="{FF2B5EF4-FFF2-40B4-BE49-F238E27FC236}">
                <ns2:creationId id="{D9A7072B-C29A-41AB-BBD2-248C4DC7EB47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30</a:t>
            </a:r>
          </a:p>
        </p:txBody>
      </p:sp>
      <p:sp>
        <p:nvSpPr>
          <p:cNvPr id="7" name="修改要求">
            <a:extLst>
              <a:ext uri="{FF2B5EF4-FFF2-40B4-BE49-F238E27FC236}">
                <ns2:creationId id="{A57704EF-54BB-43E5-9AD9-250ABE01EA37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修改要求</a:t>
            </a:r>
          </a:p>
        </p:txBody>
      </p:sp>
      <p:sp>
        <p:nvSpPr>
          <p:cNvPr id="8" name="“把角色移动速度降低一半，&#10;保留计分和重新开始功能。”">
            <a:extLst>
              <a:ext uri="{FF2B5EF4-FFF2-40B4-BE49-F238E27FC236}">
                <ns2:creationId id="{D2FFC631-A2D7-4F60-9A04-6EBB9EC432BE}"/>
              </a:ext>
            </a:extLst>
          </p:cNvPr>
          <p:cNvSpPr>
            <a:spLocks noGrp="1"/>
          </p:cNvSpPr>
          <p:nvPr/>
        </p:nvSpPr>
        <p:spPr>
          <a:xfrm>
            <a:off x="609600" y="2886075"/>
            <a:ext cx="1097280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4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“把角色移动速度降低一半，</a:t>
            </a:r>
          </a:p>
          <a:p>
            <a:pPr algn="l">
              <a:lnSpc>
                <a:spcPct val="122000"/>
              </a:lnSpc>
              <a:buNone/>
              <a:defRPr sz="34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保留计分和重新开始功能。”</a:t>
            </a:r>
          </a:p>
        </p:txBody>
      </p:sp>
      <p:sp>
        <p:nvSpPr>
          <p:cNvPr id="9" name="">
            <a:extLst>
              <a:ext uri="{FF2B5EF4-FFF2-40B4-BE49-F238E27FC236}">
                <ns2:creationId id="{477BF378-3E56-43D2-8B24-6346FD771A79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0" name="检查方法">
            <a:extLst>
              <a:ext uri="{FF2B5EF4-FFF2-40B4-BE49-F238E27FC236}">
                <ns2:creationId id="{BD0A5379-D208-41C9-A989-1E25412D90DD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20764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检查方法</a:t>
            </a:r>
          </a:p>
        </p:txBody>
      </p:sp>
      <p:sp>
        <p:nvSpPr>
          <p:cNvPr id="11" name="同样向右移动2秒，比较移动距离。">
            <a:extLst>
              <a:ext uri="{FF2B5EF4-FFF2-40B4-BE49-F238E27FC236}">
                <ns2:creationId id="{D5AD318C-892F-4A95-8453-F24FBE9671C8}"/>
              </a:ext>
            </a:extLst>
          </p:cNvPr>
          <p:cNvSpPr>
            <a:spLocks noGrp="1"/>
          </p:cNvSpPr>
          <p:nvPr/>
        </p:nvSpPr>
        <p:spPr>
          <a:xfrm>
            <a:off x="3371850" y="4905375"/>
            <a:ext cx="82105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同样向右移动2秒，比较移动距离。</a:t>
            </a:r>
          </a:p>
        </p:txBody>
      </p:sp>
      <p:sp>
        <p:nvSpPr>
          <p:cNvPr id="12" name="">
            <a:extLst>
              <a:ext uri="{FF2B5EF4-FFF2-40B4-BE49-F238E27FC236}">
                <ns2:creationId id="{EAF63962-B547-4F7E-A496-CC3BB5F4D108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3" name="修改要求与检查方法要对应。">
            <a:extLst>
              <a:ext uri="{FF2B5EF4-FFF2-40B4-BE49-F238E27FC236}">
                <ns2:creationId id="{2436B029-C0F5-4B58-AA71-B02F974CD4D3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修改要求与检查方法要对应。</a:t>
            </a:r>
          </a:p>
        </p:txBody>
      </p:sp>
    </p:spTree>
    <p:extLst>
      <p:ext uri="{BB962C8B-B14F-4D97-AF65-F5344CB8AC3E}">
        <p14:creationId val="324451777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BC9FADD6-BCCE-4687-B8C3-E4D8E4834A6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修改 AI 生成的程序">
            <a:extLst>
              <a:ext uri="{FF2B5EF4-FFF2-40B4-BE49-F238E27FC236}">
                <ns2:creationId id="{DB403000-A5A7-4A71-8BD7-E6C2604C5E77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修改 AI 生成的程序</a:t>
            </a:r>
          </a:p>
        </p:txBody>
      </p:sp>
      <p:sp>
        <p:nvSpPr>
          <p:cNvPr id="3" name="相同操作，比较两个版本">
            <a:extLst>
              <a:ext uri="{FF2B5EF4-FFF2-40B4-BE49-F238E27FC236}">
                <ns2:creationId id="{80C58010-8C9F-48F4-9093-58AD299801B7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相同操作，比较两个版本</a:t>
            </a:r>
          </a:p>
        </p:txBody>
      </p:sp>
      <p:sp>
        <p:nvSpPr>
          <p:cNvPr id="4" name="">
            <a:extLst>
              <a:ext uri="{FF2B5EF4-FFF2-40B4-BE49-F238E27FC236}">
                <ns2:creationId id="{427F2EC2-2384-4DB0-A9E4-3985572641CF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3FD28450-8FE8-457F-9821-EE938B84D85E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31">
            <a:extLst>
              <a:ext uri="{FF2B5EF4-FFF2-40B4-BE49-F238E27FC236}">
                <ns2:creationId id="{A6E23FB0-4000-4B6E-86B5-1085A53DD1B7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31</a:t>
            </a:r>
          </a:p>
        </p:txBody>
      </p:sp>
      <p:sp>
        <p:nvSpPr>
          <p:cNvPr id="7" name="收集星星 · 先看原版，再看修改版的实际运行">
            <a:extLst>
              <a:ext uri="{FF2B5EF4-FFF2-40B4-BE49-F238E27FC236}">
                <ns2:creationId id="{C5FD6C26-3E2D-401E-ABF2-9C2CED3F9BAF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收集星星 · 先看原版，再看修改版的实际运行</a:t>
            </a:r>
          </a:p>
        </p:txBody>
      </p:sp>
      <p:pic>
        <p:nvPicPr>
          <p:cNvPr id="2031" name="相同操作，比较两个版本（静态封面）" descr="相同操作，比较两个版本的视频封面"/>
          <p:cNvPicPr>
            <a:picLocks noChangeAspect="1"/>
          </p:cNvPicPr>
          <p:nvPr/>
        </p:nvPicPr>
        <p:blipFill>
          <a:blip r:embed="Radc80a07518847d1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pic>
        <p:nvPicPr>
          <p:cNvPr id="23" name="相同操作，比较两个版本（内嵌视频）" descr="相同操作，比较两个版本，放映时点击播放">
            <a:hlinkClick action="ppaction://media"/>
          </p:cNvPr>
          <p:cNvPicPr>
            <a:picLocks noChangeAspect="1"/>
          </p:cNvPicPr>
          <p:nvPr>
            <a:videoFile r:link="rIdEmbeddedVideo"/>
            <p:extLst>
              <p:ext uri="{DAA4B4D4-6D71-4841-9C94-3DE7FCFB9230}">
                <p14:media r:embed="rIdEmbeddedMedia"/>
              </p:ext>
            </p:extLst>
          </p:nvPr>
        </p:nvPicPr>
        <p:blipFill>
          <a:blip r:embed="Radc80a07518847d1"/>
          <a:stretch/>
        </p:blipFill>
        <p:spPr>
          <a:xfrm>
            <a:off x="1032933" y="2076450"/>
            <a:ext cx="6773333" cy="3810000"/>
          </a:xfrm>
          <a:prstGeom prst="rect">
            <a:avLst/>
          </a:prstGeom>
        </p:spPr>
      </p:pic>
      <p:sp>
        <p:nvSpPr>
          <p:cNvPr id="9" name="输入">
            <a:extLst>
              <a:ext uri="{FF2B5EF4-FFF2-40B4-BE49-F238E27FC236}">
                <ns2:creationId id="{6917E75E-991D-4ADF-9F8C-A38CA3FA8F6E}"/>
              </a:ext>
            </a:extLst>
          </p:cNvPr>
          <p:cNvSpPr>
            <a:spLocks noGrp="1"/>
          </p:cNvSpPr>
          <p:nvPr/>
        </p:nvSpPr>
        <p:spPr>
          <a:xfrm>
            <a:off x="8686800" y="22479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10" name="同一位置起步，&#10;向右移动2秒。">
            <a:extLst>
              <a:ext uri="{FF2B5EF4-FFF2-40B4-BE49-F238E27FC236}">
                <ns2:creationId id="{D5F77AEA-8CAF-4D46-9979-982381A22B5D}"/>
              </a:ext>
            </a:extLst>
          </p:cNvPr>
          <p:cNvSpPr>
            <a:spLocks noGrp="1"/>
          </p:cNvSpPr>
          <p:nvPr/>
        </p:nvSpPr>
        <p:spPr>
          <a:xfrm>
            <a:off x="8686800" y="26765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同一位置起步，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向右移动2秒。</a:t>
            </a:r>
          </a:p>
        </p:txBody>
      </p:sp>
      <p:sp>
        <p:nvSpPr>
          <p:cNvPr id="11" name="观看重点">
            <a:extLst>
              <a:ext uri="{FF2B5EF4-FFF2-40B4-BE49-F238E27FC236}">
                <ns2:creationId id="{9FCEA52B-FDE3-41E5-AA52-FC2A3E8E4895}"/>
              </a:ext>
            </a:extLst>
          </p:cNvPr>
          <p:cNvSpPr>
            <a:spLocks noGrp="1"/>
          </p:cNvSpPr>
          <p:nvPr/>
        </p:nvSpPr>
        <p:spPr>
          <a:xfrm>
            <a:off x="8686800" y="38100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观看重点</a:t>
            </a:r>
          </a:p>
        </p:txBody>
      </p:sp>
      <p:sp>
        <p:nvSpPr>
          <p:cNvPr id="12" name="移动距离是否减半？&#10;计分和重开是否正常？">
            <a:extLst>
              <a:ext uri="{FF2B5EF4-FFF2-40B4-BE49-F238E27FC236}">
                <ns2:creationId id="{3436798D-28E1-493E-85BA-6845394D9EC9}"/>
              </a:ext>
            </a:extLst>
          </p:cNvPr>
          <p:cNvSpPr>
            <a:spLocks noGrp="1"/>
          </p:cNvSpPr>
          <p:nvPr/>
        </p:nvSpPr>
        <p:spPr>
          <a:xfrm>
            <a:off x="8686800" y="4238625"/>
            <a:ext cx="28956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移动距离是否减半？</a:t>
            </a:r>
          </a:p>
          <a:p>
            <a:pPr algn="l">
              <a:lnSpc>
                <a:spcPct val="122000"/>
              </a:lnSpc>
              <a:buNone/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计分和重开是否正常？</a:t>
            </a:r>
          </a:p>
        </p:txBody>
      </p:sp>
      <p:sp>
        <p:nvSpPr>
          <p:cNvPr id="13" name="课堂程序 · 两版实录">
            <a:extLst>
              <a:ext uri="{FF2B5EF4-FFF2-40B4-BE49-F238E27FC236}">
                <ns2:creationId id="{D5F2EBE5-A9C2-4CA2-A671-22CCABB3B6E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95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课堂程序 · 两版实录</a:t>
            </a:r>
          </a:p>
        </p:txBody>
      </p:sp>
      <p:sp>
        <p:nvSpPr>
          <p:cNvPr id="14" name="点击画面，全屏播放">
            <a:extLst>
              <a:ext uri="{FF2B5EF4-FFF2-40B4-BE49-F238E27FC236}">
                <ns2:creationId id="{DB189979-FE50-4E88-B1F1-12DF17C82A2D}"/>
              </a:ext>
            </a:extLst>
          </p:cNvPr>
          <p:cNvSpPr>
            <a:spLocks noGrp="1"/>
          </p:cNvSpPr>
          <p:nvPr/>
        </p:nvSpPr>
        <p:spPr>
          <a:xfrm>
            <a:off x="8686800" y="5638800"/>
            <a:ext cx="28956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点击画面，全屏播放</a:t>
            </a:r>
          </a:p>
        </p:txBody>
      </p:sp>
      <p:sp>
        <p:nvSpPr>
          <p:cNvPr id="15" name="用相同操作，检查修改是否实现。">
            <a:extLst>
              <a:ext uri="{FF2B5EF4-FFF2-40B4-BE49-F238E27FC236}">
                <ns2:creationId id="{EF0CBB96-6826-41C5-8E27-B3815518851F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用相同操作，检查修改是否实现。</a:t>
            </a:r>
          </a:p>
        </p:txBody>
      </p:sp>
    </p:spTree>
    <p:extLst>
      <p:ext uri="{BB962C8B-B14F-4D97-AF65-F5344CB8AC3E}">
        <p14:creationId val="1000200117"/>
      </p:ext>
    </p:extLst>
  </p:cSld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2" name="">
            <a:extLst>
              <a:ext uri="{FF2B5EF4-FFF2-40B4-BE49-F238E27FC236}">
                <ns2:creationId id="{3D81F665-6041-4D26-99A5-D4793D1809A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人和 AI 的分工">
            <a:extLst>
              <a:ext uri="{FF2B5EF4-FFF2-40B4-BE49-F238E27FC236}">
                <ns2:creationId id="{EC178E5E-83F1-418E-80A9-72C9471DA6E1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人和 AI 的分工</a:t>
            </a:r>
          </a:p>
        </p:txBody>
      </p:sp>
      <p:sp>
        <p:nvSpPr>
          <p:cNvPr id="3" name="人在其中做什么？">
            <a:extLst>
              <a:ext uri="{FF2B5EF4-FFF2-40B4-BE49-F238E27FC236}">
                <ns2:creationId id="{091C518C-AC1E-4CA3-808D-81948897A1E0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人在其中做什么？</a:t>
            </a:r>
          </a:p>
        </p:txBody>
      </p:sp>
      <p:sp>
        <p:nvSpPr>
          <p:cNvPr id="4" name="">
            <a:extLst>
              <a:ext uri="{FF2B5EF4-FFF2-40B4-BE49-F238E27FC236}">
                <ns2:creationId id="{443E7F96-02C7-49D3-B002-8DCC570A3DE3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6A92C0E4-8328-4666-ABAF-BAA6B293BE5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32">
            <a:extLst>
              <a:ext uri="{FF2B5EF4-FFF2-40B4-BE49-F238E27FC236}">
                <ns2:creationId id="{70A03C02-2FBF-4F50-B9AB-1CFCE64E770B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7" name="从刚才的制作和测试中，找出需要自己作决定的地方。">
            <a:extLst>
              <a:ext uri="{FF2B5EF4-FFF2-40B4-BE49-F238E27FC236}">
                <ns2:creationId id="{2863FD91-D369-4145-9E80-BEB09BA441D2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从刚才的制作和测试中，找出需要自己作决定的地方。</a:t>
            </a:r>
          </a:p>
        </p:txBody>
      </p:sp>
      <p:sp>
        <p:nvSpPr>
          <p:cNvPr id="8" name="01">
            <a:extLst>
              <a:ext uri="{FF2B5EF4-FFF2-40B4-BE49-F238E27FC236}">
                <ns2:creationId id="{268574BA-2124-4DC9-AE44-E25B8B8A1492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3390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9" name="">
            <a:extLst>
              <a:ext uri="{FF2B5EF4-FFF2-40B4-BE49-F238E27FC236}">
                <ns2:creationId id="{CA7ADC5E-462A-4920-8B8C-6FBF1261CDEC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33909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0" name="决定用途">
            <a:extLst>
              <a:ext uri="{FF2B5EF4-FFF2-40B4-BE49-F238E27FC236}">
                <ns2:creationId id="{F773EDAF-5C9A-43EC-9D17-E80467257838}"/>
              </a:ext>
            </a:extLst>
          </p:cNvPr>
          <p:cNvSpPr>
            <a:spLocks noGrp="1"/>
          </p:cNvSpPr>
          <p:nvPr/>
        </p:nvSpPr>
        <p:spPr>
          <a:xfrm>
            <a:off x="609600" y="3400425"/>
            <a:ext cx="3390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决定用途</a:t>
            </a:r>
          </a:p>
        </p:txBody>
      </p:sp>
      <p:sp>
        <p:nvSpPr>
          <p:cNvPr id="11" name="给谁用？&#10;完成什么工作？">
            <a:extLst>
              <a:ext uri="{FF2B5EF4-FFF2-40B4-BE49-F238E27FC236}">
                <ns2:creationId id="{D4922C09-2F4B-48B4-AA37-2E7F0053111D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3390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给谁用？</a:t>
            </a: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完成什么工作？</a:t>
            </a:r>
          </a:p>
        </p:txBody>
      </p:sp>
      <p:sp>
        <p:nvSpPr>
          <p:cNvPr id="12" name="02">
            <a:extLst>
              <a:ext uri="{FF2B5EF4-FFF2-40B4-BE49-F238E27FC236}">
                <ns2:creationId id="{7AFE2160-0FA6-4670-B9FF-8AFFD00C03C2}"/>
              </a:ext>
            </a:extLst>
          </p:cNvPr>
          <p:cNvSpPr>
            <a:spLocks noGrp="1"/>
          </p:cNvSpPr>
          <p:nvPr/>
        </p:nvSpPr>
        <p:spPr>
          <a:xfrm>
            <a:off x="4400550" y="2447925"/>
            <a:ext cx="3390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">
            <a:extLst>
              <a:ext uri="{FF2B5EF4-FFF2-40B4-BE49-F238E27FC236}">
                <ns2:creationId id="{F1132380-1024-404B-B6A1-DBC06BC40558}"/>
              </a:ext>
            </a:extLst>
          </p:cNvPr>
          <p:cNvSpPr>
            <a:spLocks noGrp="1"/>
          </p:cNvSpPr>
          <p:nvPr/>
        </p:nvSpPr>
        <p:spPr>
          <a:xfrm>
            <a:off x="4400550" y="3190875"/>
            <a:ext cx="33909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4" name="提供信息">
            <a:extLst>
              <a:ext uri="{FF2B5EF4-FFF2-40B4-BE49-F238E27FC236}">
                <ns2:creationId id="{4396446A-44A8-42C8-A27D-4D27A2CCCFD1}"/>
              </a:ext>
            </a:extLst>
          </p:cNvPr>
          <p:cNvSpPr>
            <a:spLocks noGrp="1"/>
          </p:cNvSpPr>
          <p:nvPr/>
        </p:nvSpPr>
        <p:spPr>
          <a:xfrm>
            <a:off x="4400550" y="3400425"/>
            <a:ext cx="3390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提供信息</a:t>
            </a:r>
          </a:p>
        </p:txBody>
      </p:sp>
      <p:sp>
        <p:nvSpPr>
          <p:cNvPr id="15" name="需要哪些样本、&#10;资料和具体要求？">
            <a:extLst>
              <a:ext uri="{FF2B5EF4-FFF2-40B4-BE49-F238E27FC236}">
                <ns2:creationId id="{CE444AF0-498E-4BE1-9700-FA3992623085}"/>
              </a:ext>
            </a:extLst>
          </p:cNvPr>
          <p:cNvSpPr>
            <a:spLocks noGrp="1"/>
          </p:cNvSpPr>
          <p:nvPr/>
        </p:nvSpPr>
        <p:spPr>
          <a:xfrm>
            <a:off x="4400550" y="4076700"/>
            <a:ext cx="3390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需要哪些样本、</a:t>
            </a: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资料和具体要求？</a:t>
            </a:r>
          </a:p>
        </p:txBody>
      </p:sp>
      <p:sp>
        <p:nvSpPr>
          <p:cNvPr id="16" name="03">
            <a:extLst>
              <a:ext uri="{FF2B5EF4-FFF2-40B4-BE49-F238E27FC236}">
                <ns2:creationId id="{92CB297B-D552-4D14-90D0-513F5B64B014}"/>
              </a:ext>
            </a:extLst>
          </p:cNvPr>
          <p:cNvSpPr>
            <a:spLocks noGrp="1"/>
          </p:cNvSpPr>
          <p:nvPr/>
        </p:nvSpPr>
        <p:spPr>
          <a:xfrm>
            <a:off x="8191500" y="2447925"/>
            <a:ext cx="3390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">
            <a:extLst>
              <a:ext uri="{FF2B5EF4-FFF2-40B4-BE49-F238E27FC236}">
                <ns2:creationId id="{DE6BC070-E5F6-46B6-9F83-6C6CADA12AF0}"/>
              </a:ext>
            </a:extLst>
          </p:cNvPr>
          <p:cNvSpPr>
            <a:spLocks noGrp="1"/>
          </p:cNvSpPr>
          <p:nvPr/>
        </p:nvSpPr>
        <p:spPr>
          <a:xfrm>
            <a:off x="8191500" y="3190875"/>
            <a:ext cx="33909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8" name="检查与修改">
            <a:extLst>
              <a:ext uri="{FF2B5EF4-FFF2-40B4-BE49-F238E27FC236}">
                <ns2:creationId id="{ADD4EEAC-3EBF-4A86-BD29-2A66CAB0A22C}"/>
              </a:ext>
            </a:extLst>
          </p:cNvPr>
          <p:cNvSpPr>
            <a:spLocks noGrp="1"/>
          </p:cNvSpPr>
          <p:nvPr/>
        </p:nvSpPr>
        <p:spPr>
          <a:xfrm>
            <a:off x="8191500" y="3400425"/>
            <a:ext cx="3390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检查与修改</a:t>
            </a:r>
          </a:p>
        </p:txBody>
      </p:sp>
      <p:sp>
        <p:nvSpPr>
          <p:cNvPr id="19" name="运行后是否符合要求？&#10;下一步改哪里？">
            <a:extLst>
              <a:ext uri="{FF2B5EF4-FFF2-40B4-BE49-F238E27FC236}">
                <ns2:creationId id="{DEBBD3A3-2AAC-4EBD-B20C-3F444241A164}"/>
              </a:ext>
            </a:extLst>
          </p:cNvPr>
          <p:cNvSpPr>
            <a:spLocks noGrp="1"/>
          </p:cNvSpPr>
          <p:nvPr/>
        </p:nvSpPr>
        <p:spPr>
          <a:xfrm>
            <a:off x="8191500" y="4076700"/>
            <a:ext cx="3390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运行后是否符合要求？</a:t>
            </a: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下一步改哪里？</a:t>
            </a:r>
          </a:p>
        </p:txBody>
      </p:sp>
      <p:sp>
        <p:nvSpPr>
          <p:cNvPr id="20" name="">
            <a:extLst>
              <a:ext uri="{FF2B5EF4-FFF2-40B4-BE49-F238E27FC236}">
                <ns2:creationId id="{B80F1F86-71DA-4817-8D37-FF4903729ACA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1" name="AI可以协助很多步骤，使用者仍需作出判断。">
            <a:extLst>
              <a:ext uri="{FF2B5EF4-FFF2-40B4-BE49-F238E27FC236}">
                <ns2:creationId id="{3A91FDB3-89D3-4CE1-A5E9-A8133B804851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AI可以协助很多步骤，使用者仍需作出判断。</a:t>
            </a:r>
          </a:p>
        </p:txBody>
      </p:sp>
    </p:spTree>
    <p:extLst>
      <p:ext uri="{BB962C8B-B14F-4D97-AF65-F5344CB8AC3E}">
        <p14:creationId val="1564138987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92F0AF21-96F9-4A7A-A167-F94449AF7C2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核对回答与选择工具">
            <a:extLst>
              <a:ext uri="{FF2B5EF4-FFF2-40B4-BE49-F238E27FC236}">
                <ns2:creationId id="{043F4A85-828D-4866-9DDE-957BEFD13C89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核对回答与选择工具</a:t>
            </a:r>
          </a:p>
        </p:txBody>
      </p:sp>
      <p:sp>
        <p:nvSpPr>
          <p:cNvPr id="3" name="这段回答有依据吗？">
            <a:extLst>
              <a:ext uri="{FF2B5EF4-FFF2-40B4-BE49-F238E27FC236}">
                <ns2:creationId id="{C3384D5A-FC3B-4839-AF16-C32218FA5EEF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这段回答有依据吗？</a:t>
            </a:r>
          </a:p>
        </p:txBody>
      </p:sp>
      <p:sp>
        <p:nvSpPr>
          <p:cNvPr id="4" name="">
            <a:extLst>
              <a:ext uri="{FF2B5EF4-FFF2-40B4-BE49-F238E27FC236}">
                <ns2:creationId id="{5A242064-2C53-49BB-A167-DAAD8E15944E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CADB6DB4-91B1-4C66-B50C-38B293BD7A4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33">
            <a:extLst>
              <a:ext uri="{FF2B5EF4-FFF2-40B4-BE49-F238E27FC236}">
                <ns2:creationId id="{D9E872C8-4999-4775-A279-022BF319A173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33</a:t>
            </a:r>
          </a:p>
        </p:txBody>
      </p:sp>
      <p:sp>
        <p:nvSpPr>
          <p:cNvPr id="7" name="虚构课堂资料 · 教师编写的示例回答">
            <a:extLst>
              <a:ext uri="{FF2B5EF4-FFF2-40B4-BE49-F238E27FC236}">
                <ns2:creationId id="{E812B6EC-70EE-425A-8A5A-6BB62770F68D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虚构课堂资料 · 教师编写的示例回答</a:t>
            </a:r>
          </a:p>
        </p:txBody>
      </p:sp>
      <p:sp>
        <p:nvSpPr>
          <p:cNvPr id="8" name="">
            <a:extLst>
              <a:ext uri="{FF2B5EF4-FFF2-40B4-BE49-F238E27FC236}">
                <ns2:creationId id="{9904FA83-5B1C-4F0E-A892-E661DF6E7B13}"/>
              </a:ext>
            </a:extLst>
          </p:cNvPr>
          <p:cNvSpPr>
            <a:spLocks noGrp="1"/>
          </p:cNvSpPr>
          <p:nvPr/>
        </p:nvSpPr>
        <p:spPr>
          <a:xfrm>
            <a:off x="609600" y="2486025"/>
            <a:ext cx="5067300" cy="2676525"/>
          </a:xfrm>
          <a:prstGeom prst="rect">
            <a:avLst/>
          </a:prstGeom>
          <a:solidFill>
            <a:srgbClr val="EFF5F9"/>
          </a:solidFill>
          <a:ln w="0">
            <a:noFill/>
          </a:ln>
        </p:spPr>
      </p:sp>
      <p:sp>
        <p:nvSpPr>
          <p:cNvPr id="9" name="星河天文社资料">
            <a:extLst>
              <a:ext uri="{FF2B5EF4-FFF2-40B4-BE49-F238E27FC236}">
                <ns2:creationId id="{304A9716-8562-4266-B6C1-98E88219707D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46101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星河天文社资料</a:t>
            </a:r>
          </a:p>
        </p:txBody>
      </p:sp>
      <p:sp>
        <p:nvSpPr>
          <p:cNvPr id="10" name="每周五16:30，科学楼302。&#10;活动：星空观察、模型制作。&#10;报名：找社团老师。">
            <a:extLst>
              <a:ext uri="{FF2B5EF4-FFF2-40B4-BE49-F238E27FC236}">
                <ns2:creationId id="{0E06FAD0-8846-4001-9BD2-B39F2A5C31A7}"/>
              </a:ext>
            </a:extLst>
          </p:cNvPr>
          <p:cNvSpPr>
            <a:spLocks noGrp="1"/>
          </p:cNvSpPr>
          <p:nvPr/>
        </p:nvSpPr>
        <p:spPr>
          <a:xfrm>
            <a:off x="838200" y="3305175"/>
            <a:ext cx="4610100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每周五16:30，科学楼302。</a:t>
            </a:r>
          </a:p>
          <a:p>
            <a:pPr algn="l">
              <a:lnSpc>
                <a:spcPct val="122000"/>
              </a:lnSpc>
              <a:buNone/>
              <a:defRPr sz="21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活动：星空观察、模型制作。</a:t>
            </a:r>
          </a:p>
          <a:p>
            <a:pPr algn="l">
              <a:lnSpc>
                <a:spcPct val="122000"/>
              </a:lnSpc>
              <a:buNone/>
              <a:defRPr sz="21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报名：找社团老师。</a:t>
            </a:r>
          </a:p>
        </p:txBody>
      </p:sp>
      <p:sp>
        <p:nvSpPr>
          <p:cNvPr id="11" name="待检查的回答">
            <a:extLst>
              <a:ext uri="{FF2B5EF4-FFF2-40B4-BE49-F238E27FC236}">
                <ns2:creationId id="{1A9D25A5-771F-493E-8FEC-459181EEF503}"/>
              </a:ext>
            </a:extLst>
          </p:cNvPr>
          <p:cNvSpPr>
            <a:spLocks noGrp="1"/>
          </p:cNvSpPr>
          <p:nvPr/>
        </p:nvSpPr>
        <p:spPr>
          <a:xfrm>
            <a:off x="6515100" y="2686050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待检查的回答</a:t>
            </a:r>
          </a:p>
        </p:txBody>
      </p:sp>
      <p:sp>
        <p:nvSpPr>
          <p:cNvPr id="12" name="“每周五16:30活动，&#10;每学期收取50元材料费。”">
            <a:extLst>
              <a:ext uri="{FF2B5EF4-FFF2-40B4-BE49-F238E27FC236}">
                <ns2:creationId id="{2C174531-C7D7-417C-9C4C-5E9DDFA6EAF8}"/>
              </a:ext>
            </a:extLst>
          </p:cNvPr>
          <p:cNvSpPr>
            <a:spLocks noGrp="1"/>
          </p:cNvSpPr>
          <p:nvPr/>
        </p:nvSpPr>
        <p:spPr>
          <a:xfrm>
            <a:off x="6515100" y="3305175"/>
            <a:ext cx="5067300" cy="1419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“每周五16:30活动，</a:t>
            </a:r>
          </a:p>
          <a:p>
            <a:pPr algn="l">
              <a:lnSpc>
                <a:spcPct val="122000"/>
              </a:lnSpc>
              <a:buNone/>
              <a:def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每学期收取50元材料费。”</a:t>
            </a:r>
          </a:p>
        </p:txBody>
      </p:sp>
      <p:sp>
        <p:nvSpPr>
          <p:cNvPr id="13" name="">
            <a:extLst>
              <a:ext uri="{FF2B5EF4-FFF2-40B4-BE49-F238E27FC236}">
                <ns2:creationId id="{531694DE-6378-4B7B-BFBC-628022221A34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4" name="分别核对：时间有没有依据？费用有没有依据？">
            <a:extLst>
              <a:ext uri="{FF2B5EF4-FFF2-40B4-BE49-F238E27FC236}">
                <ns2:creationId id="{26A6ECB6-797E-4FF0-9A36-D2065D02DE49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分别核对：时间有没有依据？费用有没有依据？</a:t>
            </a:r>
          </a:p>
        </p:txBody>
      </p:sp>
    </p:spTree>
    <p:extLst>
      <p:ext uri="{BB962C8B-B14F-4D97-AF65-F5344CB8AC3E}">
        <p14:creationId val="1785366552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BAEF8CE4-93A1-47F1-A90C-99408CA3369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核对回答与选择工具">
            <a:extLst>
              <a:ext uri="{FF2B5EF4-FFF2-40B4-BE49-F238E27FC236}">
                <ns2:creationId id="{CCF2A5E2-1372-49E4-8E3B-35173FF19C2F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核对回答与选择工具</a:t>
            </a:r>
          </a:p>
        </p:txBody>
      </p:sp>
      <p:sp>
        <p:nvSpPr>
          <p:cNvPr id="3" name="有依据，还是需要核实？">
            <a:extLst>
              <a:ext uri="{FF2B5EF4-FFF2-40B4-BE49-F238E27FC236}">
                <ns2:creationId id="{651A629A-1ED4-4973-9249-5C52150D5034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有依据，还是需要核实？</a:t>
            </a:r>
          </a:p>
        </p:txBody>
      </p:sp>
      <p:sp>
        <p:nvSpPr>
          <p:cNvPr id="4" name="">
            <a:extLst>
              <a:ext uri="{FF2B5EF4-FFF2-40B4-BE49-F238E27FC236}">
                <ns2:creationId id="{A2A09290-EC68-4288-8D12-44323DB9733C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219399BC-93FC-4732-8D0F-B9BE44DE5A58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34">
            <a:extLst>
              <a:ext uri="{FF2B5EF4-FFF2-40B4-BE49-F238E27FC236}">
                <ns2:creationId id="{B250FF3C-473F-46CD-85B4-862EAB89D529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34</a:t>
            </a:r>
          </a:p>
        </p:txBody>
      </p:sp>
      <p:sp>
        <p:nvSpPr>
          <p:cNvPr id="7" name="">
            <a:extLst>
              <a:ext uri="{FF2B5EF4-FFF2-40B4-BE49-F238E27FC236}">
                <ns2:creationId id="{54286FF3-1EBD-48F6-A82C-01C26A5452F2}"/>
              </a:ext>
            </a:extLst>
          </p:cNvPr>
          <p:cNvSpPr>
            <a:spLocks noGrp="1"/>
          </p:cNvSpPr>
          <p:nvPr/>
        </p:nvSpPr>
        <p:spPr>
          <a:xfrm>
            <a:off x="6048375" y="2343150"/>
            <a:ext cx="9525" cy="261937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8" name="每周五16:30">
            <a:extLst>
              <a:ext uri="{FF2B5EF4-FFF2-40B4-BE49-F238E27FC236}">
                <ns2:creationId id="{638B678D-433A-4F4D-9811-9F23EB21A2CA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每周五16:30</a:t>
            </a:r>
          </a:p>
        </p:txBody>
      </p:sp>
      <p:sp>
        <p:nvSpPr>
          <p:cNvPr id="9" name="原资料明确写了活动时间。&#10;这条说法有依据。">
            <a:extLst>
              <a:ext uri="{FF2B5EF4-FFF2-40B4-BE49-F238E27FC236}">
                <ns2:creationId id="{C75DBAA1-8465-4A40-A598-C817B1B35396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50673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原资料明确写了活动时间。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这条说法有依据。</a:t>
            </a:r>
          </a:p>
        </p:txBody>
      </p:sp>
      <p:sp>
        <p:nvSpPr>
          <p:cNvPr id="10" name="每学期50元材料费">
            <a:extLst>
              <a:ext uri="{FF2B5EF4-FFF2-40B4-BE49-F238E27FC236}">
                <ns2:creationId id="{67238863-8DB6-4609-B66D-BB553D4AC6B9}"/>
              </a:ext>
            </a:extLst>
          </p:cNvPr>
          <p:cNvSpPr>
            <a:spLocks noGrp="1"/>
          </p:cNvSpPr>
          <p:nvPr/>
        </p:nvSpPr>
        <p:spPr>
          <a:xfrm>
            <a:off x="6515100" y="2390775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每学期50元材料费</a:t>
            </a:r>
          </a:p>
        </p:txBody>
      </p:sp>
      <p:sp>
        <p:nvSpPr>
          <p:cNvPr id="11" name="原资料没有收费信息。&#10;目前无法据此确认。">
            <a:extLst>
              <a:ext uri="{FF2B5EF4-FFF2-40B4-BE49-F238E27FC236}">
                <ns2:creationId id="{22EAD518-051E-4AD3-89BC-929CA4CD84D1}"/>
              </a:ext>
            </a:extLst>
          </p:cNvPr>
          <p:cNvSpPr>
            <a:spLocks noGrp="1"/>
          </p:cNvSpPr>
          <p:nvPr/>
        </p:nvSpPr>
        <p:spPr>
          <a:xfrm>
            <a:off x="6515100" y="2962275"/>
            <a:ext cx="50673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原资料没有收费信息。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目前无法据此确认。</a:t>
            </a:r>
          </a:p>
        </p:txBody>
      </p:sp>
      <p:sp>
        <p:nvSpPr>
          <p:cNvPr id="12" name="下一步：查社团正式通知，或向社团老师询问。">
            <a:extLst>
              <a:ext uri="{FF2B5EF4-FFF2-40B4-BE49-F238E27FC236}">
                <ns2:creationId id="{97044534-B98D-4F9D-B136-83A3294E3BA9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下一步：查社团正式通知，或向社团老师询问。</a:t>
            </a:r>
          </a:p>
        </p:txBody>
      </p:sp>
      <p:sp>
        <p:nvSpPr>
          <p:cNvPr id="13" name="">
            <a:extLst>
              <a:ext uri="{FF2B5EF4-FFF2-40B4-BE49-F238E27FC236}">
                <ns2:creationId id="{19FD5152-6C0B-4A8D-82E9-825D8F5E6959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4" name="“资料没写”不等于“现实中一定不存在”。">
            <a:extLst>
              <a:ext uri="{FF2B5EF4-FFF2-40B4-BE49-F238E27FC236}">
                <ns2:creationId id="{92FCDEDA-5D98-4170-BC82-179A3E14F3E0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“资料没写”不等于“现实中一定不存在”。</a:t>
            </a:r>
          </a:p>
        </p:txBody>
      </p:sp>
    </p:spTree>
    <p:extLst>
      <p:ext uri="{BB962C8B-B14F-4D97-AF65-F5344CB8AC3E}">
        <p14:creationId val="1974238597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ED9B601A-A0CA-4152-9C98-A274E48A5B5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核对回答与选择工具">
            <a:extLst>
              <a:ext uri="{FF2B5EF4-FFF2-40B4-BE49-F238E27FC236}">
                <ns2:creationId id="{D1B3B876-EA94-4E4E-B47C-D21ABA5AC2D0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核对回答与选择工具</a:t>
            </a:r>
          </a:p>
        </p:txBody>
      </p:sp>
      <p:sp>
        <p:nvSpPr>
          <p:cNvPr id="3" name="按任务选择工具">
            <a:extLst>
              <a:ext uri="{FF2B5EF4-FFF2-40B4-BE49-F238E27FC236}">
                <ns2:creationId id="{54560E0D-D5DA-4B72-96FF-8C411A5416B3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按任务选择工具</a:t>
            </a:r>
          </a:p>
        </p:txBody>
      </p:sp>
      <p:sp>
        <p:nvSpPr>
          <p:cNvPr id="4" name="">
            <a:extLst>
              <a:ext uri="{FF2B5EF4-FFF2-40B4-BE49-F238E27FC236}">
                <ns2:creationId id="{E1BCF49D-99EB-46C2-8321-51DF4DC25E3B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BC0904DD-FD9A-486D-A4BC-853C19B7CEBA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35">
            <a:extLst>
              <a:ext uri="{FF2B5EF4-FFF2-40B4-BE49-F238E27FC236}">
                <ns2:creationId id="{49C2BDEC-3739-443D-95BF-04A8C5494533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35</a:t>
            </a:r>
          </a:p>
        </p:txBody>
      </p:sp>
      <p:sp>
        <p:nvSpPr>
          <p:cNvPr id="7" name="先说明需要完成什么，再选择做法。">
            <a:extLst>
              <a:ext uri="{FF2B5EF4-FFF2-40B4-BE49-F238E27FC236}">
                <ns2:creationId id="{9DA4257B-8804-4061-A817-C70E4912A879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先说明需要完成什么，再选择做法。</a:t>
            </a:r>
          </a:p>
        </p:txBody>
      </p:sp>
      <p:sp>
        <p:nvSpPr>
          <p:cNvPr id="8" name="">
            <a:extLst>
              <a:ext uri="{FF2B5EF4-FFF2-40B4-BE49-F238E27FC236}">
                <ns2:creationId id="{261A684D-9907-4585-BAB8-D130F8E2767B}"/>
              </a:ext>
            </a:extLst>
          </p:cNvPr>
          <p:cNvSpPr>
            <a:spLocks noGrp="1"/>
          </p:cNvSpPr>
          <p:nvPr/>
        </p:nvSpPr>
        <p:spPr>
          <a:xfrm>
            <a:off x="6048375" y="2343150"/>
            <a:ext cx="9525" cy="261937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9" name="固定时间提醒">
            <a:extLst>
              <a:ext uri="{FF2B5EF4-FFF2-40B4-BE49-F238E27FC236}">
                <ns2:creationId id="{D5C0C891-39F8-4C10-8C14-7F717E769D7C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固定时间提醒</a:t>
            </a:r>
          </a:p>
        </p:txBody>
      </p:sp>
      <p:sp>
        <p:nvSpPr>
          <p:cNvPr id="10" name="每周五17:00提醒带运动鞋。&#10;&#10;时间与内容固定，&#10;日历或定时程序就能完成。">
            <a:extLst>
              <a:ext uri="{FF2B5EF4-FFF2-40B4-BE49-F238E27FC236}">
                <ns2:creationId id="{ADB704D9-C26D-4DF8-B2EE-EA4C80F1CD2B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50673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每周五17:00提醒带运动鞋。</a:t>
            </a:r>
          </a:p>
          <a:p>
            <a:r>
              <a:t/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时间与内容固定，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日历或定时程序就能完成。</a:t>
            </a:r>
          </a:p>
        </p:txBody>
      </p:sp>
      <p:sp>
        <p:nvSpPr>
          <p:cNvPr id="11" name="回答社团的不同问题">
            <a:extLst>
              <a:ext uri="{FF2B5EF4-FFF2-40B4-BE49-F238E27FC236}">
                <ns2:creationId id="{700C14CF-0C0A-4E45-BE9D-AF8CCFB22974}"/>
              </a:ext>
            </a:extLst>
          </p:cNvPr>
          <p:cNvSpPr>
            <a:spLocks noGrp="1"/>
          </p:cNvSpPr>
          <p:nvPr/>
        </p:nvSpPr>
        <p:spPr>
          <a:xfrm>
            <a:off x="6515100" y="2390775"/>
            <a:ext cx="5067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回答社团的不同问题</a:t>
            </a:r>
          </a:p>
        </p:txBody>
      </p:sp>
      <p:sp>
        <p:nvSpPr>
          <p:cNvPr id="12" name="问题表达不同，资料内容较多。&#10;&#10;可考虑语言模型配资料检索，&#10;并核对关键事实。">
            <a:extLst>
              <a:ext uri="{FF2B5EF4-FFF2-40B4-BE49-F238E27FC236}">
                <ns2:creationId id="{D726AA10-C710-4C4F-A301-8442B382AE73}"/>
              </a:ext>
            </a:extLst>
          </p:cNvPr>
          <p:cNvSpPr>
            <a:spLocks noGrp="1"/>
          </p:cNvSpPr>
          <p:nvPr/>
        </p:nvSpPr>
        <p:spPr>
          <a:xfrm>
            <a:off x="6515100" y="2962275"/>
            <a:ext cx="5067300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问题表达不同，资料内容较多。</a:t>
            </a:r>
          </a:p>
          <a:p>
            <a:r>
              <a:t/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可考虑语言模型配资料检索，</a:t>
            </a:r>
          </a:p>
          <a:p>
            <a:pPr algn="l">
              <a:lnSpc>
                <a:spcPct val="122000"/>
              </a:lnSpc>
              <a:buNone/>
              <a:def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并核对关键事实。</a:t>
            </a:r>
          </a:p>
        </p:txBody>
      </p:sp>
      <p:sp>
        <p:nvSpPr>
          <p:cNvPr id="13" name="">
            <a:extLst>
              <a:ext uri="{FF2B5EF4-FFF2-40B4-BE49-F238E27FC236}">
                <ns2:creationId id="{E5BC8A6E-A100-41DC-9624-991E08E6C407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4" name="资料少、问题固定时，整理好的问答页也可能够用。">
            <a:extLst>
              <a:ext uri="{FF2B5EF4-FFF2-40B4-BE49-F238E27FC236}">
                <ns2:creationId id="{E55B5502-BD6A-488F-89B6-AA8C363F6528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资料少、问题固定时，整理好的问答页也可能够用。</a:t>
            </a:r>
          </a:p>
        </p:txBody>
      </p:sp>
    </p:spTree>
    <p:extLst>
      <p:ext uri="{BB962C8B-B14F-4D97-AF65-F5344CB8AC3E}">
        <p14:creationId val="1522544521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">
            <a:extLst>
              <a:ext uri="{FF2B5EF4-FFF2-40B4-BE49-F238E27FC236}">
                <ns2:creationId id="{B4B06D81-C8DD-4035-AACA-9D3A4109FBB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理解 AI 的表达">
            <a:extLst>
              <a:ext uri="{FF2B5EF4-FFF2-40B4-BE49-F238E27FC236}">
                <ns2:creationId id="{4B326F5C-2DC4-4557-AB7A-AEE82A0CED2E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理解 AI 的表达</a:t>
            </a:r>
          </a:p>
        </p:txBody>
      </p:sp>
      <p:sp>
        <p:nvSpPr>
          <p:cNvPr id="3" name="怎样理解AI说的“很高兴”">
            <a:extLst>
              <a:ext uri="{FF2B5EF4-FFF2-40B4-BE49-F238E27FC236}">
                <ns2:creationId id="{B00E4F90-F765-4405-9DED-4EAE879A70B6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怎样理解AI说的“很高兴”</a:t>
            </a:r>
          </a:p>
        </p:txBody>
      </p:sp>
      <p:sp>
        <p:nvSpPr>
          <p:cNvPr id="4" name="">
            <a:extLst>
              <a:ext uri="{FF2B5EF4-FFF2-40B4-BE49-F238E27FC236}">
                <ns2:creationId id="{CCF51077-A913-4510-8CBF-DC0D72F87692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900B3C3B-C5A7-4795-BF12-49E74773CCFA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36">
            <a:extLst>
              <a:ext uri="{FF2B5EF4-FFF2-40B4-BE49-F238E27FC236}">
                <ns2:creationId id="{FED60BC5-6C56-4255-A8AE-24B039F3FF2C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36</a:t>
            </a:r>
          </a:p>
        </p:txBody>
      </p:sp>
      <p:sp>
        <p:nvSpPr>
          <p:cNvPr id="7" name="“很高兴帮你完成这个作品。”">
            <a:extLst>
              <a:ext uri="{FF2B5EF4-FFF2-40B4-BE49-F238E27FC236}">
                <ns2:creationId id="{EBF81992-F92F-4D47-ABE8-EA6FA243BE06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4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“很高兴帮你完成这个作品。”</a:t>
            </a:r>
          </a:p>
        </p:txBody>
      </p:sp>
      <p:sp>
        <p:nvSpPr>
          <p:cNvPr id="8" name="">
            <a:extLst>
              <a:ext uri="{FF2B5EF4-FFF2-40B4-BE49-F238E27FC236}">
                <ns2:creationId id="{CA7AFB1C-E0F2-43FC-840A-73CD323CAD97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9" name="语言模型能根据上下文生成合适的表达。&#10;仅凭这句话，不能判断它有人的感受和经历。">
            <a:extLst>
              <a:ext uri="{FF2B5EF4-FFF2-40B4-BE49-F238E27FC236}">
                <ns2:creationId id="{88527453-E388-434E-A8B7-EC0448C652CB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10972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语言模型能根据上下文生成合适的表达。</a:t>
            </a:r>
          </a:p>
          <a:p>
            <a:pPr algn="l">
              <a:lnSpc>
                <a:spcPct val="122000"/>
              </a:lnSpc>
              <a:buNone/>
              <a:defRPr sz="24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仅凭这句话，不能判断它有人的感受和经历。</a:t>
            </a:r>
          </a:p>
        </p:txBody>
      </p:sp>
      <p:sp>
        <p:nvSpPr>
          <p:cNvPr id="10" name="">
            <a:extLst>
              <a:ext uri="{FF2B5EF4-FFF2-40B4-BE49-F238E27FC236}">
                <ns2:creationId id="{A6D8D596-54CB-4BBD-B7B9-440F07FBB7A7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1" name="可以自然交流，也要理解它怎样生成回答。">
            <a:extLst>
              <a:ext uri="{FF2B5EF4-FFF2-40B4-BE49-F238E27FC236}">
                <ns2:creationId id="{98ED75B5-7B95-406E-AFA0-6921790C44B5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可以自然交流，也要理解它怎样生成回答。</a:t>
            </a:r>
          </a:p>
        </p:txBody>
      </p:sp>
    </p:spTree>
    <p:extLst>
      <p:ext uri="{BB962C8B-B14F-4D97-AF65-F5344CB8AC3E}">
        <p14:creationId val="2050993577"/>
      </p:ext>
    </p:extLst>
  </p:cSld>
</p:sld>
</file>

<file path=ppt/slides/slide3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C85C9B03-25CB-4ED8-B28A-10D8CFC1132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使用 AI 的具体做法">
            <a:extLst>
              <a:ext uri="{FF2B5EF4-FFF2-40B4-BE49-F238E27FC236}">
                <ns2:creationId id="{83E38DB4-89AA-4BDE-A9ED-91145202C9CA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使用 AI 的具体做法</a:t>
            </a:r>
          </a:p>
        </p:txBody>
      </p:sp>
      <p:sp>
        <p:nvSpPr>
          <p:cNvPr id="3" name="使用AI时的三次检查">
            <a:extLst>
              <a:ext uri="{FF2B5EF4-FFF2-40B4-BE49-F238E27FC236}">
                <ns2:creationId id="{180115E6-C8CA-40C4-B568-53E305AB27EC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使用AI时的三次检查</a:t>
            </a:r>
          </a:p>
        </p:txBody>
      </p:sp>
      <p:sp>
        <p:nvSpPr>
          <p:cNvPr id="4" name="">
            <a:extLst>
              <a:ext uri="{FF2B5EF4-FFF2-40B4-BE49-F238E27FC236}">
                <ns2:creationId id="{49034037-84D4-4A56-8276-E94D597B2C2F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3216F486-174B-4EA7-A517-6B60A5673BBB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37">
            <a:extLst>
              <a:ext uri="{FF2B5EF4-FFF2-40B4-BE49-F238E27FC236}">
                <ns2:creationId id="{1468F50F-3D14-4764-951B-5C2B637921B5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37</a:t>
            </a:r>
          </a:p>
        </p:txBody>
      </p:sp>
      <p:sp>
        <p:nvSpPr>
          <p:cNvPr id="7" name="01">
            <a:extLst>
              <a:ext uri="{FF2B5EF4-FFF2-40B4-BE49-F238E27FC236}">
                <ns2:creationId id="{C245B18C-ABA0-4431-A25A-4D0C83EE67B9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3390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8" name="">
            <a:extLst>
              <a:ext uri="{FF2B5EF4-FFF2-40B4-BE49-F238E27FC236}">
                <ns2:creationId id="{33CC5AEC-6104-48BF-B2BF-9549DE952E64}"/>
              </a:ext>
            </a:extLst>
          </p:cNvPr>
          <p:cNvSpPr>
            <a:spLocks noGrp="1"/>
          </p:cNvSpPr>
          <p:nvPr/>
        </p:nvSpPr>
        <p:spPr>
          <a:xfrm>
            <a:off x="609600" y="3076575"/>
            <a:ext cx="33909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9" name="提交资料前">
            <a:extLst>
              <a:ext uri="{FF2B5EF4-FFF2-40B4-BE49-F238E27FC236}">
                <ns2:creationId id="{39DD0DCB-F61D-44B9-BA82-3F1D629802CC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3390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提交资料前</a:t>
            </a:r>
          </a:p>
        </p:txBody>
      </p:sp>
      <p:sp>
        <p:nvSpPr>
          <p:cNvPr id="10" name="删除不必要的姓名、&#10;电话、住址和密码。">
            <a:extLst>
              <a:ext uri="{FF2B5EF4-FFF2-40B4-BE49-F238E27FC236}">
                <ns2:creationId id="{D47BB64D-5541-4190-BFC9-E925689ED888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3390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删除不必要的姓名、</a:t>
            </a: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电话、住址和密码。</a:t>
            </a:r>
          </a:p>
        </p:txBody>
      </p:sp>
      <p:sp>
        <p:nvSpPr>
          <p:cNvPr id="11" name="02">
            <a:extLst>
              <a:ext uri="{FF2B5EF4-FFF2-40B4-BE49-F238E27FC236}">
                <ns2:creationId id="{35093E58-A508-49B3-88BC-E8CD84EBDC4D}"/>
              </a:ext>
            </a:extLst>
          </p:cNvPr>
          <p:cNvSpPr>
            <a:spLocks noGrp="1"/>
          </p:cNvSpPr>
          <p:nvPr/>
        </p:nvSpPr>
        <p:spPr>
          <a:xfrm>
            <a:off x="4400550" y="2333625"/>
            <a:ext cx="3390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2" name="">
            <a:extLst>
              <a:ext uri="{FF2B5EF4-FFF2-40B4-BE49-F238E27FC236}">
                <ns2:creationId id="{4A6D364E-86A5-4CAE-9042-4BD5F97100AD}"/>
              </a:ext>
            </a:extLst>
          </p:cNvPr>
          <p:cNvSpPr>
            <a:spLocks noGrp="1"/>
          </p:cNvSpPr>
          <p:nvPr/>
        </p:nvSpPr>
        <p:spPr>
          <a:xfrm>
            <a:off x="4400550" y="3076575"/>
            <a:ext cx="33909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3" name="采用回答前">
            <a:extLst>
              <a:ext uri="{FF2B5EF4-FFF2-40B4-BE49-F238E27FC236}">
                <ns2:creationId id="{0C23F598-D1ED-49B4-83E4-20C12B13B42C}"/>
              </a:ext>
            </a:extLst>
          </p:cNvPr>
          <p:cNvSpPr>
            <a:spLocks noGrp="1"/>
          </p:cNvSpPr>
          <p:nvPr/>
        </p:nvSpPr>
        <p:spPr>
          <a:xfrm>
            <a:off x="4400550" y="3286125"/>
            <a:ext cx="3390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采用回答前</a:t>
            </a:r>
          </a:p>
        </p:txBody>
      </p:sp>
      <p:sp>
        <p:nvSpPr>
          <p:cNvPr id="14" name="核对日期、费用等&#10;关键事实，找到来源。">
            <a:extLst>
              <a:ext uri="{FF2B5EF4-FFF2-40B4-BE49-F238E27FC236}">
                <ns2:creationId id="{AA63B338-C1A2-429E-9E09-4D90E3E459E6}"/>
              </a:ext>
            </a:extLst>
          </p:cNvPr>
          <p:cNvSpPr>
            <a:spLocks noGrp="1"/>
          </p:cNvSpPr>
          <p:nvPr/>
        </p:nvSpPr>
        <p:spPr>
          <a:xfrm>
            <a:off x="4400550" y="3962400"/>
            <a:ext cx="3390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核对日期、费用等</a:t>
            </a: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关键事实，找到来源。</a:t>
            </a:r>
          </a:p>
        </p:txBody>
      </p:sp>
      <p:sp>
        <p:nvSpPr>
          <p:cNvPr id="15" name="03">
            <a:extLst>
              <a:ext uri="{FF2B5EF4-FFF2-40B4-BE49-F238E27FC236}">
                <ns2:creationId id="{324B0B01-BE09-4E40-BB7D-ED1ABDEAB9A7}"/>
              </a:ext>
            </a:extLst>
          </p:cNvPr>
          <p:cNvSpPr>
            <a:spLocks noGrp="1"/>
          </p:cNvSpPr>
          <p:nvPr/>
        </p:nvSpPr>
        <p:spPr>
          <a:xfrm>
            <a:off x="8191500" y="2333625"/>
            <a:ext cx="3390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6" name="">
            <a:extLst>
              <a:ext uri="{FF2B5EF4-FFF2-40B4-BE49-F238E27FC236}">
                <ns2:creationId id="{07F1C894-8362-454B-96F1-63E627B53540}"/>
              </a:ext>
            </a:extLst>
          </p:cNvPr>
          <p:cNvSpPr>
            <a:spLocks noGrp="1"/>
          </p:cNvSpPr>
          <p:nvPr/>
        </p:nvSpPr>
        <p:spPr>
          <a:xfrm>
            <a:off x="8191500" y="3076575"/>
            <a:ext cx="33909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7" name="交付作品前">
            <a:extLst>
              <a:ext uri="{FF2B5EF4-FFF2-40B4-BE49-F238E27FC236}">
                <ns2:creationId id="{3C035F64-F0C3-4FB9-B8F9-291C97214160}"/>
              </a:ext>
            </a:extLst>
          </p:cNvPr>
          <p:cNvSpPr>
            <a:spLocks noGrp="1"/>
          </p:cNvSpPr>
          <p:nvPr/>
        </p:nvSpPr>
        <p:spPr>
          <a:xfrm>
            <a:off x="8191500" y="3286125"/>
            <a:ext cx="33909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交付作品前</a:t>
            </a:r>
          </a:p>
        </p:txBody>
      </p:sp>
      <p:sp>
        <p:nvSpPr>
          <p:cNvPr id="18" name="自己运行一次，&#10;再请同学按说明试用。">
            <a:extLst>
              <a:ext uri="{FF2B5EF4-FFF2-40B4-BE49-F238E27FC236}">
                <ns2:creationId id="{60C85A98-7B61-4B53-8673-5985AC647293}"/>
              </a:ext>
            </a:extLst>
          </p:cNvPr>
          <p:cNvSpPr>
            <a:spLocks noGrp="1"/>
          </p:cNvSpPr>
          <p:nvPr/>
        </p:nvSpPr>
        <p:spPr>
          <a:xfrm>
            <a:off x="8191500" y="3962400"/>
            <a:ext cx="3390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自己运行一次，</a:t>
            </a: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再请同学按说明试用。</a:t>
            </a:r>
          </a:p>
        </p:txBody>
      </p:sp>
      <p:sp>
        <p:nvSpPr>
          <p:cNvPr id="19" name="">
            <a:extLst>
              <a:ext uri="{FF2B5EF4-FFF2-40B4-BE49-F238E27FC236}">
                <ns2:creationId id="{947C06DD-7E2A-4F7B-BAAA-C1C107EA2AC6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0" name="把检查落实到具体的资料、事实和操作。">
            <a:extLst>
              <a:ext uri="{FF2B5EF4-FFF2-40B4-BE49-F238E27FC236}">
                <ns2:creationId id="{C23B79DB-32F2-4727-9360-1E97CB67BE78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把检查落实到具体的资料、事实和操作。</a:t>
            </a:r>
          </a:p>
        </p:txBody>
      </p:sp>
    </p:spTree>
    <p:extLst>
      <p:ext uri="{BB962C8B-B14F-4D97-AF65-F5344CB8AC3E}">
        <p14:creationId val="300517986"/>
      </p:ext>
    </p:extLst>
  </p:cSld>
</p:sld>
</file>

<file path=ppt/slides/slide3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1" name="">
            <a:extLst>
              <a:ext uri="{FF2B5EF4-FFF2-40B4-BE49-F238E27FC236}">
                <ns2:creationId id="{C1582D68-17E2-40AD-9EBB-FBBC8ED81E8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提出作品想法">
            <a:extLst>
              <a:ext uri="{FF2B5EF4-FFF2-40B4-BE49-F238E27FC236}">
                <ns2:creationId id="{3780070F-8271-4324-933B-BF439C31E8D6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提出作品想法</a:t>
            </a:r>
          </a:p>
        </p:txBody>
      </p:sp>
      <p:sp>
        <p:nvSpPr>
          <p:cNvPr id="3" name="一个小工具，需要想清什么？">
            <a:extLst>
              <a:ext uri="{FF2B5EF4-FFF2-40B4-BE49-F238E27FC236}">
                <ns2:creationId id="{344D039B-861F-4D32-BB09-A652DE958944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一个小工具，需要想清什么？</a:t>
            </a:r>
          </a:p>
        </p:txBody>
      </p:sp>
      <p:sp>
        <p:nvSpPr>
          <p:cNvPr id="4" name="">
            <a:extLst>
              <a:ext uri="{FF2B5EF4-FFF2-40B4-BE49-F238E27FC236}">
                <ns2:creationId id="{98E05345-B78A-4C36-941A-07C6FE9CE562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D53CBF41-F3B2-4D61-9611-DEDFDE64F6B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38">
            <a:extLst>
              <a:ext uri="{FF2B5EF4-FFF2-40B4-BE49-F238E27FC236}">
                <ns2:creationId id="{B9C7124E-CFFD-4EB3-B9D3-6291C4B06332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38</a:t>
            </a:r>
          </a:p>
        </p:txBody>
      </p:sp>
      <p:sp>
        <p:nvSpPr>
          <p:cNvPr id="7" name="示例：帮助第一次参观校园展览的同学。">
            <a:extLst>
              <a:ext uri="{FF2B5EF4-FFF2-40B4-BE49-F238E27FC236}">
                <ns2:creationId id="{E4C5E9ED-EDDD-4386-A129-D02C9DE583BB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示例：帮助第一次参观校园展览的同学。</a:t>
            </a:r>
          </a:p>
        </p:txBody>
      </p:sp>
      <p:sp>
        <p:nvSpPr>
          <p:cNvPr id="8" name="给谁用">
            <a:extLst>
              <a:ext uri="{FF2B5EF4-FFF2-40B4-BE49-F238E27FC236}">
                <ns2:creationId id="{A484E1FF-4DAE-4E69-80DF-07DD28090BD5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给谁用</a:t>
            </a:r>
          </a:p>
        </p:txBody>
      </p:sp>
      <p:sp>
        <p:nvSpPr>
          <p:cNvPr id="9" name="第一次参观展览的同学">
            <a:extLst>
              <a:ext uri="{FF2B5EF4-FFF2-40B4-BE49-F238E27FC236}">
                <ns2:creationId id="{330FA5D9-DB5C-4693-9183-98ADE62742B2}"/>
              </a:ext>
            </a:extLst>
          </p:cNvPr>
          <p:cNvSpPr>
            <a:spLocks noGrp="1"/>
          </p:cNvSpPr>
          <p:nvPr/>
        </p:nvSpPr>
        <p:spPr>
          <a:xfrm>
            <a:off x="3762375" y="2438400"/>
            <a:ext cx="78200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第一次参观展览的同学</a:t>
            </a:r>
          </a:p>
        </p:txBody>
      </p:sp>
      <p:sp>
        <p:nvSpPr>
          <p:cNvPr id="10" name="">
            <a:extLst>
              <a:ext uri="{FF2B5EF4-FFF2-40B4-BE49-F238E27FC236}">
                <ns2:creationId id="{194A7C87-360C-4D7B-B0E1-5F5649214707}"/>
              </a:ext>
            </a:extLst>
          </p:cNvPr>
          <p:cNvSpPr>
            <a:spLocks noGrp="1"/>
          </p:cNvSpPr>
          <p:nvPr/>
        </p:nvSpPr>
        <p:spPr>
          <a:xfrm>
            <a:off x="3762375" y="3009900"/>
            <a:ext cx="7820025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1" name="做什么">
            <a:extLst>
              <a:ext uri="{FF2B5EF4-FFF2-40B4-BE49-F238E27FC236}">
                <ns2:creationId id="{FA0D4F97-8BE9-49BD-8256-C18F8594EAA8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做什么</a:t>
            </a:r>
          </a:p>
        </p:txBody>
      </p:sp>
      <p:sp>
        <p:nvSpPr>
          <p:cNvPr id="12" name="介绍一件展品，回答相关问题">
            <a:extLst>
              <a:ext uri="{FF2B5EF4-FFF2-40B4-BE49-F238E27FC236}">
                <ns2:creationId id="{641B6114-4659-4828-8CC5-961D74B4F6AA}"/>
              </a:ext>
            </a:extLst>
          </p:cNvPr>
          <p:cNvSpPr>
            <a:spLocks noGrp="1"/>
          </p:cNvSpPr>
          <p:nvPr/>
        </p:nvSpPr>
        <p:spPr>
          <a:xfrm>
            <a:off x="3762375" y="3190875"/>
            <a:ext cx="78200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介绍一件展品，回答相关问题</a:t>
            </a:r>
          </a:p>
        </p:txBody>
      </p:sp>
      <p:sp>
        <p:nvSpPr>
          <p:cNvPr id="13" name="">
            <a:extLst>
              <a:ext uri="{FF2B5EF4-FFF2-40B4-BE49-F238E27FC236}">
                <ns2:creationId id="{FA6AADA1-8569-41D9-A727-555355EA3A1B}"/>
              </a:ext>
            </a:extLst>
          </p:cNvPr>
          <p:cNvSpPr>
            <a:spLocks noGrp="1"/>
          </p:cNvSpPr>
          <p:nvPr/>
        </p:nvSpPr>
        <p:spPr>
          <a:xfrm>
            <a:off x="3762375" y="3762375"/>
            <a:ext cx="7820025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4" name="需要什么信息">
            <a:extLst>
              <a:ext uri="{FF2B5EF4-FFF2-40B4-BE49-F238E27FC236}">
                <ns2:creationId id="{552FD643-DF46-4FF2-9055-D82463C3AC1C}"/>
              </a:ext>
            </a:extLst>
          </p:cNvPr>
          <p:cNvSpPr>
            <a:spLocks noGrp="1"/>
          </p:cNvSpPr>
          <p:nvPr/>
        </p:nvSpPr>
        <p:spPr>
          <a:xfrm>
            <a:off x="609600" y="3971925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需要什么信息</a:t>
            </a:r>
          </a:p>
        </p:txBody>
      </p:sp>
      <p:sp>
        <p:nvSpPr>
          <p:cNvPr id="15" name="可靠的展品资料、参观者的问题">
            <a:extLst>
              <a:ext uri="{FF2B5EF4-FFF2-40B4-BE49-F238E27FC236}">
                <ns2:creationId id="{E1BD1A93-F0D7-4878-A593-8DF7C7F709B3}"/>
              </a:ext>
            </a:extLst>
          </p:cNvPr>
          <p:cNvSpPr>
            <a:spLocks noGrp="1"/>
          </p:cNvSpPr>
          <p:nvPr/>
        </p:nvSpPr>
        <p:spPr>
          <a:xfrm>
            <a:off x="3762375" y="3943350"/>
            <a:ext cx="78200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可靠的展品资料、参观者的问题</a:t>
            </a:r>
          </a:p>
        </p:txBody>
      </p:sp>
      <p:sp>
        <p:nvSpPr>
          <p:cNvPr id="16" name="">
            <a:extLst>
              <a:ext uri="{FF2B5EF4-FFF2-40B4-BE49-F238E27FC236}">
                <ns2:creationId id="{53748C61-1CC7-49EB-B35F-988EC9EB8FBE}"/>
              </a:ext>
            </a:extLst>
          </p:cNvPr>
          <p:cNvSpPr>
            <a:spLocks noGrp="1"/>
          </p:cNvSpPr>
          <p:nvPr/>
        </p:nvSpPr>
        <p:spPr>
          <a:xfrm>
            <a:off x="3762375" y="4514850"/>
            <a:ext cx="7820025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7" name="怎样检查">
            <a:extLst>
              <a:ext uri="{FF2B5EF4-FFF2-40B4-BE49-F238E27FC236}">
                <ns2:creationId id="{D9398366-7385-4157-97B4-6E2E5AE5389F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怎样检查</a:t>
            </a:r>
          </a:p>
        </p:txBody>
      </p:sp>
      <p:sp>
        <p:nvSpPr>
          <p:cNvPr id="18" name="请另一组核对回答依据，并试用">
            <a:extLst>
              <a:ext uri="{FF2B5EF4-FFF2-40B4-BE49-F238E27FC236}">
                <ns2:creationId id="{2697729F-3168-4EC6-ACC8-F78870FF382C}"/>
              </a:ext>
            </a:extLst>
          </p:cNvPr>
          <p:cNvSpPr>
            <a:spLocks noGrp="1"/>
          </p:cNvSpPr>
          <p:nvPr/>
        </p:nvSpPr>
        <p:spPr>
          <a:xfrm>
            <a:off x="3762375" y="4695825"/>
            <a:ext cx="78200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请另一组核对回答依据，并试用</a:t>
            </a:r>
          </a:p>
        </p:txBody>
      </p:sp>
      <p:sp>
        <p:nvSpPr>
          <p:cNvPr id="19" name="">
            <a:extLst>
              <a:ext uri="{FF2B5EF4-FFF2-40B4-BE49-F238E27FC236}">
                <ns2:creationId id="{C8C8B0AF-8975-4994-9AA7-F16DD1300ECA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0" name="主题可以不同，但使用者和任务要具体。">
            <a:extLst>
              <a:ext uri="{FF2B5EF4-FFF2-40B4-BE49-F238E27FC236}">
                <ns2:creationId id="{F4AE3787-8991-46B0-ADF7-FE886FC97BBB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主题可以不同，但使用者和任务要具体。</a:t>
            </a:r>
          </a:p>
        </p:txBody>
      </p:sp>
    </p:spTree>
    <p:extLst>
      <p:ext uri="{BB962C8B-B14F-4D97-AF65-F5344CB8AC3E}">
        <p14:creationId val="840604339"/>
      </p:ext>
    </p:extLst>
  </p:cSld>
</p:sld>
</file>

<file path=ppt/slides/slide3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2F23D6DC-E476-456D-8164-6BF42EB277B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课末记录">
            <a:extLst>
              <a:ext uri="{FF2B5EF4-FFF2-40B4-BE49-F238E27FC236}">
                <ns2:creationId id="{157CD583-4BDA-47B7-A9A4-68E801B3FD10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课末记录</a:t>
            </a:r>
          </a:p>
        </p:txBody>
      </p:sp>
      <p:sp>
        <p:nvSpPr>
          <p:cNvPr id="3" name="用四个问题回顾今天">
            <a:extLst>
              <a:ext uri="{FF2B5EF4-FFF2-40B4-BE49-F238E27FC236}">
                <ns2:creationId id="{5E381951-5261-4F9F-AE4E-0D2F76DC2E43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用四个问题回顾今天</a:t>
            </a:r>
          </a:p>
        </p:txBody>
      </p:sp>
      <p:sp>
        <p:nvSpPr>
          <p:cNvPr id="4" name="">
            <a:extLst>
              <a:ext uri="{FF2B5EF4-FFF2-40B4-BE49-F238E27FC236}">
                <ns2:creationId id="{F0DB3EF8-3CFC-4FE9-9576-750926655EF4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D3EB7ED7-8036-4AE3-8948-EF24B40F8C5E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39">
            <a:extLst>
              <a:ext uri="{FF2B5EF4-FFF2-40B4-BE49-F238E27FC236}">
                <ns2:creationId id="{70AC21A5-0C6B-4CE4-8A9A-B295DDDE8032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39</a:t>
            </a:r>
          </a:p>
        </p:txBody>
      </p:sp>
      <p:sp>
        <p:nvSpPr>
          <p:cNvPr id="7" name="独立填写，每题简短回答。第二题可以选今天的分类器。">
            <a:extLst>
              <a:ext uri="{FF2B5EF4-FFF2-40B4-BE49-F238E27FC236}">
                <ns2:creationId id="{0004A5E1-EA0E-4129-9D0C-2B44B0C85832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10934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独立填写，每题简短回答。第二题可以选今天的分类器。</a:t>
            </a:r>
          </a:p>
        </p:txBody>
      </p:sp>
      <p:sp>
        <p:nvSpPr>
          <p:cNvPr id="8" name="4分钟">
            <a:extLst>
              <a:ext uri="{FF2B5EF4-FFF2-40B4-BE49-F238E27FC236}">
                <ns2:creationId id="{0289E814-1A68-4831-B004-4CA188191602}"/>
              </a:ext>
            </a:extLst>
          </p:cNvPr>
          <p:cNvSpPr>
            <a:spLocks noGrp="1"/>
          </p:cNvSpPr>
          <p:nvPr/>
        </p:nvSpPr>
        <p:spPr>
          <a:xfrm>
            <a:off x="10248900" y="2000250"/>
            <a:ext cx="1333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80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4分钟</a:t>
            </a:r>
          </a:p>
        </p:txBody>
      </p:sp>
      <p:sp>
        <p:nvSpPr>
          <p:cNvPr id="9" name="01">
            <a:extLst>
              <a:ext uri="{FF2B5EF4-FFF2-40B4-BE49-F238E27FC236}">
                <ns2:creationId id="{3F3619A7-DF5F-4F1C-BB6E-D21854789ED9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685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0" name="你还想尝试哪项AI能力？为什么？">
            <a:extLst>
              <a:ext uri="{FF2B5EF4-FFF2-40B4-BE49-F238E27FC236}">
                <ns2:creationId id="{654E77CE-B585-4AF3-91C3-0AD6D6B0DC3E}"/>
              </a:ext>
            </a:extLst>
          </p:cNvPr>
          <p:cNvSpPr>
            <a:spLocks noGrp="1"/>
          </p:cNvSpPr>
          <p:nvPr/>
        </p:nvSpPr>
        <p:spPr>
          <a:xfrm>
            <a:off x="1619250" y="2571750"/>
            <a:ext cx="99631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你还想尝试哪项AI能力？为什么？</a:t>
            </a:r>
          </a:p>
        </p:txBody>
      </p:sp>
      <p:sp>
        <p:nvSpPr>
          <p:cNvPr id="11" name="">
            <a:extLst>
              <a:ext uri="{FF2B5EF4-FFF2-40B4-BE49-F238E27FC236}">
                <ns2:creationId id="{3F710298-24E8-4C8C-8EE0-66E28C3893F0}"/>
              </a:ext>
            </a:extLst>
          </p:cNvPr>
          <p:cNvSpPr>
            <a:spLocks noGrp="1"/>
          </p:cNvSpPr>
          <p:nvPr/>
        </p:nvSpPr>
        <p:spPr>
          <a:xfrm>
            <a:off x="1619250" y="3143250"/>
            <a:ext cx="996315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2" name="02">
            <a:extLst>
              <a:ext uri="{FF2B5EF4-FFF2-40B4-BE49-F238E27FC236}">
                <ns2:creationId id="{0CA046DC-CC10-4A13-96B3-28E3579745F3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685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选一个例子，说明输入、处理和输出。">
            <a:extLst>
              <a:ext uri="{FF2B5EF4-FFF2-40B4-BE49-F238E27FC236}">
                <ns2:creationId id="{81E2B651-1A24-4EC8-B028-A2038B699F91}"/>
              </a:ext>
            </a:extLst>
          </p:cNvPr>
          <p:cNvSpPr>
            <a:spLocks noGrp="1"/>
          </p:cNvSpPr>
          <p:nvPr/>
        </p:nvSpPr>
        <p:spPr>
          <a:xfrm>
            <a:off x="1619250" y="3381375"/>
            <a:ext cx="99631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选一个例子，说明输入、处理和输出。</a:t>
            </a:r>
          </a:p>
        </p:txBody>
      </p:sp>
      <p:sp>
        <p:nvSpPr>
          <p:cNvPr id="14" name="">
            <a:extLst>
              <a:ext uri="{FF2B5EF4-FFF2-40B4-BE49-F238E27FC236}">
                <ns2:creationId id="{3AB4D0ED-84DB-4BF2-AF7A-26636D23C42F}"/>
              </a:ext>
            </a:extLst>
          </p:cNvPr>
          <p:cNvSpPr>
            <a:spLocks noGrp="1"/>
          </p:cNvSpPr>
          <p:nvPr/>
        </p:nvSpPr>
        <p:spPr>
          <a:xfrm>
            <a:off x="1619250" y="3952875"/>
            <a:ext cx="996315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5" name="03">
            <a:extLst>
              <a:ext uri="{FF2B5EF4-FFF2-40B4-BE49-F238E27FC236}">
                <ns2:creationId id="{ABC5844E-6F71-4FBF-8F1F-984011AA9B72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685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6" name="怎样核实示例回答中的“50元材料费”？">
            <a:extLst>
              <a:ext uri="{FF2B5EF4-FFF2-40B4-BE49-F238E27FC236}">
                <ns2:creationId id="{7442B685-518B-4843-B1DF-0C8654B231A2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99631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怎样核实示例回答中的“50元材料费”？</a:t>
            </a:r>
          </a:p>
        </p:txBody>
      </p:sp>
      <p:sp>
        <p:nvSpPr>
          <p:cNvPr id="17" name="">
            <a:extLst>
              <a:ext uri="{FF2B5EF4-FFF2-40B4-BE49-F238E27FC236}">
                <ns2:creationId id="{E874F1FE-2DAB-482C-A7FE-B905E1827F67}"/>
              </a:ext>
            </a:extLst>
          </p:cNvPr>
          <p:cNvSpPr>
            <a:spLocks noGrp="1"/>
          </p:cNvSpPr>
          <p:nvPr/>
        </p:nvSpPr>
        <p:spPr>
          <a:xfrm>
            <a:off x="1619250" y="4762500"/>
            <a:ext cx="996315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8" name="04">
            <a:extLst>
              <a:ext uri="{FF2B5EF4-FFF2-40B4-BE49-F238E27FC236}">
                <ns2:creationId id="{CB1CFF45-E3AD-4867-BE37-734499E91097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685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9" name="你想给谁做什么工具？准备怎样检查？">
            <a:extLst>
              <a:ext uri="{FF2B5EF4-FFF2-40B4-BE49-F238E27FC236}">
                <ns2:creationId id="{2E4C1353-327F-4BA9-B7D4-46CC76840554}"/>
              </a:ext>
            </a:extLst>
          </p:cNvPr>
          <p:cNvSpPr>
            <a:spLocks noGrp="1"/>
          </p:cNvSpPr>
          <p:nvPr/>
        </p:nvSpPr>
        <p:spPr>
          <a:xfrm>
            <a:off x="1619250" y="5000625"/>
            <a:ext cx="99631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你想给谁做什么工具？准备怎样检查？</a:t>
            </a:r>
          </a:p>
        </p:txBody>
      </p:sp>
    </p:spTree>
    <p:extLst>
      <p:ext uri="{BB962C8B-B14F-4D97-AF65-F5344CB8AC3E}">
        <p14:creationId val="1461791720"/>
      </p:ext>
    </p:extLst>
  </p:cSld>
</p:sld>
</file>

<file path=ppt/slides/slide40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657D8D69-542D-42B3-A04D-BA4E9E849BD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课堂回顾">
            <a:extLst>
              <a:ext uri="{FF2B5EF4-FFF2-40B4-BE49-F238E27FC236}">
                <ns2:creationId id="{583E0652-0866-48D3-B8AF-AD6B0642A147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课堂回顾</a:t>
            </a:r>
          </a:p>
        </p:txBody>
      </p:sp>
      <p:sp>
        <p:nvSpPr>
          <p:cNvPr id="3" name="用分类器串起今天的发现">
            <a:extLst>
              <a:ext uri="{FF2B5EF4-FFF2-40B4-BE49-F238E27FC236}">
                <ns2:creationId id="{8F376BAD-CEB7-490D-AE42-A63641F30584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用分类器串起今天的发现</a:t>
            </a:r>
          </a:p>
        </p:txBody>
      </p:sp>
      <p:sp>
        <p:nvSpPr>
          <p:cNvPr id="4" name="">
            <a:extLst>
              <a:ext uri="{FF2B5EF4-FFF2-40B4-BE49-F238E27FC236}">
                <ns2:creationId id="{83709EA6-2AF4-4448-B448-6A26711748A9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11D73C11-FADE-401E-9583-B98080A3BD06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40">
            <a:extLst>
              <a:ext uri="{FF2B5EF4-FFF2-40B4-BE49-F238E27FC236}">
                <ns2:creationId id="{710820EA-C389-40D3-9DAE-C218112156EA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40</a:t>
            </a:r>
          </a:p>
        </p:txBody>
      </p:sp>
      <p:sp>
        <p:nvSpPr>
          <p:cNvPr id="7" name="任务">
            <a:extLst>
              <a:ext uri="{FF2B5EF4-FFF2-40B4-BE49-F238E27FC236}">
                <ns2:creationId id="{D223E3FB-C7AB-44B5-AEF6-74CB45A84857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任务</a:t>
            </a:r>
          </a:p>
        </p:txBody>
      </p:sp>
      <p:sp>
        <p:nvSpPr>
          <p:cNvPr id="8" name="根据摄像头图片，预测物品类别。">
            <a:extLst>
              <a:ext uri="{FF2B5EF4-FFF2-40B4-BE49-F238E27FC236}">
                <ns2:creationId id="{CF7B4975-1812-4A6B-A487-2E714036068B}"/>
              </a:ext>
            </a:extLst>
          </p:cNvPr>
          <p:cNvSpPr>
            <a:spLocks noGrp="1"/>
          </p:cNvSpPr>
          <p:nvPr/>
        </p:nvSpPr>
        <p:spPr>
          <a:xfrm>
            <a:off x="3124200" y="2295525"/>
            <a:ext cx="8458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根据摄像头图片，预测物品类别。</a:t>
            </a:r>
          </a:p>
        </p:txBody>
      </p:sp>
      <p:sp>
        <p:nvSpPr>
          <p:cNvPr id="9" name="">
            <a:extLst>
              <a:ext uri="{FF2B5EF4-FFF2-40B4-BE49-F238E27FC236}">
                <ns2:creationId id="{58FEC6A6-27E7-42C5-9D43-194CD93C3CDE}"/>
              </a:ext>
            </a:extLst>
          </p:cNvPr>
          <p:cNvSpPr>
            <a:spLocks noGrp="1"/>
          </p:cNvSpPr>
          <p:nvPr/>
        </p:nvSpPr>
        <p:spPr>
          <a:xfrm>
            <a:off x="609600" y="29622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10" name="学习">
            <a:extLst>
              <a:ext uri="{FF2B5EF4-FFF2-40B4-BE49-F238E27FC236}">
                <ns2:creationId id="{8A5D017C-5866-43D1-8518-D7CC02F315FC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学习</a:t>
            </a:r>
          </a:p>
        </p:txBody>
      </p:sp>
      <p:sp>
        <p:nvSpPr>
          <p:cNvPr id="11" name="用标好类别的样本，建立分类模型。">
            <a:extLst>
              <a:ext uri="{FF2B5EF4-FFF2-40B4-BE49-F238E27FC236}">
                <ns2:creationId id="{834E8C6E-C573-4932-82F3-BD77B323BDF4}"/>
              </a:ext>
            </a:extLst>
          </p:cNvPr>
          <p:cNvSpPr>
            <a:spLocks noGrp="1"/>
          </p:cNvSpPr>
          <p:nvPr/>
        </p:nvSpPr>
        <p:spPr>
          <a:xfrm>
            <a:off x="3124200" y="3162300"/>
            <a:ext cx="8458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用标好类别的样本，建立分类模型。</a:t>
            </a:r>
          </a:p>
        </p:txBody>
      </p:sp>
      <p:sp>
        <p:nvSpPr>
          <p:cNvPr id="12" name="">
            <a:extLst>
              <a:ext uri="{FF2B5EF4-FFF2-40B4-BE49-F238E27FC236}">
                <ns2:creationId id="{186B2B88-7BB5-4647-9E7E-FBBB4935762A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13" name="测试">
            <a:extLst>
              <a:ext uri="{FF2B5EF4-FFF2-40B4-BE49-F238E27FC236}">
                <ns2:creationId id="{8B6BC6F0-573C-4980-809A-058827092EA5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测试</a:t>
            </a:r>
          </a:p>
        </p:txBody>
      </p:sp>
      <p:sp>
        <p:nvSpPr>
          <p:cNvPr id="14" name="换背景、角度或物品，检查预测是否改变。">
            <a:extLst>
              <a:ext uri="{FF2B5EF4-FFF2-40B4-BE49-F238E27FC236}">
                <ns2:creationId id="{F1F855B2-BFB0-41DA-8123-F0D2FA56BCC2}"/>
              </a:ext>
            </a:extLst>
          </p:cNvPr>
          <p:cNvSpPr>
            <a:spLocks noGrp="1"/>
          </p:cNvSpPr>
          <p:nvPr/>
        </p:nvSpPr>
        <p:spPr>
          <a:xfrm>
            <a:off x="3124200" y="4029075"/>
            <a:ext cx="8458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换背景、角度或物品，检查预测是否改变。</a:t>
            </a:r>
          </a:p>
        </p:txBody>
      </p:sp>
      <p:sp>
        <p:nvSpPr>
          <p:cNvPr id="15" name="">
            <a:extLst>
              <a:ext uri="{FF2B5EF4-FFF2-40B4-BE49-F238E27FC236}">
                <ns2:creationId id="{78C0A8EE-1AD5-4926-A96A-4E8A3C0C56E5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16" name="改进">
            <a:extLst>
              <a:ext uri="{FF2B5EF4-FFF2-40B4-BE49-F238E27FC236}">
                <ns2:creationId id="{8497275B-3E1A-4B8F-91CD-9666EC429808}"/>
              </a:ext>
            </a:extLst>
          </p:cNvPr>
          <p:cNvSpPr>
            <a:spLocks noGrp="1"/>
          </p:cNvSpPr>
          <p:nvPr/>
        </p:nvSpPr>
        <p:spPr>
          <a:xfrm>
            <a:off x="609600" y="4924425"/>
            <a:ext cx="219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E8AE36"/>
                </a:solidFill>
                <a:latin typeface="Noto Sans CJK SC"/>
                <a:ea typeface="Noto Sans CJK SC"/>
                <a:cs typeface="Noto Sans CJK SC"/>
              </a:rPr>
              <a:t>改进</a:t>
            </a:r>
          </a:p>
        </p:txBody>
      </p:sp>
      <p:sp>
        <p:nvSpPr>
          <p:cNvPr id="17" name="记录现象，补充相关样本，再比较结果。">
            <a:extLst>
              <a:ext uri="{FF2B5EF4-FFF2-40B4-BE49-F238E27FC236}">
                <ns2:creationId id="{2E502EA8-E8EE-4514-9279-2779A3649B05}"/>
              </a:ext>
            </a:extLst>
          </p:cNvPr>
          <p:cNvSpPr>
            <a:spLocks noGrp="1"/>
          </p:cNvSpPr>
          <p:nvPr/>
        </p:nvSpPr>
        <p:spPr>
          <a:xfrm>
            <a:off x="3124200" y="4895850"/>
            <a:ext cx="84582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记录现象，补充相关样本，再比较结果。</a:t>
            </a:r>
          </a:p>
        </p:txBody>
      </p:sp>
    </p:spTree>
    <p:extLst>
      <p:ext uri="{BB962C8B-B14F-4D97-AF65-F5344CB8AC3E}">
        <p14:creationId val="1486631034"/>
      </p:ext>
    </p:extLst>
  </p:cSld>
</p:sld>
</file>

<file path=ppt/slides/slide4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122F4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">
            <a:extLst>
              <a:ext uri="{FF2B5EF4-FFF2-40B4-BE49-F238E27FC236}">
                <ns2:creationId id="{6D95EDD8-88BC-4700-A4D4-0ADA244014E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下一课准备">
            <a:extLst>
              <a:ext uri="{FF2B5EF4-FFF2-40B4-BE49-F238E27FC236}">
                <ns2:creationId id="{2CD94660-4B65-42B8-AA13-C2EB0E912FA7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下一课准备</a:t>
            </a:r>
          </a:p>
        </p:txBody>
      </p:sp>
      <p:sp>
        <p:nvSpPr>
          <p:cNvPr id="3" name="下一课：训练自己的分类器">
            <a:extLst>
              <a:ext uri="{FF2B5EF4-FFF2-40B4-BE49-F238E27FC236}">
                <ns2:creationId id="{8C5F4616-41F7-4BFE-A794-80378ABEFF75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下一课：训练自己的分类器</a:t>
            </a:r>
          </a:p>
        </p:txBody>
      </p:sp>
      <p:sp>
        <p:nvSpPr>
          <p:cNvPr id="4" name="">
            <a:extLst>
              <a:ext uri="{FF2B5EF4-FFF2-40B4-BE49-F238E27FC236}">
                <ns2:creationId id="{83BA3A90-C147-4C79-ADA2-DCD07C575F01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42596E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8C41C808-6431-47AC-81C3-B591B452880E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41">
            <a:extLst>
              <a:ext uri="{FF2B5EF4-FFF2-40B4-BE49-F238E27FC236}">
                <ns2:creationId id="{AC1D8E57-6B65-47C6-B021-CF8EF65DD63B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41</a:t>
            </a:r>
          </a:p>
        </p:txBody>
      </p:sp>
      <p:sp>
        <p:nvSpPr>
          <p:cNvPr id="7" name="准备两类小物品">
            <a:extLst>
              <a:ext uri="{FF2B5EF4-FFF2-40B4-BE49-F238E27FC236}">
                <ns2:creationId id="{59631FCF-B9C5-49A7-9D9B-1F5DB1BFA5C3}"/>
              </a:ext>
            </a:extLst>
          </p:cNvPr>
          <p:cNvSpPr>
            <a:spLocks noGrp="1"/>
          </p:cNvSpPr>
          <p:nvPr/>
        </p:nvSpPr>
        <p:spPr>
          <a:xfrm>
            <a:off x="609600" y="2409825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准备两类小物品</a:t>
            </a:r>
          </a:p>
        </p:txBody>
      </p:sp>
      <p:sp>
        <p:nvSpPr>
          <p:cNvPr id="8" name="清洁、轻便、便于拍摄。&#10;例如胶棒和橡皮，每类可以有不同款式。">
            <a:extLst>
              <a:ext uri="{FF2B5EF4-FFF2-40B4-BE49-F238E27FC236}">
                <ns2:creationId id="{A04FEB4D-F2E3-4F87-B11F-3E0A39E67611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7280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清洁、轻便、便于拍摄。</a:t>
            </a:r>
          </a:p>
          <a:p>
            <a:pPr algn="l">
              <a:lnSpc>
                <a:spcPct val="122000"/>
              </a:lnSpc>
              <a:buNone/>
              <a:def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例如胶棒和橡皮，每类可以有不同款式。</a:t>
            </a:r>
          </a:p>
        </p:txBody>
      </p:sp>
      <p:sp>
        <p:nvSpPr>
          <p:cNvPr id="9" name="想一想：同一种物品，要拍哪些角度和背景？">
            <a:extLst>
              <a:ext uri="{FF2B5EF4-FFF2-40B4-BE49-F238E27FC236}">
                <ns2:creationId id="{7C161A63-0FAB-4BCC-A605-775016F38C33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想一想：同一种物品，要拍哪些角度和背景？</a:t>
            </a:r>
          </a:p>
        </p:txBody>
      </p:sp>
      <p:sp>
        <p:nvSpPr>
          <p:cNvPr id="10" name="课后观察一个熟悉的AI功能，记录它的输入和结果。">
            <a:extLst>
              <a:ext uri="{FF2B5EF4-FFF2-40B4-BE49-F238E27FC236}">
                <ns2:creationId id="{C29963D1-F78A-4BAD-A18E-A472959A7DB8}"/>
              </a:ext>
            </a:extLst>
          </p:cNvPr>
          <p:cNvSpPr>
            <a:spLocks noGrp="1"/>
          </p:cNvSpPr>
          <p:nvPr/>
        </p:nvSpPr>
        <p:spPr>
          <a:xfrm>
            <a:off x="609600" y="53054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CEDBE5"/>
                </a:solidFill>
                <a:latin typeface="Noto Sans CJK SC"/>
                <a:ea typeface="Noto Sans CJK SC"/>
                <a:cs typeface="Noto Sans CJK SC"/>
              </a:rPr>
              <a:t>课后观察一个熟悉的AI功能，记录它的输入和结果。</a:t>
            </a:r>
          </a:p>
        </p:txBody>
      </p:sp>
      <p:sp>
        <p:nvSpPr>
          <p:cNvPr id="11" name="">
            <a:extLst>
              <a:ext uri="{FF2B5EF4-FFF2-40B4-BE49-F238E27FC236}">
                <ns2:creationId id="{EB05695A-4A32-4E99-B0AA-0CE9F498A0C0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4381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12" name="不使用人脸、证件或带有私人信息的物品。">
            <a:extLst>
              <a:ext uri="{FF2B5EF4-FFF2-40B4-BE49-F238E27FC236}">
                <ns2:creationId id="{E8B94E6C-AFBF-4FB2-ACC8-5C4775D4B3BD}"/>
              </a:ext>
            </a:extLst>
          </p:cNvPr>
          <p:cNvSpPr>
            <a:spLocks noGrp="1"/>
          </p:cNvSpPr>
          <p:nvPr/>
        </p:nvSpPr>
        <p:spPr>
          <a:xfrm>
            <a:off x="1238250" y="5715000"/>
            <a:ext cx="103441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不使用人脸、证件或带有私人信息的物品。</a:t>
            </a:r>
          </a:p>
        </p:txBody>
      </p:sp>
    </p:spTree>
    <p:extLst>
      <p:ext uri="{BB962C8B-B14F-4D97-AF65-F5344CB8AC3E}">
        <p14:creationId val="1599927713"/>
      </p:ext>
    </p:extLst>
  </p:cSld>
</p:sld>
</file>

<file path=ppt/slides/slide4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7" name="">
            <a:extLst>
              <a:ext uri="{FF2B5EF4-FFF2-40B4-BE49-F238E27FC236}">
                <ns2:creationId id="{C856F851-3224-4AB0-8850-4D6000CBD10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285750" cy="38100"/>
          </a:xfrm>
          <a:prstGeom prst="rect">
            <a:avLst/>
          </a:prstGeom>
          <a:solidFill>
            <a:srgbClr val="E8AE36"/>
          </a:solidFill>
          <a:ln w="0">
            <a:noFill/>
          </a:ln>
        </p:spPr>
      </p:sp>
      <p:sp>
        <p:nvSpPr>
          <p:cNvPr id="2" name="资料来源">
            <a:extLst>
              <a:ext uri="{FF2B5EF4-FFF2-40B4-BE49-F238E27FC236}">
                <ns2:creationId id="{DEF4E92B-0FEB-4969-B16A-AEA54E299EE6}"/>
              </a:ext>
            </a:extLst>
          </p:cNvPr>
          <p:cNvSpPr>
            <a:spLocks noGrp="1"/>
          </p:cNvSpPr>
          <p:nvPr/>
        </p:nvSpPr>
        <p:spPr>
          <a:xfrm>
            <a:off x="1028700" y="323850"/>
            <a:ext cx="10096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资料来源</a:t>
            </a:r>
          </a:p>
        </p:txBody>
      </p:sp>
      <p:sp>
        <p:nvSpPr>
          <p:cNvPr id="3" name="演示来源与延伸阅读">
            <a:extLst>
              <a:ext uri="{FF2B5EF4-FFF2-40B4-BE49-F238E27FC236}">
                <ns2:creationId id="{32200C2B-1E10-46DC-9479-A40F1FDEBBA6}"/>
              </a:ext>
            </a:extLst>
          </p:cNvPr>
          <p:cNvSpPr>
            <a:spLocks noGrp="1"/>
          </p:cNvSpPr>
          <p:nvPr/>
        </p:nvSpPr>
        <p:spPr>
          <a:xfrm>
            <a:off x="609600" y="790575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F4D"/>
                </a:solidFill>
                <a:latin typeface="Noto Sans CJK SC"/>
                <a:ea typeface="Noto Sans CJK SC"/>
                <a:cs typeface="Noto Sans CJK SC"/>
              </a:rPr>
              <a:t>演示来源与延伸阅读</a:t>
            </a:r>
          </a:p>
        </p:txBody>
      </p:sp>
      <p:sp>
        <p:nvSpPr>
          <p:cNvPr id="4" name="">
            <a:extLst>
              <a:ext uri="{FF2B5EF4-FFF2-40B4-BE49-F238E27FC236}">
                <ns2:creationId id="{AF2A6384-535B-440E-ABAD-0A455E7ED05A}"/>
              </a:ext>
            </a:extLst>
          </p:cNvPr>
          <p:cNvSpPr>
            <a:spLocks noGrp="1"/>
          </p:cNvSpPr>
          <p:nvPr/>
        </p:nvSpPr>
        <p:spPr>
          <a:xfrm>
            <a:off x="609600" y="63912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5" name="AI 创想工坊  /  第一课 AI侦探">
            <a:extLst>
              <a:ext uri="{FF2B5EF4-FFF2-40B4-BE49-F238E27FC236}">
                <ns2:creationId id="{37F753B0-CFE5-4D14-B982-F1A224671D1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AI 创想工坊  /  第一课 AI侦探</a:t>
            </a:r>
          </a:p>
        </p:txBody>
      </p:sp>
      <p:sp>
        <p:nvSpPr>
          <p:cNvPr id="6" name="42">
            <a:extLst>
              <a:ext uri="{FF2B5EF4-FFF2-40B4-BE49-F238E27FC236}">
                <ns2:creationId id="{3A8B3826-B86E-4548-A3D0-F5C0C99D5400}"/>
              </a:ext>
            </a:extLst>
          </p:cNvPr>
          <p:cNvSpPr>
            <a:spLocks noGrp="1"/>
          </p:cNvSpPr>
          <p:nvPr/>
        </p:nvSpPr>
        <p:spPr>
          <a:xfrm>
            <a:off x="10934700" y="6505575"/>
            <a:ext cx="6477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42</a:t>
            </a:r>
          </a:p>
        </p:txBody>
      </p:sp>
      <p:sp>
        <p:nvSpPr>
          <p:cNvPr id="7" name="OpenAI GPT-6 交互式工具 ↗">
            <a:extLst>
              <a:ext uri="{FF2B5EF4-FFF2-40B4-BE49-F238E27FC236}">
                <ns2:creationId id="{0A4B803A-A7B7-463D-B2C8-73298FB76C6C}"/>
              </a:ext>
            </a:extLst>
            <a:hlinkClick r:id="R81141b7c9314471c"/>
          </p:cNvPr>
          <p:cNvSpPr>
            <a:spLocks noGrp="1"/>
          </p:cNvSpPr>
          <p:nvPr/>
        </p:nvSpPr>
        <p:spPr>
          <a:xfrm>
            <a:off x="609600" y="2047875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OpenAI GPT-6 交互式工具 ↗</a:t>
            </a:r>
          </a:p>
        </p:txBody>
      </p:sp>
      <p:sp>
        <p:nvSpPr>
          <p:cNvPr id="8" name="2026.10.07">
            <a:extLst>
              <a:ext uri="{FF2B5EF4-FFF2-40B4-BE49-F238E27FC236}">
                <ns2:creationId id="{FFA381C4-F079-4702-AC0D-462437E5D556}"/>
              </a:ext>
            </a:extLst>
          </p:cNvPr>
          <p:cNvSpPr>
            <a:spLocks noGrp="1"/>
          </p:cNvSpPr>
          <p:nvPr/>
        </p:nvSpPr>
        <p:spPr>
          <a:xfrm>
            <a:off x="8963025" y="2047875"/>
            <a:ext cx="2619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2026.10.07</a:t>
            </a:r>
          </a:p>
        </p:txBody>
      </p:sp>
      <p:sp>
        <p:nvSpPr>
          <p:cNvPr id="9" name="">
            <a:extLst>
              <a:ext uri="{FF2B5EF4-FFF2-40B4-BE49-F238E27FC236}">
                <ns2:creationId id="{65179460-F079-4BB0-8F61-99E34384E6BC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0" name="OpenAI GPT-6 Astra 软件操作 ↗">
            <a:extLst>
              <a:ext uri="{FF2B5EF4-FFF2-40B4-BE49-F238E27FC236}">
                <ns2:creationId id="{D810DC6A-F6AA-45FA-8342-2BAF88D2249B}"/>
              </a:ext>
            </a:extLst>
            <a:hlinkClick r:id="Re77d06cf9c4a4211"/>
          </p:cNvPr>
          <p:cNvSpPr>
            <a:spLocks noGrp="1"/>
          </p:cNvSpPr>
          <p:nvPr/>
        </p:nvSpPr>
        <p:spPr>
          <a:xfrm>
            <a:off x="609600" y="260985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OpenAI GPT-6 Astra 软件操作 ↗</a:t>
            </a:r>
          </a:p>
        </p:txBody>
      </p:sp>
      <p:sp>
        <p:nvSpPr>
          <p:cNvPr id="11" name="2026.09.03">
            <a:extLst>
              <a:ext uri="{FF2B5EF4-FFF2-40B4-BE49-F238E27FC236}">
                <ns2:creationId id="{4354E419-2D0D-4538-A6DB-05E4D428873B}"/>
              </a:ext>
            </a:extLst>
          </p:cNvPr>
          <p:cNvSpPr>
            <a:spLocks noGrp="1"/>
          </p:cNvSpPr>
          <p:nvPr/>
        </p:nvSpPr>
        <p:spPr>
          <a:xfrm>
            <a:off x="8963025" y="2609850"/>
            <a:ext cx="2619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2026.09.03</a:t>
            </a:r>
          </a:p>
        </p:txBody>
      </p:sp>
      <p:sp>
        <p:nvSpPr>
          <p:cNvPr id="12" name="">
            <a:extLst>
              <a:ext uri="{FF2B5EF4-FFF2-40B4-BE49-F238E27FC236}">
                <ns2:creationId id="{ACD787EC-32BD-4B49-A4A0-2823CD74AE9A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3" name="Kimi K3 可交互作品 ↗">
            <a:extLst>
              <a:ext uri="{FF2B5EF4-FFF2-40B4-BE49-F238E27FC236}">
                <ns2:creationId id="{8F2C150B-545C-4FE5-8B7D-A849E47AE01A}"/>
              </a:ext>
            </a:extLst>
            <a:hlinkClick r:id="Rebc81483c0b74e6c"/>
          </p:cNvPr>
          <p:cNvSpPr>
            <a:spLocks noGrp="1"/>
          </p:cNvSpPr>
          <p:nvPr/>
        </p:nvSpPr>
        <p:spPr>
          <a:xfrm>
            <a:off x="609600" y="3171825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Kimi K3 可交互作品 ↗</a:t>
            </a:r>
          </a:p>
        </p:txBody>
      </p:sp>
      <p:sp>
        <p:nvSpPr>
          <p:cNvPr id="14" name="2026.07">
            <a:extLst>
              <a:ext uri="{FF2B5EF4-FFF2-40B4-BE49-F238E27FC236}">
                <ns2:creationId id="{22D83298-24FE-4CDA-8339-AA14287501FE}"/>
              </a:ext>
            </a:extLst>
          </p:cNvPr>
          <p:cNvSpPr>
            <a:spLocks noGrp="1"/>
          </p:cNvSpPr>
          <p:nvPr/>
        </p:nvSpPr>
        <p:spPr>
          <a:xfrm>
            <a:off x="8963025" y="3171825"/>
            <a:ext cx="2619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2026.07</a:t>
            </a:r>
          </a:p>
        </p:txBody>
      </p:sp>
      <p:sp>
        <p:nvSpPr>
          <p:cNvPr id="15" name="">
            <a:extLst>
              <a:ext uri="{FF2B5EF4-FFF2-40B4-BE49-F238E27FC236}">
                <ns2:creationId id="{32286243-050D-4732-A514-02880AE07307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6" name="SeedRealtime 音视频交流 ↗">
            <a:extLst>
              <a:ext uri="{FF2B5EF4-FFF2-40B4-BE49-F238E27FC236}">
                <ns2:creationId id="{1DB1B33D-C7C3-4FAE-98D3-0D881D24BC08}"/>
              </a:ext>
            </a:extLst>
            <a:hlinkClick r:id="Rf98d9b2297cb420b"/>
          </p:cNvPr>
          <p:cNvSpPr>
            <a:spLocks noGrp="1"/>
          </p:cNvSpPr>
          <p:nvPr/>
        </p:nvSpPr>
        <p:spPr>
          <a:xfrm>
            <a:off x="609600" y="373380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SeedRealtime 音视频交流 ↗</a:t>
            </a:r>
          </a:p>
        </p:txBody>
      </p:sp>
      <p:sp>
        <p:nvSpPr>
          <p:cNvPr id="17" name="2026.08.05">
            <a:extLst>
              <a:ext uri="{FF2B5EF4-FFF2-40B4-BE49-F238E27FC236}">
                <ns2:creationId id="{13DCFD69-8531-47DE-BE90-54FA6853DF0E}"/>
              </a:ext>
            </a:extLst>
          </p:cNvPr>
          <p:cNvSpPr>
            <a:spLocks noGrp="1"/>
          </p:cNvSpPr>
          <p:nvPr/>
        </p:nvSpPr>
        <p:spPr>
          <a:xfrm>
            <a:off x="8963025" y="3733800"/>
            <a:ext cx="2619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2026.08.05</a:t>
            </a:r>
          </a:p>
        </p:txBody>
      </p:sp>
      <p:sp>
        <p:nvSpPr>
          <p:cNvPr id="18" name="">
            <a:extLst>
              <a:ext uri="{FF2B5EF4-FFF2-40B4-BE49-F238E27FC236}">
                <ns2:creationId id="{AAE04C57-4157-4297-9941-9838FF9550C9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19" name="Seedance 2.5 视听生成 ↗">
            <a:extLst>
              <a:ext uri="{FF2B5EF4-FFF2-40B4-BE49-F238E27FC236}">
                <ns2:creationId id="{672675A6-6CE7-490B-9E04-1FB371950F7C}"/>
              </a:ext>
            </a:extLst>
            <a:hlinkClick r:id="R0298dd3d005f44c8"/>
          </p:cNvPr>
          <p:cNvSpPr>
            <a:spLocks noGrp="1"/>
          </p:cNvSpPr>
          <p:nvPr/>
        </p:nvSpPr>
        <p:spPr>
          <a:xfrm>
            <a:off x="609600" y="4295775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Seedance 2.5 视听生成 ↗</a:t>
            </a:r>
          </a:p>
        </p:txBody>
      </p:sp>
      <p:sp>
        <p:nvSpPr>
          <p:cNvPr id="20" name="2026.07.31">
            <a:extLst>
              <a:ext uri="{FF2B5EF4-FFF2-40B4-BE49-F238E27FC236}">
                <ns2:creationId id="{ED0207C9-0A28-43F7-A1E3-6B1E872F2C4E}"/>
              </a:ext>
            </a:extLst>
          </p:cNvPr>
          <p:cNvSpPr>
            <a:spLocks noGrp="1"/>
          </p:cNvSpPr>
          <p:nvPr/>
        </p:nvSpPr>
        <p:spPr>
          <a:xfrm>
            <a:off x="8963025" y="4295775"/>
            <a:ext cx="2619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2026.07.31</a:t>
            </a:r>
          </a:p>
        </p:txBody>
      </p:sp>
      <p:sp>
        <p:nvSpPr>
          <p:cNvPr id="21" name="">
            <a:extLst>
              <a:ext uri="{FF2B5EF4-FFF2-40B4-BE49-F238E27FC236}">
                <ns2:creationId id="{9280810A-3BF1-43AE-AD82-20A7B6834B51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22" name="Qwen3.8-Max 视觉与设计 ↗">
            <a:extLst>
              <a:ext uri="{FF2B5EF4-FFF2-40B4-BE49-F238E27FC236}">
                <ns2:creationId id="{79171D5B-89EE-4738-BC34-A8D64214FB01}"/>
              </a:ext>
            </a:extLst>
            <a:hlinkClick r:id="Rabfee8b4a926447f"/>
          </p:cNvPr>
          <p:cNvSpPr>
            <a:spLocks noGrp="1"/>
          </p:cNvSpPr>
          <p:nvPr/>
        </p:nvSpPr>
        <p:spPr>
          <a:xfrm>
            <a:off x="609600" y="485775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Qwen3.8-Max 视觉与设计 ↗</a:t>
            </a:r>
          </a:p>
        </p:txBody>
      </p:sp>
      <p:sp>
        <p:nvSpPr>
          <p:cNvPr id="23" name="2026.08.03">
            <a:extLst>
              <a:ext uri="{FF2B5EF4-FFF2-40B4-BE49-F238E27FC236}">
                <ns2:creationId id="{CE0F1528-9BEE-43F6-A6EA-33080EBAD6D0}"/>
              </a:ext>
            </a:extLst>
          </p:cNvPr>
          <p:cNvSpPr>
            <a:spLocks noGrp="1"/>
          </p:cNvSpPr>
          <p:nvPr/>
        </p:nvSpPr>
        <p:spPr>
          <a:xfrm>
            <a:off x="8963025" y="4857750"/>
            <a:ext cx="2619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2026.08.03</a:t>
            </a:r>
          </a:p>
        </p:txBody>
      </p:sp>
      <p:sp>
        <p:nvSpPr>
          <p:cNvPr id="24" name="">
            <a:extLst>
              <a:ext uri="{FF2B5EF4-FFF2-40B4-BE49-F238E27FC236}">
                <ns2:creationId id="{01C26FE2-1922-4255-A678-560D2B1A02D9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10972800" cy="9525"/>
          </a:xfrm>
          <a:prstGeom prst="rect">
            <a:avLst/>
          </a:prstGeom>
          <a:solidFill>
            <a:srgbClr val="CBD7E0"/>
          </a:solidFill>
          <a:ln w="0">
            <a:noFill/>
          </a:ln>
        </p:spPr>
      </p:sp>
      <p:sp>
        <p:nvSpPr>
          <p:cNvPr id="25" name="3Blue1Brown 神经网络科普 ↗">
            <a:extLst>
              <a:ext uri="{FF2B5EF4-FFF2-40B4-BE49-F238E27FC236}">
                <ns2:creationId id="{C827D6DA-B085-4475-9D06-62CEFC53C8A5}"/>
              </a:ext>
            </a:extLst>
            <a:hlinkClick r:id="Re6ea013d7e8d417d"/>
          </p:cNvPr>
          <p:cNvSpPr>
            <a:spLocks noGrp="1"/>
          </p:cNvSpPr>
          <p:nvPr/>
        </p:nvSpPr>
        <p:spPr>
          <a:xfrm>
            <a:off x="609600" y="5419725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56590"/>
                </a:solidFill>
                <a:latin typeface="Noto Sans CJK SC"/>
                <a:ea typeface="Noto Sans CJK SC"/>
                <a:cs typeface="Noto Sans CJK SC"/>
              </a:rPr>
              <a:t>3Blue1Brown 神经网络科普 ↗</a:t>
            </a:r>
          </a:p>
        </p:txBody>
      </p:sp>
      <p:sp>
        <p:nvSpPr>
          <p:cNvPr id="26" name="经典原理讲解">
            <a:extLst>
              <a:ext uri="{FF2B5EF4-FFF2-40B4-BE49-F238E27FC236}">
                <ns2:creationId id="{62191DD8-8D33-49BC-9A41-7A0C11FB1063}"/>
              </a:ext>
            </a:extLst>
          </p:cNvPr>
          <p:cNvSpPr>
            <a:spLocks noGrp="1"/>
          </p:cNvSpPr>
          <p:nvPr/>
        </p:nvSpPr>
        <p:spPr>
          <a:xfrm>
            <a:off x="8963025" y="5419725"/>
            <a:ext cx="26193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B6B7B"/>
                </a:solidFill>
                <a:latin typeface="Noto Sans CJK SC"/>
                <a:ea typeface="Noto Sans CJK SC"/>
                <a:cs typeface="Noto Sans CJK SC"/>
              </a:rPr>
              <a:t>经典原理讲解</a:t>
            </a:r>
          </a:p>
        </p:txBody>
      </p:sp>
    </p:spTree>
    <p:extLst>
      <p:ext uri="{BB962C8B-B14F-4D97-AF65-F5344CB8AC3E}">
        <p14:creationId val="1160669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EFB125"/>
      </a:hlink>
      <a:folHlink>
        <a:srgbClr val="EFB12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AI 创想工坊</dc:creator>
  <ns0:lastModifiedBy>Walnut Exporter</ns0:lastModifiedBy>
  <dc:title>第一课 AI侦探：人工智能能做什么，怎样工作</dc:title>
  <ns2:created xsi:type="dcterms:W3CDTF">2026-10-18T06:21:59.5610000Z</ns2:created>
  <ns2:modified xsi:type="dcterms:W3CDTF">2026-10-18T06:21:59.5610000Z</ns2:modified>
  <dc:subject>初中生 AI 创想工坊</dc:subject>
</ns0:coreProperties>
</file>