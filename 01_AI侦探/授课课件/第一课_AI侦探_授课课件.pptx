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5b8d2e4b-9974-3d3c-6cc0-c7c7fb33ae7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课程介绍" id="{d88aebe2-cca1-2d1d-7faa-3b74d782ce96}">
          <p14:sldIdLst>
            <p14:sldId id="265"/>
            <p14:sldId id="266"/>
            <p14:sldId id="267"/>
          </p14:sldIdLst>
        </p14:section>
        <p14:section name="辨认" id="{a1676c96-8fbb-79ba-58e9-2066a354dc9e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弄懂" id="{58f5b431-2a72-d869-bbf3-7d11871bd476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测试" id="{85feb1c0-afb9-e570-b9f3-cb35be9e84ca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核对" id="{3b3095fa-54f0-7f61-b60f-ca06063fff1e}">
          <p14:sldIdLst>
            <p14:sldId id="288"/>
            <p14:sldId id="289"/>
            <p14:sldId id="290"/>
            <p14:sldId id="291"/>
            <p14:sldId id="292"/>
          </p14:sldIdLst>
        </p14:section>
        <p14:section name="课堂收束" id="{0ebe1c5e-1a6c-640d-de2d-77024d3ff592}">
          <p14:sldIdLst>
            <p14:sldId id="293"/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教学目的：说明本课主题，让学生知道今天要当“AI侦探”。
讲解：今天先看近期AI作品，再弄清它怎样工作，亲手测试，最后学会核对它说的话。
课堂提问：你平时用过哪种AI功能？
衔接：先看这些能力具体表现在哪里。
资料来源：
https://www.kimi.ai/blog/kimi-k3
https://seed.bytedance.com/en/blog/one-take-creation-flexible-referencing-introducing-seedance-2-5
https://qwen.ai/blog?id=qwen3.8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教学目的：先给学生一张能力概览，避免把AI等同于聊天或生成视频。
讲解：四类本领并不互相排斥，一个作品可能同时用到几种。演示展示的是成功案例，后面还要亲手测试。
观看方法：每段都问两句：“人给了AI什么？”“AI做出了什么？”这就是后面要用的“输入”和“输出”，此处先不讲术语。
课堂提问：哪一类与你用过的功能相近？
衔接：先看一个按具体要求生成小工具的例子。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教学目的：用费用分摊工具展示AI按要求生成可操作界面的能力。
讲解：播放约16秒官方公开工具的操作实录。录像展示已生成工具的运行，没有收录生成过程。课堂输入为披萨和果汁，姓名为虚构示例。工具使用美元，不说成人民币。
观看顺序：披萨价格从50改成60，取消小吴的果汁，查看各自费用。五人平分披萨，四人平分果汁，结果是四人各17、小吴12，总额80。可让学生心算核对。
关键区分：AI帮助生成工具；录像中的勾选和计算由已有程序执行，不要说成每次变化都在重新调用模型。
课堂提问：为什么小吴的费用和其他人不同？如果改成分摊社团材料费，你还想加什么功能？
衔接：同样可以把要求变成能操作的游戏。
资料来源：
https://openai.com/index/gpt-6-for-everyone/
https://cdn.openai.com/ctf-cdn/intelligent-ui/bill-splitter-v5.html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教学目的：让学生看到生成程序的可见结果，并为后面的程序修改建立例子。
讲解：播放约19秒官方游戏录屏。它展示作品运行，不包含完整生成过程，也不能据此认为所有功能一次生成就成功。教师用中文说明创作要求和实际操作。
课堂提问：角色怎样移动？天气或光照能否改变？
衔接：除了生成作品，模型也能结合眼前画面进行交流。
资料来源：https://www.kimi.ai/blog/kimi-k3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教学目的：展示图像、语音和上下文共同参与回答，连接后续展品讲解助手。
讲解：播放38秒官方展馆片段。请学生注意镜头中的展品和回答内容的联系。官方演示同时涉及视觉理解与语音交互，不能由这段录屏推断展品事实都已核实。课程后续先做文字版讲解助手，不承诺复现所有实时功能。
课堂提问：镜头换到新展品时，回答是否跟着改变？
衔接：模型还可以根据要求生成画面和声音。
资料来源：https://seed.bytedance.com/en/seedrealtime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教学目的：通过古诗意境说明画面、人物和声音的生成。
讲解：播放30秒官方古诗意境示例。这是AI生成的艺术创作，不能当作南宋历史影像，也不能把镜头细节当成史实。可问学生：若给校园科技节做开场，你会怎样改主题、场景或声音。
课堂提问：场景怎样转换？人物和声音是否连贯？
衔接：生成结果还可以是能旋转、观察的三维设计。
资料来源：https://seed.bytedance.com/en/blog/one-take-creation-flexible-referencing-introducing-seedance-2-5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教学目的：补充三维设计与视觉信息处理，拓宽展示范围。
讲解：播放38秒官方多模态示例节选。原片对部分过程采用可视化呈现，最终三维模型由Qwen3.8-Max生成；不要把全部画面当成逐步实时操作录屏。可联系教室或社团活动室的布局设计，不讨论工程软件细节。
课堂提问：怎样安排家具？能否换个角度查看？
衔接：这些模型也开始操作软件完成多步任务。
资料来源：https://qwen.ai/blog?id=qwen3.8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教学目的：通过图案修改与三维建模，展示AI使用软件完成任务的能力。
讲解：播放约32秒OpenAI官方发布片节选。先看人物怎样把圆形改成火箭图案，再要求模型使用Blender制作三维模型。最后提出用模型制作游戏的要求；片段没有展示游戏完成后的运行效果。中文字幕是课堂观看提示，不是逐句翻译。发布片已剪辑，片中等待时间不能当作完成任务的实际耗时。
课堂提问：它用了什么软件？人又提出了什么要求？
衔接：把这些能力连接到你们自己能完成的两项作品。
资料来源：
https://openai.com/index/gpt-6-astra/
https://player.vimeo.com/video/1222553704?h=ee86f55524
节选：原片00:14～00:37、01:06～01:15。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教学目的：把看演示产生的兴趣，转成“我也想做”的期待，引出十次课的课程介绍。
讲解：回看六个作品：“AI这么厉害，你们想不想也用AI做出自己的作品？”请举手示意。再说明：接下来十次课，从零开始，带大家亲手做出两件作品；不要求编程基础，每次课完成一部分。
注意：不要承诺复现视频中的全部能力。课程作品规模更小，但每一步都由学生自己完成。
课堂提问：刚才六个作品里，你最想自己做哪一个？
衔接：看看这两件作品是什么。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教学目的：明确学生能在课程中完成的作品，以及自己的工作。
讲解：这两项是课程作品要求，不是前沿演示全部功能的复现。视觉项目由电脑分类、micro:bit显示；语言项目先完成基于资料的文字讲解，再增加检索和分支。本课不编写主板程序。图中“小灯板”指micro:bit上的5×5 LED点阵，图案只是示意。
课堂提问：你想先让哪一位同学来用你的作品？
衔接：看看十次课怎样安排这些任务。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教学目的：让学生知道课程进程，形成继续学习的具体期待。
讲解：分四段介绍：第1课认识AI；第2～5课做视觉作品；第6～9课做语言助手；第10课展示。强调先后关系：先学会分类，再连接显示；先有可靠资料，再做检索和挑战。
课堂提问：第4课为什么安排在第一次建模之后？
衔接：今天我们先当一回AI侦探。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教学目的：说明本课的四站：辨认、弄懂、测试、核对，并说明为什么做作品前要先当侦探。
讲解：用AI做作品之前，要先知道哪些东西真的用了AI、它的本领从哪来、它会不会出错、它说的能不能信。四站对应四种“侦探动作”：辨认——看做法，不看名字；弄懂——知道模型怎样学习、怎样回答；测试——自己动手，看真实结果；核对——对照资料，检查说法。课末每人写下一个想做的小工具。
课堂提问：你最想先弄清哪一站？
衔接：先从“辨认”开始。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这一页是“辨认”站的开场。
说明：接下来有五页，核心是一句话：只看功能或名字，判断不了它用了什么方法。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教学目的：区分可见功能和实现方法，给卡牌活动一个清楚的起点。
讲解：先读两种做法，再归纳：判断需要的是做法的线索。这里比较的是两种具体的答疑页，不是说所有规则推理都不算AI。
课堂提问：如果只知道它“会回答”，还缺什么信息？
衔接：用八张卡练习，根据说明判断。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教学目的：通过分类和解释练习依据判断，允许“信息不够”和分阶段回答。
使用材料：学生活动材料第1～3页（八张案例卡、分类底板）。
教师参考：固定时间提醒、社团答疑页（关键词表）只用普通规则；文具分类器、视频推荐、短片生成器明确用了AI；智能运动手表、音乐推荐信息不够；AI帮助编写的游戏需要分别说明创作与运行。卡名与学生材料一致。
操作：每组先看功能，再读补充线索，放入三个区。每人至少解释一张。约五分钟后，集中讨论两个有分歧的案例。90分钟版重点讨论四张，仍让每人解释一张。
关键提问：你的判断依据是哪条信息？拿掉这条信息，还能确定吗？
衔接：先讨论缺少做法说明的手表。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教学目的：用两个可能的做法说明，“信息不够”是合理答案。
讲解：两种做法都能产生建议，但实现不同。真实手表可能混合多个模块；本题需要补足方法说明。
课堂提问：你会向产品说明书寻找哪类信息？
观察：学生说“有传感器就是AI”时，用这页说明：输入信息与处理方法是两件事。
衔接：再看需要按阶段区分的游戏卡片。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教学目的：区分创作与运行，避免把作品的所有行为都归给AI模型。
讲解：请学生说出两个阶段各自的输入与输出。其他游戏可以在运行时调用AI，本例只按卡片信息判断。
课堂提问：按键控制角色移动时，输入和输出各是什么？
衔接：把前面的案例归纳为AI的基本含义。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教学目的：建立准确且好理解的定义，并连接已经看过的案例。
讲解：不要求背定义。关键词是“自己推断”：普通规则的每种情况都由人提前写好；AI则根据收到的信息，自己推断出结果。四个例子都来自前面的卡片和演示。底部一句只说“很多本领”从例子学来，不要把“从例子学习”说成AI唯一的形式（也有用知识和推理的AI），也不要把简单提醒说成AI。
学生说“有规则就没有AI”时：用“模型认出物品，再按规则显示图案”说明二者可以一起工作。
课堂提问：从今天的案例中选一项，说出它的输入和任务。
衔接：用手写数字说明，为什么需要从例子中学习。
资料来源：https://www.oecd.org/en/publications/explanatory-memorandum-on-the-updated-oecd-definition-of-an-ai-system_623da898-en.html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这一页是“弄懂”站的开场。
说明：接下来五页，讲清三件事：模型怎样学习；模型怎样处理新输入；语言模型和普通程序各做什么。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教学目的：用熟悉的分类问题解释“学习样本”的作用。
讲解：先让学生认出三个3，再尝试描述通用规则。保留“写规则难”这一经验，不宣称任何规则方法都不可行。图片来自经典科普，用于解释原理，不作为2026年能力展示。
课堂提问：你写的规则能覆盖另一位同学的写法吗？
本页第一次出现“模型”：电脑从例子里找到的那套规律。后面各页都用这个词。
衔接：先看模型是怎样学的。
资料来源：https://www.3blue1brown.com/lessons/neural-networks/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教学目的：说明标好答案的训练图片怎样用来建立模型。
讲解：图中数字图片来自课堂分类器内置的真实样例。“猜一猜，对答案”是对训练的通俗说法：模型先给出预测，和标好的答案比较，猜错就调整，反复很多次，最后把模型保存下来。此处只解释概念；课堂页面使用已经训练好的模型，不现场训练。
关键提问：建立模型时看的图片，和现在拿来测试的图片，有什么区别？预期：前面帮助它学习，后面看它能不能处理新例子。
伏笔：样本没有覆盖的写法，模型之后可能认不好。
衔接：下一步，用已有模型处理新图片。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教学目的：区分“使用”和“学习”，指出当前数字图片的输入与输出。
讲解：内嵌约7秒无讲解动画，可重复一次，并用中文讲解约一分钟：图片转换成数值，已有模型经过计算，给出预测。动画中的网络属于原示例，不是课堂分类器。不讲矩阵和微积分。
关键点：预测时通常不更新模型。清空画板再写一次，换的只是输入，模型没有重新训练。
课堂提问：图片进入模型后，输出怎样表示类别？
衔接：文字模型也要区分训练和这一次的输入。
资料来源：https://www.3blue1brown.com/lessons/neural-networks/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教学目的：解释语言模型的基本工作逻辑，不引入多余术语，并为“核对回答”做准备。
讲解：本页把“聊天AI”和“语言模型”对上号。不讲token等名词，只保留“一个字一个字往下写”和“这一次给它的资料”两个意思。语言模型不是每次从数据库复制一条现成答案。补充社团资料会改变这一次的输入，不等于重新训练。资料能约束回答，但回答通顺，不保证每条事实都有依据。图中句子只是示意。
课堂提问：它为什么可能写出资料中没有的内容？
衔接：看看模型在完整作品里，还和哪些程序配合。
资料来源：https://www.3blue1brown.com/lessons/mini-llm/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教学目的：说明模型、程序和设备怎样分工。
讲解：用课程的两个项目说明：模型负责判断或生成；找资料、转换结果、显示图案，由程序和设备完成。工具使用不是模型凭空获得新知识；程序把工具的结果作为信息交给模型继续处理。
课堂提问：物品识别提示器中，micro:bit需要自己训练分类模型吗？（不需要，它只负责显示。）
衔接：接下来只改变图片输入，亲手测试已有分类器。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这一页是“测试”站的开场。
说明：两个案例。先测手写数字分类器，再检查AI写的贪吃蛇。共同方法：只改一处，再看结果。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教学目的：让学生用现成模型体验图像分类，养成“先预测、再改一处、再看结果”的习惯。
操作：优先打开 课堂演示/手写数字识别.html。先载入真实样例，再自己写一个数字。可以把同一数字写得更倾斜，增加一段笔画，或擦去一段。每次先说要改什么，再观察结果。
提问：你交给模型的是什么？它输出了什么？（输入是手写图片，输出是0～9的预测及各类别分数。）
清空画板再写一次，模型重新训练了吗？（没有，改变的是输入。）
不要求模型必须认错。没有鼠标时用内置真实样例；无法运行页面时播放本页录像，并说明这是录像，不记作个人实操。
模型来源：https://github.com/onnx/models/tree/main/validated/vision/classification/mnist
衔接：把两次测试的实际结果写到记录表。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教学目的：分开记录改动、原先预测和实际结果。
使用材料：学生活动材料第4页，表头与本页相同。每人轮流操作，小组记录两次。写明具体改动，如“同一个7增加一条横线”或“擦去8的一段笔画”。预测相同、改变或认错，都可以记录。
示例行来自课前在课堂页面上的实测：8擦去右上一段后被认成6；7加一条横线仍认成7。手写不同，结果可能不同，以学生现场结果为准。
衔接：用观察提出下一次测试。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教学目的：让学生把观察和可能原因分开。
说明：本页接着上一页的示例（擦去8的一段，被认成6），这是课前在课堂页面上实测到的结果。有条件时，换成本班记录表里的真实例子来讲。
讲解：不同写法可能让预测改变，也可能保持不变。可能是写法少见，也可能是改动后更像另一个数字。只改一段笔画，继续观察，不凭一次结果证明原因。
延伸：若要改进模型，应补充它没见过的写法，或容易混淆的数字。本页没有训练按钮；下一课才自己采样、建立分类器。
衔接：接下来用AI生成一个熟悉的游戏。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教学目的：用熟悉的规则展示，从要求到程序的过程。
操作：教师提前登录DeepSeek，打开课堂演示入口。先问学生规则，再复制第一轮提示词（见 课堂演示/现场演示说明与提示词.md）。把生成的完整HTML粘贴进入口，点击“运行代码”。等待约2分钟仍未完成，或修复一次仍不能运行，改用备用原版。备用成品是课前准备，不是这次DeepSeek的生成结果。
图中蛇和食物是示意图。
衔接：试玩后，提出一次明确的修改。
现场创作：https://chat.deepseek.com/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教学目的：把“太快了”说成可以检查的要求。
操作：在同一对话中要求，速度从每秒5格改成每秒2.5格，并保留原有功能。再次生成完整HTML后运行。不能只看页面上写的速度，要实际试玩。
关键提问：速度变慢以后，原来的计分和暂停功能还在吗？
衔接：看原版和慢速版对比。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教学目的：检查修改效果，以及原功能是否保留。
讲解：现场优先试玩刚生成的两版。本页为课前备用游戏的真实录屏，先原版后慢速版；每步间隔分别为200毫秒和400毫秒，速度减半。录像展示移动、吃食物计分、暂停、继续和重新开始。它不是DeepSeek现场生成过程的录像。
课堂提问：这个小游戏运行时，每一步都在调用AI吗？（本例的移动、碰撞和计分由生成后的程序执行。）
衔接：归纳人在AI创作中的工作。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教学目的：连接能力展示、课程项目和实际操作，避免只强调“提示词”。
讲解：请学生从刚才的操作中找出自己做的事：先定下做什么，再把“别太快”说成“每秒5格”，最后自己试玩检查。模型能协助生成，但用途、要求和最终判断，要由人来定。
课堂提问：刚才哪一步需要你们自己作决定？
衔接：接下来检查一段看起来很完整的回答。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这一页是“核对”站的开场。
说明：最后一站。前面已经看到数字会认错、程序改一处可能坏另一处。现在检查文字回答。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教学目的：把来源和回答放在同一页，方便学生逐条对照。
操作：给约30秒阅读，再请学生分别核对两条说法。社团和回答都是课堂编写的示例，不是学校通知，也不是某个模型的真实输出。
课堂提问：哪句话能从资料中找到依据？哪句还需要查？
衔接：区分“缺少依据”和“已经证明错误”。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教学目的：给出核对依据的明确结论和下一步动作。
讲解：费用可能是真的，也可能是错的；这页的证据只能支持“目前没有依据”。学生要说出与这个社团有关的可靠核实渠道，不能只答“再问一次AI”。
课堂提问：如果第二次AI也回答50元，依据增加了吗？（没有。）
衔接：把三个案例放在一起看。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教学目的：把三个案例归为同一个提醒，这是全课的结论页。
讲解：数字识别——样本没覆盖的写法，可能认错；贪吃蛇——改了一处，可能弄坏另一处；社团问答——写得通顺，可能夹带资料里没有的内容。三种出错方式不同，发现的办法也不同，但共同点是：结果要自己验证。
课堂提问：这三个例子里，你各用什么办法发现的？
衔接：把验证做成规矩。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教学目的：把合理使用落到学生能执行的动作。
讲解：联系今天保护私人信息、核对社团费用、比较程序版本的操作，分别说明检查方法。生成式AI由教师操作，学生本课无须注册账号。
课堂提问：今天你已经做过其中哪一项检查？
衔接：先用四招回顾今天，再构思自己的小工具。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教学目的：用“四站”回顾全课，为构思小工具和课末记录做准备。
讲解：辨认——功能和做法是两回事；弄懂——学习阶段建立模型，使用阶段处理新输入；测试——换一个条件再试；核对——找不到依据，先别采用。
课堂提问：哪一站对你以后用AI最有用？
衔接：学会了这四招，轮到你想一想：你想用AI做个什么小工具？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教学目的：提供一个完整示例，帮助学生写出可实践的想法。
讲解：这是构思方法示例，不要求所有小组做同一主题。学生可以选社团物品整理、兴趣知识讲解等，但要先缩小到一个使用者的一项任务。
课堂提问：你愿意先帮助哪一位同学？
衔接：把想法和今天的收获写到个人记录。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教学目的：收集个人理解和后续兴趣，不用小组结果替代个人表达。
使用材料：学生活动材料第5页。独立填写，不要求长段文字。第2题要区分模型或程序的工作；第3题需要具体来源；第4题写使用者和任务。页面右侧的灰色小字是提示，不必照抄。
课堂提问：有不明白的词，先用你自己的话，举个例子。
衔接：下一课，从“使用别人训练好的模型”进入“自己拍例子，教AI认物品”。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教学目的：把现成数字识别连接到自己制作物品分类器。
讲解：准备两类便于拍摄的物品，统一示例为胶棒和橡皮，另需一张空背景。下一课才需要摄像头、Mind+和自己的图片。
课后任务：观察一个熟悉的AI功能，记下它的输入、结果，以及一条需要核实的信息。没有家庭电脑时，先完成观察和物品准备。
安全：不使用人脸、证件或带有私人信息的物品。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教学目的：提供可追溯的官方来源与延伸阅读，不承担新知识讲解。
讲解：演示按各页日期标注，不把经典原理视频称为最新能力。第3～8、22、26、31页共9段视频已内嵌，放映时点击画面播放，不需要联网。本页链接供课后查看来源。
教师课前在授课电脑上逐段试播，检查画面和音量；学生实际测试分类器时，需要打开分类工具。
资料来源：
https://openai.com/index/gpt-6-for-everyone/
https://openai.com/index/gpt-6-astra/
https://www.kimi.ai/blog/kimi-k3
https://seed.bytedance.com/en/seedrealtime
https://seed.bytedance.com/en/blog/one-take-creation-flexible-referencing-introducing-seedance-2-5
https://qwen.ai/blog?id=qwen3.8
https://www.3blue1brown.com/lessons/neural-networks/
https://github.com/onnx/models/tree/main/validated/vision/classification/mnist
贪吃蛇现场创作：https://chat.deepseek.com/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AI 创想工坊  ·  第一课 AI侦探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8CC"/>
                </a:solidFill>
              </a:rPr>
              <a:t>AI 创想工坊  ·  第一课 AI侦探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42062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9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943600" y="251460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2-1.mp4"/><Relationship Id="rId2" Type="http://schemas.microsoft.com/office/2007/relationships/media" Target="../media/media-22-1.mp4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6-1.mp4"/><Relationship Id="rId2" Type="http://schemas.microsoft.com/office/2007/relationships/media" Target="../media/media-26-1.mp4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&#35838;&#22530;&#28436;&#31034;/&#35838;&#22530;&#28436;&#31034;&#20837;&#21475;.html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1-1.mp4"/><Relationship Id="rId2" Type="http://schemas.microsoft.com/office/2007/relationships/media" Target="../media/media-31-1.mp4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ai.com/index/gpt-6-for-everyone/" TargetMode="External"/><Relationship Id="rId2" Type="http://schemas.openxmlformats.org/officeDocument/2006/relationships/hyperlink" Target="https://openai.com/index/gpt-6-astra/" TargetMode="External"/><Relationship Id="rId3" Type="http://schemas.openxmlformats.org/officeDocument/2006/relationships/hyperlink" Target="https://www.kimi.ai/blog/kimi-k3" TargetMode="External"/><Relationship Id="rId4" Type="http://schemas.openxmlformats.org/officeDocument/2006/relationships/hyperlink" Target="https://seed.bytedance.com/en/seedrealtime" TargetMode="External"/><Relationship Id="rId5" Type="http://schemas.openxmlformats.org/officeDocument/2006/relationships/hyperlink" Target="https://seed.bytedance.com/en/blog/one-take-creation-flexible-referencing-introducing-seedance-2-5" TargetMode="External"/><Relationship Id="rId6" Type="http://schemas.openxmlformats.org/officeDocument/2006/relationships/hyperlink" Target="https://qwen.ai/blog?id=qwen3.8" TargetMode="External"/><Relationship Id="rId7" Type="http://schemas.openxmlformats.org/officeDocument/2006/relationships/hyperlink" Target="https://www.3blue1brown.com/lessons/neural-networks/" TargetMode="External"/><Relationship Id="rId8" Type="http://schemas.openxmlformats.org/officeDocument/2006/relationships/hyperlink" Target="https://github.com/onnx/models/tree/main/validated/vision/classification/mnist" TargetMode="Externa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0" b="1" dirty="0">
                <a:solidFill>
                  <a:schemeClr val="bg1"/>
                </a:solidFill>
              </a:rPr>
              <a:t>AI侦探</a:t>
            </a:r>
            <a:endParaRPr lang="en-US" sz="9600" dirty="0"/>
          </a:p>
        </p:txBody>
      </p:sp>
      <p:pic>
        <p:nvPicPr>
          <p:cNvPr id="4" name="Image 0" descr="华南理工大学标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377440" cy="56881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</a:rPr>
              <a:t>AI 创想工坊  ·  第一课</a:t>
            </a:r>
            <a:endParaRPr lang="en-US" sz="2000" dirty="0"/>
          </a:p>
        </p:txBody>
      </p:sp>
      <p:pic>
        <p:nvPicPr>
          <p:cNvPr id="6" name="Image 1" descr="放大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286000"/>
            <a:ext cx="1005840" cy="100584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3931920"/>
            <a:ext cx="5852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bg1"/>
                </a:solidFill>
              </a:rPr>
              <a:t>AI 能做什么？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bg1"/>
                </a:solidFill>
              </a:rPr>
              <a:t>它是怎样学会的？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bg1"/>
                </a:solidFill>
              </a:rPr>
              <a:t>它说的，都对吗？</a:t>
            </a:r>
            <a:endParaRPr lang="en-US" sz="26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6126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A9B8CC"/>
                </a:solidFill>
              </a:rPr>
              <a:t>佛山市南海区石门实验中学</a:t>
            </a:r>
            <a:endParaRPr lang="en-US" sz="1600" dirty="0"/>
          </a:p>
        </p:txBody>
      </p:sp>
      <p:pic>
        <p:nvPicPr>
          <p:cNvPr id="9" name="Image 2" descr="官方演示画面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822960"/>
            <a:ext cx="2377440" cy="1337767"/>
          </a:xfrm>
          <a:prstGeom prst="rect">
            <a:avLst/>
          </a:prstGeom>
        </p:spPr>
      </p:pic>
      <p:pic>
        <p:nvPicPr>
          <p:cNvPr id="10" name="Image 3" descr="官方演示画面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407615"/>
            <a:ext cx="2377440" cy="1337767"/>
          </a:xfrm>
          <a:prstGeom prst="rect">
            <a:avLst/>
          </a:prstGeom>
        </p:spPr>
      </p:pic>
      <p:pic>
        <p:nvPicPr>
          <p:cNvPr id="11" name="Image 4" descr="官方演示画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992270"/>
            <a:ext cx="2377440" cy="1337767"/>
          </a:xfrm>
          <a:prstGeom prst="rect">
            <a:avLst/>
          </a:prstGeom>
        </p:spPr>
      </p:pic>
      <p:pic>
        <p:nvPicPr>
          <p:cNvPr id="12" name="Image 5" descr="官方演示画面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9448" y="1554480"/>
            <a:ext cx="2377440" cy="1337767"/>
          </a:xfrm>
          <a:prstGeom prst="rect">
            <a:avLst/>
          </a:prstGeom>
        </p:spPr>
      </p:pic>
      <p:pic>
        <p:nvPicPr>
          <p:cNvPr id="13" name="Image 6" descr="官方演示画面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99448" y="3139135"/>
            <a:ext cx="2377440" cy="1337767"/>
          </a:xfrm>
          <a:prstGeom prst="rect">
            <a:avLst/>
          </a:prstGeom>
        </p:spPr>
      </p:pic>
      <p:pic>
        <p:nvPicPr>
          <p:cNvPr id="14" name="Image 7" descr="官方演示画面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9448" y="4723790"/>
            <a:ext cx="2377440" cy="1337767"/>
          </a:xfrm>
          <a:prstGeom prst="rect">
            <a:avLst/>
          </a:prstGeom>
        </p:spPr>
      </p:pic>
      <p:sp>
        <p:nvSpPr>
          <p:cNvPr id="15" name="Text 4"/>
          <p:cNvSpPr txBox="1"/>
          <p:nvPr/>
        </p:nvSpPr>
        <p:spPr>
          <a:xfrm>
            <a:off x="6720840" y="6263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8CC"/>
                </a:solidFill>
              </a:rPr>
              <a:t>2026 年官方演示画面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AI 现在能做的事，远不止聊天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AI 能做什么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下面是 AI 公司今年发布的六段官方演示，分成四类本领。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33832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242316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0" descr="写程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56946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72768" y="24231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300" b="1" dirty="0">
                <a:solidFill>
                  <a:schemeClr val="tx1"/>
                </a:solidFill>
              </a:rPr>
              <a:t>写程序</a:t>
            </a:r>
            <a:endParaRPr lang="en-US" sz="23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按要求写出程序，做成能用的工具和游戏。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chemeClr val="accent6"/>
                </a:solidFill>
              </a:rPr>
              <a:t>接下来看</a:t>
            </a:r>
            <a:endParaRPr lang="en-US" sz="1300" dirty="0"/>
          </a:p>
        </p:txBody>
      </p:sp>
      <p:pic>
        <p:nvPicPr>
          <p:cNvPr id="13" name="Image 1" descr="算账小工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434840"/>
            <a:ext cx="1019556" cy="5735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77240" y="5063204"/>
            <a:ext cx="1019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算账小工具</a:t>
            </a:r>
            <a:endParaRPr lang="en-US" sz="1300" dirty="0"/>
          </a:p>
        </p:txBody>
      </p:sp>
      <p:pic>
        <p:nvPicPr>
          <p:cNvPr id="15" name="Image 2" descr="小游戏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6524" y="4434840"/>
            <a:ext cx="1019556" cy="5735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906524" y="5063204"/>
            <a:ext cx="1019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小游戏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3378098" y="2194560"/>
            <a:ext cx="2606040" cy="33832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8" name="Shape 12"/>
          <p:cNvSpPr/>
          <p:nvPr/>
        </p:nvSpPr>
        <p:spPr>
          <a:xfrm>
            <a:off x="3606698" y="242316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mage 3" descr="看懂听懂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3002" y="256946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4402226" y="24231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300" b="1" dirty="0">
                <a:solidFill>
                  <a:schemeClr val="tx1"/>
                </a:solidFill>
              </a:rPr>
              <a:t>看懂听懂</a:t>
            </a:r>
            <a:endParaRPr lang="en-US" sz="2300" dirty="0"/>
          </a:p>
        </p:txBody>
      </p:sp>
      <p:sp>
        <p:nvSpPr>
          <p:cNvPr id="21" name="Text 14"/>
          <p:cNvSpPr txBox="1"/>
          <p:nvPr/>
        </p:nvSpPr>
        <p:spPr>
          <a:xfrm>
            <a:off x="3606698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看着画面，听懂问题，再回答你。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3606698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chemeClr val="accent6"/>
                </a:solidFill>
              </a:rPr>
              <a:t>接下来看</a:t>
            </a:r>
            <a:endParaRPr lang="en-US" sz="1300" dirty="0"/>
          </a:p>
        </p:txBody>
      </p:sp>
      <p:pic>
        <p:nvPicPr>
          <p:cNvPr id="23" name="Image 4" descr="展品讲解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6698" y="4434840"/>
            <a:ext cx="2148840" cy="5735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606698" y="506320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展品讲解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6207557" y="2194560"/>
            <a:ext cx="2606040" cy="33832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6" name="Shape 18"/>
          <p:cNvSpPr/>
          <p:nvPr/>
        </p:nvSpPr>
        <p:spPr>
          <a:xfrm>
            <a:off x="6436157" y="242316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Image 5" descr="创作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2461" y="2569464"/>
            <a:ext cx="365760" cy="3657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231685" y="24231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300" b="1" dirty="0">
                <a:solidFill>
                  <a:schemeClr val="tx1"/>
                </a:solidFill>
              </a:rPr>
              <a:t>创作</a:t>
            </a:r>
            <a:endParaRPr lang="en-US" sz="2300" dirty="0"/>
          </a:p>
        </p:txBody>
      </p:sp>
      <p:sp>
        <p:nvSpPr>
          <p:cNvPr id="29" name="Text 20"/>
          <p:cNvSpPr txBox="1"/>
          <p:nvPr/>
        </p:nvSpPr>
        <p:spPr>
          <a:xfrm>
            <a:off x="6436157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按你的描述，做出视频、声音和房间设计。</a:t>
            </a:r>
            <a:endParaRPr lang="en-US" sz="1800" dirty="0"/>
          </a:p>
        </p:txBody>
      </p:sp>
      <p:sp>
        <p:nvSpPr>
          <p:cNvPr id="30" name="Text 21"/>
          <p:cNvSpPr txBox="1"/>
          <p:nvPr/>
        </p:nvSpPr>
        <p:spPr>
          <a:xfrm>
            <a:off x="6436157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chemeClr val="accent6"/>
                </a:solidFill>
              </a:rPr>
              <a:t>接下来看</a:t>
            </a:r>
            <a:endParaRPr lang="en-US" sz="1300" dirty="0"/>
          </a:p>
        </p:txBody>
      </p:sp>
      <p:pic>
        <p:nvPicPr>
          <p:cNvPr id="31" name="Image 6" descr="古诗短片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6157" y="4434840"/>
            <a:ext cx="1019556" cy="57350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36157" y="5063204"/>
            <a:ext cx="1019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古诗短片</a:t>
            </a:r>
            <a:endParaRPr lang="en-US" sz="1300" dirty="0"/>
          </a:p>
        </p:txBody>
      </p:sp>
      <p:pic>
        <p:nvPicPr>
          <p:cNvPr id="33" name="Image 7" descr="房间布置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5441" y="4434840"/>
            <a:ext cx="1019556" cy="5735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7565441" y="5063204"/>
            <a:ext cx="1019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房间布置</a:t>
            </a:r>
            <a:endParaRPr lang="en-US" sz="1300" dirty="0"/>
          </a:p>
        </p:txBody>
      </p:sp>
      <p:sp>
        <p:nvSpPr>
          <p:cNvPr id="35" name="Shape 24"/>
          <p:cNvSpPr/>
          <p:nvPr/>
        </p:nvSpPr>
        <p:spPr>
          <a:xfrm>
            <a:off x="9037015" y="2194560"/>
            <a:ext cx="2606040" cy="33832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36" name="Shape 25"/>
          <p:cNvSpPr/>
          <p:nvPr/>
        </p:nvSpPr>
        <p:spPr>
          <a:xfrm>
            <a:off x="9265615" y="2423160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7" name="Image 8" descr="操作软件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1919" y="2569464"/>
            <a:ext cx="365760" cy="365760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10061143" y="24231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300" b="1" dirty="0">
                <a:solidFill>
                  <a:schemeClr val="tx1"/>
                </a:solidFill>
              </a:rPr>
              <a:t>操作软件</a:t>
            </a:r>
            <a:endParaRPr lang="en-US" sz="2300" dirty="0"/>
          </a:p>
        </p:txBody>
      </p:sp>
      <p:sp>
        <p:nvSpPr>
          <p:cNvPr id="39" name="Text 27"/>
          <p:cNvSpPr txBox="1"/>
          <p:nvPr/>
        </p:nvSpPr>
        <p:spPr>
          <a:xfrm>
            <a:off x="9265615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像人一样打开软件，一步步完成任务。</a:t>
            </a:r>
            <a:endParaRPr lang="en-US" sz="1800" dirty="0"/>
          </a:p>
        </p:txBody>
      </p:sp>
      <p:sp>
        <p:nvSpPr>
          <p:cNvPr id="40" name="Text 28"/>
          <p:cNvSpPr txBox="1"/>
          <p:nvPr/>
        </p:nvSpPr>
        <p:spPr>
          <a:xfrm>
            <a:off x="9265615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chemeClr val="accent6"/>
                </a:solidFill>
              </a:rPr>
              <a:t>接下来看</a:t>
            </a:r>
            <a:endParaRPr lang="en-US" sz="1300" dirty="0"/>
          </a:p>
        </p:txBody>
      </p:sp>
      <p:pic>
        <p:nvPicPr>
          <p:cNvPr id="41" name="Image 9" descr="图案到三维模型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65615" y="4434840"/>
            <a:ext cx="2148840" cy="573500"/>
          </a:xfrm>
          <a:prstGeom prst="rect">
            <a:avLst/>
          </a:prstGeom>
        </p:spPr>
      </p:pic>
      <p:sp>
        <p:nvSpPr>
          <p:cNvPr id="42" name="Text 29"/>
          <p:cNvSpPr txBox="1"/>
          <p:nvPr/>
        </p:nvSpPr>
        <p:spPr>
          <a:xfrm>
            <a:off x="9265615" y="506320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图案到三维模型</a:t>
            </a:r>
            <a:endParaRPr lang="en-US" sz="1300" dirty="0"/>
          </a:p>
        </p:txBody>
      </p:sp>
      <p:sp>
        <p:nvSpPr>
          <p:cNvPr id="43" name="Text 30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看的时候想一想：人给了 AI 什么？AI 做出了什么？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说出你的要求，它就写出一个能用的小工具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AI 能做什么</a:t>
            </a:r>
            <a:endParaRPr lang="en-US" sz="1500" dirty="0"/>
          </a:p>
        </p:txBody>
      </p:sp>
      <p:pic>
        <p:nvPicPr>
          <p:cNvPr id="3" name="说出你的要求，它就写出一个能用的小工具（视频）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828800"/>
            <a:ext cx="5878286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746966" y="1828800"/>
            <a:ext cx="4896089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975566" y="1965960"/>
            <a:ext cx="443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人给了它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975566" y="2267712"/>
            <a:ext cx="448460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五个人一起吃饭，按每人吃了什么，算出各该付多少钱。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746966" y="3246120"/>
            <a:ext cx="4896089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975566" y="3383280"/>
            <a:ext cx="443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它做出了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975566" y="3685032"/>
            <a:ext cx="448460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一个算账网页：改价格、勾选谁吃了什么，自动算出每人付多少。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746966" y="4663440"/>
            <a:ext cx="4896089" cy="1280160"/>
          </a:xfrm>
          <a:prstGeom prst="roundRect">
            <a:avLst>
              <a:gd name="adj" fmla="val 8571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975566" y="4800600"/>
            <a:ext cx="4438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边看边想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975566" y="5102352"/>
            <a:ext cx="448460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改一下价格，或取消一个人的果汁，每个人要付的钱会怎样变？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035040"/>
            <a:ext cx="11140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8CC"/>
                </a:solidFill>
              </a:rPr>
              <a:t>来源：OpenAI GPT-6 官方公开工具的操作录屏（2026.10.07）· 点击画面播放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写下场景和角色，它就做出一个能玩的游戏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AI 能做什么</a:t>
            </a:r>
            <a:endParaRPr lang="en-US" sz="1500" dirty="0"/>
          </a:p>
        </p:txBody>
      </p:sp>
      <p:pic>
        <p:nvPicPr>
          <p:cNvPr id="3" name="写下场景和角色，它就做出一个能玩的游戏（视频）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828800"/>
            <a:ext cx="731520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183880" y="182880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412480" y="196596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人给了它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226771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游戏发生在哪里，主角是谁，用哪些键来操作。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8183880" y="324612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412480" y="338328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它做出了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68503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一个能用键盘操作的三维游戏，主角可以在场景里走动。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183880" y="466344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412480" y="480060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边看边想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510235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主角能怎样移动？天气和光线能不能变？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035040"/>
            <a:ext cx="11140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8CC"/>
                </a:solidFill>
              </a:rPr>
              <a:t>来源：Kimi K3 官方演示（2026.07）· 点击画面播放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镜头对准展品，它边看边回答你的问题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AI 能做什么</a:t>
            </a:r>
            <a:endParaRPr lang="en-US" sz="1500" dirty="0"/>
          </a:p>
        </p:txBody>
      </p:sp>
      <p:pic>
        <p:nvPicPr>
          <p:cNvPr id="3" name="镜头对准展品，它边看边回答你的问题（视频）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828800"/>
            <a:ext cx="731520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183880" y="182880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412480" y="196596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人给了它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226771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摄像头拍到的展品，和参观者说出的问题。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8183880" y="324612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412480" y="338328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它做出了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68503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用语音回答问题；看到要找的东西，还会主动提醒。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183880" y="466344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412480" y="480060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边看边想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510235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镜头转向另一件展品时，它的回答跟着变了吗？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035040"/>
            <a:ext cx="11140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8CC"/>
                </a:solidFill>
              </a:rPr>
              <a:t>来源：SeedRealtime 官方演示（2026.08.05）· 点击画面播放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一首古诗，变成一段有声音的短片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AI 能做什么</a:t>
            </a:r>
            <a:endParaRPr lang="en-US" sz="1500" dirty="0"/>
          </a:p>
        </p:txBody>
      </p:sp>
      <p:pic>
        <p:nvPicPr>
          <p:cNvPr id="3" name="一首古诗，变成一段有声音的短片（视频）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828800"/>
            <a:ext cx="731520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183880" y="182880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412480" y="196596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人给了它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226771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古诗《青玉案·元夕》，和想要的人物、场景、镜头。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8183880" y="324612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412480" y="338328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它做出了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68503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一段有声音的古风短片，镜头连贯地穿过多个场景。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183880" y="466344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412480" y="480060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边看边想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510235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画面怎样从一个场景换到下一个？人物和声音前后对得上吗？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035040"/>
            <a:ext cx="11140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8CC"/>
                </a:solidFill>
              </a:rPr>
              <a:t>来源：Seedance 2.5 官方演示（2026.07.31）· AI 生成的艺术画面，不是历史影像 · 点击画面播放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给它房间的照片，它帮你安排家具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AI 能做什么</a:t>
            </a:r>
            <a:endParaRPr lang="en-US" sz="1500" dirty="0"/>
          </a:p>
        </p:txBody>
      </p:sp>
      <p:pic>
        <p:nvPicPr>
          <p:cNvPr id="3" name="给它房间的照片，它帮你安排家具（视频）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828800"/>
            <a:ext cx="731520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183880" y="182880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412480" y="196596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人给了它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226771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房间和家具的图片，和想要的布置效果。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8183880" y="324612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412480" y="338328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它做出了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68503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一个摆好家具的三维房间模型。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183880" y="466344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412480" y="480060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边看边想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510235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家具摆在了哪里？能不能转个角度看整个房间？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035040"/>
            <a:ext cx="11140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8CC"/>
                </a:solidFill>
              </a:rPr>
              <a:t>来源：Qwen3.8-Max 官方演示（2026.08.03）· 点击画面播放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它自己打开软件，先画图案，再做成三维模型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AI 能做什么</a:t>
            </a:r>
            <a:endParaRPr lang="en-US" sz="1500" dirty="0"/>
          </a:p>
        </p:txBody>
      </p:sp>
      <p:pic>
        <p:nvPicPr>
          <p:cNvPr id="3" name="它自己打开软件，先画图案，再做成三维模型（视频）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828800"/>
            <a:ext cx="731520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183880" y="182880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412480" y="196596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人给了它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226771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一步一步的要求：把圆形改成火箭图案，再做成三维模型。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8183880" y="324612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412480" y="338328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它做出了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368503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一个火箭图案，和用 Blender 软件做出的三维火箭模型。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183880" y="4663440"/>
            <a:ext cx="3459175" cy="1280160"/>
          </a:xfrm>
          <a:prstGeom prst="roundRect">
            <a:avLst>
              <a:gd name="adj" fmla="val 8571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412480" y="4800600"/>
            <a:ext cx="3001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边看边想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5102352"/>
            <a:ext cx="30476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它打开了什么软件？模型做好后，人又提了什么新要求？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035040"/>
            <a:ext cx="11140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8CC"/>
                </a:solidFill>
              </a:rPr>
              <a:t>来源：OpenAI GPT-6 Astra 官方发布片节选（2026.09.03）· 点击画面播放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这些作品，你也想用 AI 亲手做出来吗？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接下来十次课</a:t>
            </a:r>
            <a:endParaRPr lang="en-US" sz="1500" dirty="0"/>
          </a:p>
        </p:txBody>
      </p:sp>
      <p:pic>
        <p:nvPicPr>
          <p:cNvPr id="6" name="Image 0" descr="算账小工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1696669" cy="9543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057496"/>
            <a:ext cx="16966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算账小工具</a:t>
            </a:r>
            <a:endParaRPr lang="en-US" sz="1500" dirty="0"/>
          </a:p>
        </p:txBody>
      </p:sp>
      <p:pic>
        <p:nvPicPr>
          <p:cNvPr id="8" name="Image 1" descr="小游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189" y="2011680"/>
            <a:ext cx="1696669" cy="9543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428189" y="3057496"/>
            <a:ext cx="16966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小游戏</a:t>
            </a:r>
            <a:endParaRPr lang="en-US" sz="1500" dirty="0"/>
          </a:p>
        </p:txBody>
      </p:sp>
      <p:pic>
        <p:nvPicPr>
          <p:cNvPr id="10" name="Image 2" descr="展品讲解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7738" y="2011680"/>
            <a:ext cx="1696669" cy="95437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4307738" y="3057496"/>
            <a:ext cx="16966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展品讲解</a:t>
            </a:r>
            <a:endParaRPr lang="en-US" sz="1500" dirty="0"/>
          </a:p>
        </p:txBody>
      </p:sp>
      <p:pic>
        <p:nvPicPr>
          <p:cNvPr id="12" name="Image 3" descr="古诗短片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7288" y="2011680"/>
            <a:ext cx="1696669" cy="95437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187288" y="3057496"/>
            <a:ext cx="16966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古诗短片</a:t>
            </a:r>
            <a:endParaRPr lang="en-US" sz="1500" dirty="0"/>
          </a:p>
        </p:txBody>
      </p:sp>
      <p:pic>
        <p:nvPicPr>
          <p:cNvPr id="14" name="Image 4" descr="房间布置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837" y="2011680"/>
            <a:ext cx="1696669" cy="954376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8066837" y="3057496"/>
            <a:ext cx="16966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房间布置</a:t>
            </a:r>
            <a:endParaRPr lang="en-US" sz="1500" dirty="0"/>
          </a:p>
        </p:txBody>
      </p:sp>
      <p:pic>
        <p:nvPicPr>
          <p:cNvPr id="16" name="Image 5" descr="三维模型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6386" y="2011680"/>
            <a:ext cx="1696669" cy="954376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9946386" y="3057496"/>
            <a:ext cx="16966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三维模型</a:t>
            </a:r>
            <a:endParaRPr lang="en-US" sz="1500" dirty="0"/>
          </a:p>
        </p:txBody>
      </p:sp>
      <p:sp>
        <p:nvSpPr>
          <p:cNvPr id="18" name="Text 9"/>
          <p:cNvSpPr txBox="1"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chemeClr val="bg1"/>
                </a:solidFill>
              </a:rPr>
              <a:t>接下来十次课，我们带你从零开始，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chemeClr val="bg1"/>
                </a:solidFill>
              </a:rPr>
              <a:t>用 AI 亲手做出</a:t>
            </a:r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chemeClr val="accent1"/>
                </a:solidFill>
              </a:rPr>
              <a:t>两件作品</a:t>
            </a:r>
            <a:pPr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chemeClr val="bg1"/>
                </a:solidFill>
              </a:rPr>
              <a:t>。</a:t>
            </a:r>
            <a:endParaRPr lang="en-US" sz="3400" dirty="0"/>
          </a:p>
        </p:txBody>
      </p:sp>
      <p:sp>
        <p:nvSpPr>
          <p:cNvPr id="19" name="Text 10"/>
          <p:cNvSpPr txBox="1"/>
          <p:nvPr/>
        </p:nvSpPr>
        <p:spPr>
          <a:xfrm>
            <a:off x="548640" y="50292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rgbClr val="A9B8CC"/>
                </a:solidFill>
              </a:rPr>
              <a:t>不需要编程基础。每次课学一点，一步一步做出来。</a:t>
            </a:r>
            <a:endParaRPr lang="en-US" sz="2200" dirty="0"/>
          </a:p>
        </p:txBody>
      </p:sp>
      <p:sp>
        <p:nvSpPr>
          <p:cNvPr id="20" name="Text 11"/>
          <p:cNvSpPr txBox="1"/>
          <p:nvPr/>
        </p:nvSpPr>
        <p:spPr>
          <a:xfrm>
            <a:off x="548640" y="5669280"/>
            <a:ext cx="429768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作品一  </a:t>
            </a:r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桌面物品识别提示器</a:t>
            </a:r>
            <a:endParaRPr lang="en-US" sz="2000" dirty="0"/>
          </a:p>
        </p:txBody>
      </p:sp>
      <p:sp>
        <p:nvSpPr>
          <p:cNvPr id="21" name="Text 12"/>
          <p:cNvSpPr txBox="1"/>
          <p:nvPr/>
        </p:nvSpPr>
        <p:spPr>
          <a:xfrm>
            <a:off x="5120640" y="5669280"/>
            <a:ext cx="4297680" cy="502920"/>
          </a:xfrm>
          <a:prstGeom prst="roundRect">
            <a:avLst>
              <a:gd name="adj" fmla="val 49091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作品二  </a:t>
            </a:r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校园展览讲解助手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十次课，你会亲手做出这两件作品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接下来十次课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5394960" cy="3794760"/>
          </a:xfrm>
          <a:prstGeom prst="roundRect">
            <a:avLst>
              <a:gd name="adj" fmla="val 2892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40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500" b="1" dirty="0">
                <a:solidFill>
                  <a:schemeClr val="tx1"/>
                </a:solidFill>
              </a:rPr>
              <a:t>作品一：桌面物品识别提示器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74320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把物品放到摄像头前，AI 认出它是什么，小灯板亮出它该放回哪里。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028700" y="3749040"/>
            <a:ext cx="11430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pic>
        <p:nvPicPr>
          <p:cNvPr id="10" name="Image 0" descr="摄像头拍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3020" y="4023360"/>
            <a:ext cx="594360" cy="594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4380" y="50017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摄像头拍照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263140" y="4320540"/>
            <a:ext cx="32004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674620" y="3749040"/>
            <a:ext cx="11430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pic>
        <p:nvPicPr>
          <p:cNvPr id="14" name="Image 1" descr="AI 认出物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8940" y="402336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400300" y="50017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AI 认出物品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3909060" y="4320540"/>
            <a:ext cx="32004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4320540" y="3749040"/>
            <a:ext cx="114300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</p:spPr>
      </p:sp>
      <p:sp>
        <p:nvSpPr>
          <p:cNvPr id="18" name="Shape 13"/>
          <p:cNvSpPr/>
          <p:nvPr/>
        </p:nvSpPr>
        <p:spPr>
          <a:xfrm>
            <a:off x="4457700" y="388620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19" name="Shape 14"/>
          <p:cNvSpPr/>
          <p:nvPr/>
        </p:nvSpPr>
        <p:spPr>
          <a:xfrm>
            <a:off x="4640580" y="388620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20" name="Shape 15"/>
          <p:cNvSpPr/>
          <p:nvPr/>
        </p:nvSpPr>
        <p:spPr>
          <a:xfrm>
            <a:off x="4823460" y="3886200"/>
            <a:ext cx="137160" cy="1371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Shape 16"/>
          <p:cNvSpPr/>
          <p:nvPr/>
        </p:nvSpPr>
        <p:spPr>
          <a:xfrm>
            <a:off x="5006340" y="388620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22" name="Shape 17"/>
          <p:cNvSpPr/>
          <p:nvPr/>
        </p:nvSpPr>
        <p:spPr>
          <a:xfrm>
            <a:off x="5189220" y="388620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23" name="Shape 18"/>
          <p:cNvSpPr/>
          <p:nvPr/>
        </p:nvSpPr>
        <p:spPr>
          <a:xfrm>
            <a:off x="4457700" y="406908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24" name="Shape 19"/>
          <p:cNvSpPr/>
          <p:nvPr/>
        </p:nvSpPr>
        <p:spPr>
          <a:xfrm>
            <a:off x="4640580" y="4069080"/>
            <a:ext cx="137160" cy="1371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Shape 20"/>
          <p:cNvSpPr/>
          <p:nvPr/>
        </p:nvSpPr>
        <p:spPr>
          <a:xfrm>
            <a:off x="4823460" y="406908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26" name="Shape 21"/>
          <p:cNvSpPr/>
          <p:nvPr/>
        </p:nvSpPr>
        <p:spPr>
          <a:xfrm>
            <a:off x="5006340" y="406908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27" name="Shape 22"/>
          <p:cNvSpPr/>
          <p:nvPr/>
        </p:nvSpPr>
        <p:spPr>
          <a:xfrm>
            <a:off x="5189220" y="406908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28" name="Shape 23"/>
          <p:cNvSpPr/>
          <p:nvPr/>
        </p:nvSpPr>
        <p:spPr>
          <a:xfrm>
            <a:off x="4457700" y="4251960"/>
            <a:ext cx="137160" cy="1371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Shape 24"/>
          <p:cNvSpPr/>
          <p:nvPr/>
        </p:nvSpPr>
        <p:spPr>
          <a:xfrm>
            <a:off x="4640580" y="4251960"/>
            <a:ext cx="137160" cy="1371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Shape 25"/>
          <p:cNvSpPr/>
          <p:nvPr/>
        </p:nvSpPr>
        <p:spPr>
          <a:xfrm>
            <a:off x="4823460" y="4251960"/>
            <a:ext cx="137160" cy="1371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Shape 26"/>
          <p:cNvSpPr/>
          <p:nvPr/>
        </p:nvSpPr>
        <p:spPr>
          <a:xfrm>
            <a:off x="5006340" y="4251960"/>
            <a:ext cx="137160" cy="1371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Shape 27"/>
          <p:cNvSpPr/>
          <p:nvPr/>
        </p:nvSpPr>
        <p:spPr>
          <a:xfrm>
            <a:off x="5189220" y="4251960"/>
            <a:ext cx="137160" cy="1371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3" name="Shape 28"/>
          <p:cNvSpPr/>
          <p:nvPr/>
        </p:nvSpPr>
        <p:spPr>
          <a:xfrm>
            <a:off x="4457700" y="443484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34" name="Shape 29"/>
          <p:cNvSpPr/>
          <p:nvPr/>
        </p:nvSpPr>
        <p:spPr>
          <a:xfrm>
            <a:off x="4640580" y="4434840"/>
            <a:ext cx="137160" cy="1371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Shape 30"/>
          <p:cNvSpPr/>
          <p:nvPr/>
        </p:nvSpPr>
        <p:spPr>
          <a:xfrm>
            <a:off x="4823460" y="443484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36" name="Shape 31"/>
          <p:cNvSpPr/>
          <p:nvPr/>
        </p:nvSpPr>
        <p:spPr>
          <a:xfrm>
            <a:off x="5006340" y="443484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37" name="Shape 32"/>
          <p:cNvSpPr/>
          <p:nvPr/>
        </p:nvSpPr>
        <p:spPr>
          <a:xfrm>
            <a:off x="5189220" y="443484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38" name="Shape 33"/>
          <p:cNvSpPr/>
          <p:nvPr/>
        </p:nvSpPr>
        <p:spPr>
          <a:xfrm>
            <a:off x="4457700" y="461772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39" name="Shape 34"/>
          <p:cNvSpPr/>
          <p:nvPr/>
        </p:nvSpPr>
        <p:spPr>
          <a:xfrm>
            <a:off x="4640580" y="461772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40" name="Shape 35"/>
          <p:cNvSpPr/>
          <p:nvPr/>
        </p:nvSpPr>
        <p:spPr>
          <a:xfrm>
            <a:off x="4823460" y="4617720"/>
            <a:ext cx="137160" cy="1371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1" name="Shape 36"/>
          <p:cNvSpPr/>
          <p:nvPr/>
        </p:nvSpPr>
        <p:spPr>
          <a:xfrm>
            <a:off x="5006340" y="461772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42" name="Shape 37"/>
          <p:cNvSpPr/>
          <p:nvPr/>
        </p:nvSpPr>
        <p:spPr>
          <a:xfrm>
            <a:off x="5189220" y="4617720"/>
            <a:ext cx="137160" cy="137160"/>
          </a:xfrm>
          <a:prstGeom prst="ellipse">
            <a:avLst/>
          </a:prstGeom>
          <a:solidFill>
            <a:schemeClr val="accent6">
              <a:alpha val="45000"/>
            </a:schemeClr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4046220" y="50017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小灯板显示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6248095" y="1965960"/>
            <a:ext cx="5394960" cy="3794760"/>
          </a:xfrm>
          <a:prstGeom prst="roundRect">
            <a:avLst>
              <a:gd name="adj" fmla="val 2892"/>
            </a:avLst>
          </a:prstGeom>
          <a:solidFill>
            <a:schemeClr val="bg2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6613855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500" b="1" dirty="0">
                <a:solidFill>
                  <a:schemeClr val="tx1"/>
                </a:solidFill>
              </a:rPr>
              <a:t>作品二：校园展览讲解助手</a:t>
            </a:r>
            <a:endParaRPr lang="en-US" sz="2500" dirty="0"/>
          </a:p>
        </p:txBody>
      </p:sp>
      <p:sp>
        <p:nvSpPr>
          <p:cNvPr id="46" name="Text 41"/>
          <p:cNvSpPr txBox="1"/>
          <p:nvPr/>
        </p:nvSpPr>
        <p:spPr>
          <a:xfrm>
            <a:off x="6613855" y="274320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参观者提问，它按展品资料来回答，还会出一道知识挑战题。</a:t>
            </a:r>
            <a:endParaRPr lang="en-US" sz="1800" dirty="0"/>
          </a:p>
        </p:txBody>
      </p:sp>
      <p:sp>
        <p:nvSpPr>
          <p:cNvPr id="47" name="Shape 42"/>
          <p:cNvSpPr/>
          <p:nvPr/>
        </p:nvSpPr>
        <p:spPr>
          <a:xfrm>
            <a:off x="6728155" y="3749040"/>
            <a:ext cx="11430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pic>
        <p:nvPicPr>
          <p:cNvPr id="48" name="Image 2" descr="展品资料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2475" y="4023360"/>
            <a:ext cx="594360" cy="594360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6453835" y="50017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展品资料</a:t>
            </a:r>
            <a:endParaRPr lang="en-US" sz="1400" dirty="0"/>
          </a:p>
        </p:txBody>
      </p:sp>
      <p:sp>
        <p:nvSpPr>
          <p:cNvPr id="50" name="Shape 44"/>
          <p:cNvSpPr/>
          <p:nvPr/>
        </p:nvSpPr>
        <p:spPr>
          <a:xfrm>
            <a:off x="7962595" y="4320540"/>
            <a:ext cx="32004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51" name="Shape 45"/>
          <p:cNvSpPr/>
          <p:nvPr/>
        </p:nvSpPr>
        <p:spPr>
          <a:xfrm>
            <a:off x="8374075" y="3749040"/>
            <a:ext cx="11430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pic>
        <p:nvPicPr>
          <p:cNvPr id="52" name="Image 3" descr="AI 讲解助手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8395" y="4023360"/>
            <a:ext cx="594360" cy="594360"/>
          </a:xfrm>
          <a:prstGeom prst="rect">
            <a:avLst/>
          </a:prstGeom>
        </p:spPr>
      </p:pic>
      <p:sp>
        <p:nvSpPr>
          <p:cNvPr id="53" name="Text 46"/>
          <p:cNvSpPr txBox="1"/>
          <p:nvPr/>
        </p:nvSpPr>
        <p:spPr>
          <a:xfrm>
            <a:off x="8099755" y="50017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AI 讲解助手</a:t>
            </a:r>
            <a:endParaRPr lang="en-US" sz="1400" dirty="0"/>
          </a:p>
        </p:txBody>
      </p:sp>
      <p:sp>
        <p:nvSpPr>
          <p:cNvPr id="54" name="Shape 47"/>
          <p:cNvSpPr/>
          <p:nvPr/>
        </p:nvSpPr>
        <p:spPr>
          <a:xfrm>
            <a:off x="9608515" y="4320540"/>
            <a:ext cx="32004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55" name="Shape 48"/>
          <p:cNvSpPr/>
          <p:nvPr/>
        </p:nvSpPr>
        <p:spPr>
          <a:xfrm>
            <a:off x="10019995" y="3749040"/>
            <a:ext cx="114300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/>
        </p:spPr>
      </p:sp>
      <p:pic>
        <p:nvPicPr>
          <p:cNvPr id="56" name="Image 4" descr="回答和挑战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4315" y="4023360"/>
            <a:ext cx="594360" cy="594360"/>
          </a:xfrm>
          <a:prstGeom prst="rect">
            <a:avLst/>
          </a:prstGeom>
        </p:spPr>
      </p:pic>
      <p:sp>
        <p:nvSpPr>
          <p:cNvPr id="57" name="Text 49"/>
          <p:cNvSpPr txBox="1"/>
          <p:nvPr/>
        </p:nvSpPr>
        <p:spPr>
          <a:xfrm>
            <a:off x="9745675" y="50017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chemeClr val="accent6"/>
                </a:solidFill>
              </a:rPr>
              <a:t>回答和挑战题</a:t>
            </a:r>
            <a:endParaRPr lang="en-US" sz="1400" dirty="0"/>
          </a:p>
        </p:txBody>
      </p:sp>
      <p:sp>
        <p:nvSpPr>
          <p:cNvPr id="58" name="Text 50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教 AI 认哪些东西、讲哪些知识，都由你们自己决定，自己测试。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十次课：从认识 AI 到办一场展览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接下来十次课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3520440"/>
            <a:ext cx="9875520" cy="0"/>
          </a:xfrm>
          <a:prstGeom prst="line">
            <a:avLst/>
          </a:prstGeom>
          <a:noFill/>
          <a:ln w="25400">
            <a:solidFill>
              <a:schemeClr val="accent6">
                <a:alpha val="50000"/>
              </a:scheme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2194560"/>
            <a:ext cx="950976" cy="502920"/>
          </a:xfrm>
          <a:prstGeom prst="roundRect">
            <a:avLst>
              <a:gd name="adj" fmla="val 4909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入门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1097280" y="2697480"/>
            <a:ext cx="0" cy="45720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19072" y="2194560"/>
            <a:ext cx="4242816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作品一 · 物品识别提示器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840480" y="2697480"/>
            <a:ext cx="0" cy="45720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08192" y="2194560"/>
            <a:ext cx="4242816" cy="502920"/>
          </a:xfrm>
          <a:prstGeom prst="roundRect">
            <a:avLst>
              <a:gd name="adj" fmla="val 49091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作品二 · 展览讲解助手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229600" y="2697480"/>
            <a:ext cx="0" cy="4572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97312" y="2194560"/>
            <a:ext cx="950976" cy="502920"/>
          </a:xfrm>
          <a:prstGeom prst="roundRect">
            <a:avLst>
              <a:gd name="adj" fmla="val 49091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展示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972800" y="2697480"/>
            <a:ext cx="0" cy="45720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1546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AI侦探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920240" y="32461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64592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教AI认物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32461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274320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点亮灯板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0" y="32461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测试改进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212080" y="32461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93776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完成作品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309360" y="3246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03504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讲解助手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406640" y="3246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建资料库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03920" y="3246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8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出挑战题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9601200" y="32461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9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32688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同学试用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10698480" y="324612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10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042416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创客展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441655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chemeClr val="accent6"/>
                </a:solidFill>
              </a:rPr>
              <a:t>今天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645920" y="4937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学会：教 AI 看图认东西，</a:t>
            </a:r>
            <a:endParaRPr lang="en-US" sz="1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再让设备做出反应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035040" y="4937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学会：让 AI 照着资料回答，</a:t>
            </a:r>
            <a:endParaRPr lang="en-US" sz="1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并检查它说得对不对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0332720" y="49377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展示作品</a:t>
            </a:r>
            <a:endParaRPr lang="en-US" sz="16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回答提问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第 10 课，你会在创客展上，向大家展示自己做的作品。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今天，你来当 AI 侦探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今天的任务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A9B8CC"/>
                </a:solidFill>
              </a:rPr>
              <a:t>动手做作品之前，先把 AI 看清楚。侦探不看表面，只认证据。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935442" y="3063240"/>
            <a:ext cx="8320811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49642" y="237744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辨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977640"/>
            <a:ext cx="24078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chemeClr val="bg1"/>
                </a:solidFill>
              </a:rPr>
              <a:t>辨认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526280"/>
            <a:ext cx="26821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A9B8CC"/>
                </a:solidFill>
              </a:rPr>
              <a:t>身边哪些东西，</a:t>
            </a:r>
            <a:endParaRPr lang="en-US" sz="1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A9B8CC"/>
                </a:solidFill>
              </a:rPr>
              <a:t>真的用了 AI？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023246" y="2377440"/>
            <a:ext cx="1371600" cy="13716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懂</a:t>
            </a:r>
            <a:endParaRPr lang="en-US" sz="6000" dirty="0"/>
          </a:p>
        </p:txBody>
      </p:sp>
      <p:sp>
        <p:nvSpPr>
          <p:cNvPr id="12" name="Text 9"/>
          <p:cNvSpPr txBox="1"/>
          <p:nvPr/>
        </p:nvSpPr>
        <p:spPr>
          <a:xfrm>
            <a:off x="3505124" y="3977640"/>
            <a:ext cx="24078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chemeClr val="bg1"/>
                </a:solidFill>
              </a:rPr>
              <a:t>弄懂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367964" y="4526280"/>
            <a:ext cx="26821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A9B8CC"/>
                </a:solidFill>
              </a:rPr>
              <a:t>AI 是怎样</a:t>
            </a:r>
            <a:endParaRPr lang="en-US" sz="1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A9B8CC"/>
                </a:solidFill>
              </a:rPr>
              <a:t>学会本领的？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796850" y="2377440"/>
            <a:ext cx="1371600" cy="13716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测</a:t>
            </a:r>
            <a:endParaRPr lang="en-US" sz="6000" dirty="0"/>
          </a:p>
        </p:txBody>
      </p:sp>
      <p:sp>
        <p:nvSpPr>
          <p:cNvPr id="15" name="Text 12"/>
          <p:cNvSpPr txBox="1"/>
          <p:nvPr/>
        </p:nvSpPr>
        <p:spPr>
          <a:xfrm>
            <a:off x="6278728" y="3977640"/>
            <a:ext cx="24078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chemeClr val="bg1"/>
                </a:solidFill>
              </a:rPr>
              <a:t>测试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141568" y="4526280"/>
            <a:ext cx="26821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A9B8CC"/>
                </a:solidFill>
              </a:rPr>
              <a:t>亲手试一试：</a:t>
            </a:r>
            <a:endParaRPr lang="en-US" sz="1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A9B8CC"/>
                </a:solidFill>
              </a:rPr>
              <a:t>AI 会出错吗？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570453" y="2377440"/>
            <a:ext cx="1371600" cy="13716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tx1"/>
                </a:solidFill>
              </a:rPr>
              <a:t>核</a:t>
            </a:r>
            <a:endParaRPr lang="en-US" sz="6000" dirty="0"/>
          </a:p>
        </p:txBody>
      </p:sp>
      <p:sp>
        <p:nvSpPr>
          <p:cNvPr id="18" name="Text 15"/>
          <p:cNvSpPr txBox="1"/>
          <p:nvPr/>
        </p:nvSpPr>
        <p:spPr>
          <a:xfrm>
            <a:off x="9052331" y="3977640"/>
            <a:ext cx="24078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chemeClr val="bg1"/>
                </a:solidFill>
              </a:rPr>
              <a:t>核对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8915171" y="4526280"/>
            <a:ext cx="26821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A9B8CC"/>
                </a:solidFill>
              </a:rPr>
              <a:t>AI 说的话，</a:t>
            </a:r>
            <a:endParaRPr lang="en-US" sz="1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A9B8CC"/>
                </a:solidFill>
              </a:rPr>
              <a:t>都能信吗？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chemeClr val="bg1"/>
                </a:solidFill>
              </a:rPr>
              <a:t>今天下课前，每人写下一个你想用 AI 做的小工具。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0" y="25146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辨认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1371600"/>
            <a:ext cx="4114800" cy="4114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chemeClr val="tx1"/>
                </a:solidFill>
              </a:rPr>
              <a:t>辨</a:t>
            </a:r>
            <a:endParaRPr lang="en-US" sz="190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20116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rgbClr val="A9B8CC"/>
                </a:solidFill>
              </a:rPr>
              <a:t>第 1 站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37947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chemeClr val="accent1"/>
                </a:solidFill>
              </a:rPr>
              <a:t>身边的“智能”，都是 AI 吗？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50749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A9B8CC"/>
                </a:solidFill>
              </a:rPr>
              <a:t>先比一比两个答疑网页，再分一分八个身边的例子。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同样会回答问题，做法可以完全不同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辨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辨认 · 谁用了 AI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两个社团答疑网页，你问“活动地点在哪？”，它们都能回答。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53949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做法一：查关键词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2560320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普通规则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246120"/>
            <a:ext cx="4663440" cy="512064"/>
          </a:xfrm>
          <a:prstGeom prst="roundRect">
            <a:avLst>
              <a:gd name="adj" fmla="val 21429"/>
            </a:avLst>
          </a:prstGeom>
          <a:solidFill>
            <a:schemeClr val="bg1"/>
          </a:solidFill>
          <a:ln/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发现问题里有“地点”两个字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3246120" y="3776472"/>
            <a:ext cx="0" cy="22860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914400" y="4023360"/>
            <a:ext cx="4663440" cy="512064"/>
          </a:xfrm>
          <a:prstGeom prst="roundRect">
            <a:avLst>
              <a:gd name="adj" fmla="val 21429"/>
            </a:avLst>
          </a:prstGeom>
          <a:solidFill>
            <a:schemeClr val="bg1"/>
          </a:solidFill>
          <a:ln/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去一张事先做好的表里查找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3246120" y="4553712"/>
            <a:ext cx="0" cy="22860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914400" y="4800600"/>
            <a:ext cx="4663440" cy="512064"/>
          </a:xfrm>
          <a:prstGeom prst="roundRect">
            <a:avLst>
              <a:gd name="adj" fmla="val 21429"/>
            </a:avLst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显示：“活动在科学楼 302。”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6248095" y="2286000"/>
            <a:ext cx="53949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613855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做法二：让 AI 写回答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10088575" y="2560320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613855" y="3246120"/>
            <a:ext cx="4663440" cy="512064"/>
          </a:xfrm>
          <a:prstGeom prst="roundRect">
            <a:avLst>
              <a:gd name="adj" fmla="val 21429"/>
            </a:avLst>
          </a:prstGeom>
          <a:solidFill>
            <a:schemeClr val="bg1"/>
          </a:solidFill>
          <a:ln/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把问题和社团资料一起交给 AI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8945575" y="3776472"/>
            <a:ext cx="0" cy="22860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6613855" y="4023360"/>
            <a:ext cx="4663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/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AI 根据资料，自己组织句子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8945575" y="4553712"/>
            <a:ext cx="0" cy="22860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613855" y="4800600"/>
            <a:ext cx="4663440" cy="512064"/>
          </a:xfrm>
          <a:prstGeom prst="roundRect">
            <a:avLst>
              <a:gd name="adj" fmla="val 21429"/>
            </a:avLst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txBody>
          <a:bodyPr wrap="square" lIns="76200" tIns="127000" rIns="127000" bIns="7620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写出：“活动在科学楼 302。”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两边的回答一模一样。只看回答，分不出用没用 AI，要看它是怎么做出来的。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分一分：这八个功能用了 AI 吗？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辨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辨认 · 谁用了 AI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5146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pic>
        <p:nvPicPr>
          <p:cNvPr id="7" name="Image 0" descr="固定时间提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276856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2057400"/>
            <a:ext cx="1783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固定时间提醒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3200400" y="2057400"/>
            <a:ext cx="25146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pic>
        <p:nvPicPr>
          <p:cNvPr id="10" name="Image 1" descr="社团答疑页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276856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886200" y="2057400"/>
            <a:ext cx="1783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社团答疑页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2971800"/>
            <a:ext cx="25146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pic>
        <p:nvPicPr>
          <p:cNvPr id="13" name="Image 2" descr="文具分类器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91256"/>
            <a:ext cx="365760" cy="365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2971800"/>
            <a:ext cx="1783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文具分类器</a:t>
            </a:r>
            <a:endParaRPr lang="en-US" sz="1800" dirty="0"/>
          </a:p>
        </p:txBody>
      </p:sp>
      <p:sp>
        <p:nvSpPr>
          <p:cNvPr id="15" name="Shape 9"/>
          <p:cNvSpPr/>
          <p:nvPr/>
        </p:nvSpPr>
        <p:spPr>
          <a:xfrm>
            <a:off x="3200400" y="2971800"/>
            <a:ext cx="25146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pic>
        <p:nvPicPr>
          <p:cNvPr id="16" name="Image 3" descr="视频推荐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3191256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886200" y="2971800"/>
            <a:ext cx="1783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视频推荐</a:t>
            </a:r>
            <a:endParaRPr lang="en-US" sz="1800" dirty="0"/>
          </a:p>
        </p:txBody>
      </p:sp>
      <p:sp>
        <p:nvSpPr>
          <p:cNvPr id="18" name="Shape 11"/>
          <p:cNvSpPr/>
          <p:nvPr/>
        </p:nvSpPr>
        <p:spPr>
          <a:xfrm>
            <a:off x="548640" y="3886200"/>
            <a:ext cx="25146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pic>
        <p:nvPicPr>
          <p:cNvPr id="19" name="Image 4" descr="短片生成器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105656"/>
            <a:ext cx="365760" cy="3657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34440" y="3886200"/>
            <a:ext cx="1783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短片生成器</a:t>
            </a:r>
            <a:endParaRPr lang="en-US" sz="1800" dirty="0"/>
          </a:p>
        </p:txBody>
      </p:sp>
      <p:sp>
        <p:nvSpPr>
          <p:cNvPr id="21" name="Shape 13"/>
          <p:cNvSpPr/>
          <p:nvPr/>
        </p:nvSpPr>
        <p:spPr>
          <a:xfrm>
            <a:off x="3200400" y="3886200"/>
            <a:ext cx="25146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pic>
        <p:nvPicPr>
          <p:cNvPr id="22" name="Image 5" descr="智能运动手表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4105656"/>
            <a:ext cx="365760" cy="3657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3886200" y="3886200"/>
            <a:ext cx="1783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智能运动手表</a:t>
            </a:r>
            <a:endParaRPr lang="en-US" sz="1800" dirty="0"/>
          </a:p>
        </p:txBody>
      </p:sp>
      <p:sp>
        <p:nvSpPr>
          <p:cNvPr id="24" name="Shape 15"/>
          <p:cNvSpPr/>
          <p:nvPr/>
        </p:nvSpPr>
        <p:spPr>
          <a:xfrm>
            <a:off x="548640" y="4800600"/>
            <a:ext cx="25146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pic>
        <p:nvPicPr>
          <p:cNvPr id="25" name="Image 6" descr="AI 帮助编写的游戏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020056"/>
            <a:ext cx="365760" cy="3657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234440" y="4800600"/>
            <a:ext cx="1783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AI 帮助编写的游戏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3200400" y="4800600"/>
            <a:ext cx="251460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pic>
        <p:nvPicPr>
          <p:cNvPr id="28" name="Image 7" descr="音乐推荐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3280" y="5020056"/>
            <a:ext cx="365760" cy="3657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3886200" y="4800600"/>
            <a:ext cx="1783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音乐推荐</a:t>
            </a:r>
            <a:endParaRPr lang="en-US" sz="1800" dirty="0"/>
          </a:p>
        </p:txBody>
      </p:sp>
      <p:sp>
        <p:nvSpPr>
          <p:cNvPr id="30" name="Shape 19"/>
          <p:cNvSpPr/>
          <p:nvPr/>
        </p:nvSpPr>
        <p:spPr>
          <a:xfrm>
            <a:off x="6172200" y="2057400"/>
            <a:ext cx="5470855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</p:spPr>
      </p:sp>
      <p:sp>
        <p:nvSpPr>
          <p:cNvPr id="31" name="Shape 20"/>
          <p:cNvSpPr/>
          <p:nvPr/>
        </p:nvSpPr>
        <p:spPr>
          <a:xfrm>
            <a:off x="6446520" y="2331720"/>
            <a:ext cx="530352" cy="53035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2" name="Text 21"/>
          <p:cNvSpPr txBox="1"/>
          <p:nvPr/>
        </p:nvSpPr>
        <p:spPr>
          <a:xfrm>
            <a:off x="6446520" y="2331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33" name="Text 22"/>
          <p:cNvSpPr txBox="1"/>
          <p:nvPr/>
        </p:nvSpPr>
        <p:spPr>
          <a:xfrm>
            <a:off x="7223760" y="2221992"/>
            <a:ext cx="4190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tx1"/>
                </a:solidFill>
              </a:rPr>
              <a:t>按说明用了 AI</a:t>
            </a:r>
            <a:endParaRPr lang="en-US" sz="2200" dirty="0"/>
          </a:p>
        </p:txBody>
      </p:sp>
      <p:sp>
        <p:nvSpPr>
          <p:cNvPr id="34" name="Text 23"/>
          <p:cNvSpPr txBox="1"/>
          <p:nvPr/>
        </p:nvSpPr>
        <p:spPr>
          <a:xfrm>
            <a:off x="7223760" y="2651760"/>
            <a:ext cx="4190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说出 AI 在哪一步帮了忙</a:t>
            </a:r>
            <a:endParaRPr lang="en-US" sz="1600" dirty="0"/>
          </a:p>
        </p:txBody>
      </p:sp>
      <p:sp>
        <p:nvSpPr>
          <p:cNvPr id="35" name="Shape 24"/>
          <p:cNvSpPr/>
          <p:nvPr/>
        </p:nvSpPr>
        <p:spPr>
          <a:xfrm>
            <a:off x="6172200" y="3246120"/>
            <a:ext cx="5470855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</p:spPr>
      </p:sp>
      <p:sp>
        <p:nvSpPr>
          <p:cNvPr id="36" name="Shape 25"/>
          <p:cNvSpPr/>
          <p:nvPr/>
        </p:nvSpPr>
        <p:spPr>
          <a:xfrm>
            <a:off x="6446520" y="3520440"/>
            <a:ext cx="530352" cy="530352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37" name="Text 26"/>
          <p:cNvSpPr txBox="1"/>
          <p:nvPr/>
        </p:nvSpPr>
        <p:spPr>
          <a:xfrm>
            <a:off x="6446520" y="35204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38" name="Text 27"/>
          <p:cNvSpPr txBox="1"/>
          <p:nvPr/>
        </p:nvSpPr>
        <p:spPr>
          <a:xfrm>
            <a:off x="7223760" y="3410712"/>
            <a:ext cx="4190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tx1"/>
                </a:solidFill>
              </a:rPr>
              <a:t>按说明只用普通规则</a:t>
            </a:r>
            <a:endParaRPr lang="en-US" sz="2200" dirty="0"/>
          </a:p>
        </p:txBody>
      </p:sp>
      <p:sp>
        <p:nvSpPr>
          <p:cNvPr id="39" name="Text 28"/>
          <p:cNvSpPr txBox="1"/>
          <p:nvPr/>
        </p:nvSpPr>
        <p:spPr>
          <a:xfrm>
            <a:off x="7223760" y="3840480"/>
            <a:ext cx="4190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说出它按什么固定规则工作</a:t>
            </a:r>
            <a:endParaRPr lang="en-US" sz="1600" dirty="0"/>
          </a:p>
        </p:txBody>
      </p:sp>
      <p:sp>
        <p:nvSpPr>
          <p:cNvPr id="40" name="Shape 29"/>
          <p:cNvSpPr/>
          <p:nvPr/>
        </p:nvSpPr>
        <p:spPr>
          <a:xfrm>
            <a:off x="6172200" y="4434840"/>
            <a:ext cx="5470855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/>
        </p:spPr>
      </p:sp>
      <p:sp>
        <p:nvSpPr>
          <p:cNvPr id="41" name="Shape 30"/>
          <p:cNvSpPr/>
          <p:nvPr/>
        </p:nvSpPr>
        <p:spPr>
          <a:xfrm>
            <a:off x="6446520" y="4709160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2" name="Text 31"/>
          <p:cNvSpPr txBox="1"/>
          <p:nvPr/>
        </p:nvSpPr>
        <p:spPr>
          <a:xfrm>
            <a:off x="6446520" y="47091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223760" y="4599432"/>
            <a:ext cx="4190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tx1"/>
                </a:solidFill>
              </a:rPr>
              <a:t>信息还不够</a:t>
            </a:r>
            <a:endParaRPr lang="en-US" sz="2200" dirty="0"/>
          </a:p>
        </p:txBody>
      </p:sp>
      <p:sp>
        <p:nvSpPr>
          <p:cNvPr id="44" name="Text 33"/>
          <p:cNvSpPr txBox="1"/>
          <p:nvPr/>
        </p:nvSpPr>
        <p:spPr>
          <a:xfrm>
            <a:off x="7223760" y="5029200"/>
            <a:ext cx="4190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说出你还缺哪条信息</a:t>
            </a:r>
            <a:endParaRPr lang="en-US" sz="1600" dirty="0"/>
          </a:p>
        </p:txBody>
      </p:sp>
      <p:sp>
        <p:nvSpPr>
          <p:cNvPr id="45" name="Text 34"/>
          <p:cNvSpPr txBox="1"/>
          <p:nvPr/>
        </p:nvSpPr>
        <p:spPr>
          <a:xfrm>
            <a:off x="10362895" y="5760720"/>
            <a:ext cx="1280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 分钟</a:t>
            </a:r>
            <a:endParaRPr lang="en-US" sz="1800" dirty="0"/>
          </a:p>
        </p:txBody>
      </p:sp>
      <p:sp>
        <p:nvSpPr>
          <p:cNvPr id="46" name="Text 35"/>
          <p:cNvSpPr txBox="1"/>
          <p:nvPr/>
        </p:nvSpPr>
        <p:spPr>
          <a:xfrm>
            <a:off x="548640" y="5760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tx1"/>
                </a:solidFill>
              </a:rPr>
              <a:t>每人至少讲一张卡：你是根据卡片上哪句话判断的？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名字叫“智能”，就一定用了 AI 吗？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辨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辨认 · 谁用了 AI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pic>
        <p:nvPicPr>
          <p:cNvPr id="7" name="Image 0" descr="智能运动手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2423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4023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智能运动手表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4572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卡片上只说它能记录运动、给出建议，没说是怎么做到的。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486400" y="2103120"/>
            <a:ext cx="6156655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806440" y="2331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可能的做法一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806440" y="2697480"/>
            <a:ext cx="3779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步数达到设定的数，就显示一句事先写好的建议。</a:t>
            </a:r>
            <a:endParaRPr lang="en-US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9951415" y="2331720"/>
            <a:ext cx="137160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普通规则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0" y="3931920"/>
            <a:ext cx="6156655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80644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可能的做法二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06440" y="4526280"/>
            <a:ext cx="3779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AI 从你过去的运动记录里找规律，再给出建议。</a:t>
            </a:r>
            <a:endParaRPr lang="en-US" sz="2100" dirty="0"/>
          </a:p>
        </p:txBody>
      </p:sp>
      <p:sp>
        <p:nvSpPr>
          <p:cNvPr id="17" name="Text 13"/>
          <p:cNvSpPr txBox="1"/>
          <p:nvPr/>
        </p:nvSpPr>
        <p:spPr>
          <a:xfrm>
            <a:off x="9951415" y="4160520"/>
            <a:ext cx="137160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572000" y="3817620"/>
            <a:ext cx="45720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0" y="2903220"/>
            <a:ext cx="0" cy="182880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029200" y="2903220"/>
            <a:ext cx="45720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029200" y="4732020"/>
            <a:ext cx="45720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两种做法都能给建议。卡片没写是哪一种，就放进“信息还不够”。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游戏是 AI 写的，玩的时候 AI 还在吗？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辨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辨认 · 谁用了 AI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19202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3042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bg1"/>
                </a:solidFill>
              </a:rPr>
              <a:t>写游戏时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81635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A9B8CC"/>
                </a:solidFill>
              </a:rPr>
              <a:t>把游戏做出来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43200" y="2103120"/>
            <a:ext cx="25603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971800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给它什么（输入）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26334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你写下的要求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376672" y="2720340"/>
            <a:ext cx="310896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760720" y="2103120"/>
            <a:ext cx="2560320" cy="123444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89320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怎样处理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6334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AI 写出游戏程序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8394192" y="2720340"/>
            <a:ext cx="310896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8778240" y="2103120"/>
            <a:ext cx="25603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006840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得到什么（输出）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961120" y="263347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一个游戏程序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3657600"/>
            <a:ext cx="19202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bg1"/>
                </a:solidFill>
              </a:rPr>
              <a:t>玩游戏时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3708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A9B8CC"/>
                </a:solidFill>
              </a:rPr>
              <a:t>游戏在运行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743200" y="3657600"/>
            <a:ext cx="25603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71800" y="3840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给它什么（输入）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926080" y="41879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你按下的方向键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5376672" y="4274820"/>
            <a:ext cx="310896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760720" y="3657600"/>
            <a:ext cx="25603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989320" y="3840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怎样处理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0" y="41879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程序按写好的规则算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8394192" y="4274820"/>
            <a:ext cx="310896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778240" y="3657600"/>
            <a:ext cx="25603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06840" y="3840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6"/>
                </a:solidFill>
              </a:rPr>
              <a:t>得到什么（输出）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961120" y="418795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新的画面和分数</a:t>
            </a:r>
            <a:endParaRPr lang="en-US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257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写游戏时用了 AI；玩的时候，是写好的程序在运行。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也有游戏在玩的时候还会用到 AI，要看它的说明。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那么，人工智能到底是什么？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辨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辨认 · 谁用了 AI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74520"/>
            <a:ext cx="110944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chemeClr val="bg1"/>
                </a:solidFill>
              </a:rPr>
              <a:t>人工智能，是让计算机根据收到的信息，</a:t>
            </a:r>
            <a:endParaRPr lang="en-US" sz="3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chemeClr val="bg1"/>
                </a:solidFill>
              </a:rPr>
              <a:t>自己推断该怎样</a:t>
            </a:r>
            <a:pPr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chemeClr val="accent1"/>
                </a:solidFill>
              </a:rPr>
              <a:t>识别、推荐、对话或生成</a:t>
            </a:r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chemeClr val="bg1"/>
                </a:solidFill>
              </a:rPr>
              <a:t>。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393192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4114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accent1"/>
                </a:solidFill>
              </a:rPr>
              <a:t>识别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6451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bg1"/>
                </a:solidFill>
              </a:rPr>
              <a:t>文具分类器认出笔和橡皮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378098" y="393192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60978" y="4114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accent1"/>
                </a:solidFill>
              </a:rPr>
              <a:t>推荐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3560978" y="46451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bg1"/>
                </a:solidFill>
              </a:rPr>
              <a:t>视频推荐、音乐推荐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207557" y="393192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90437" y="4114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accent1"/>
                </a:solidFill>
              </a:rPr>
              <a:t>对话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390437" y="46451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bg1"/>
                </a:solidFill>
              </a:rPr>
              <a:t>社团答疑、展品讲解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9037015" y="393192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219895" y="4114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accent1"/>
                </a:solidFill>
              </a:rPr>
              <a:t>生成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9219895" y="464515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bg1"/>
                </a:solidFill>
              </a:rPr>
              <a:t>古诗短片、游戏程序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A9B8CC"/>
                </a:solidFill>
              </a:rPr>
              <a:t>普通规则：每种情况都由人提前写好。AI：很多本领是从大量例子里学来的。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0" y="25146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弄懂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1371600"/>
            <a:ext cx="4114800" cy="4114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chemeClr val="tx1"/>
                </a:solidFill>
              </a:rPr>
              <a:t>懂</a:t>
            </a:r>
            <a:endParaRPr lang="en-US" sz="190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20116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rgbClr val="A9B8CC"/>
                </a:solidFill>
              </a:rPr>
              <a:t>第 2 站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37947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chemeClr val="accent2"/>
                </a:solidFill>
              </a:rPr>
              <a:t>AI 是怎样学会本领的？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50749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A9B8CC"/>
                </a:solidFill>
              </a:rPr>
              <a:t>从认出一个手写的 3 说起。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怎样让电脑认出所有的 3？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懂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弄懂 · AI 怎样学会本领</a:t>
            </a:r>
            <a:endParaRPr lang="en-US" sz="1500" dirty="0"/>
          </a:p>
        </p:txBody>
      </p:sp>
      <p:pic>
        <p:nvPicPr>
          <p:cNvPr id="6" name="Image 0" descr="三个写法不同的手写数字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6583680" cy="195795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0416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这三个都是 3，可每个人写得都不一样。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406640" y="2011680"/>
            <a:ext cx="4236415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726680" y="2194560"/>
            <a:ext cx="3596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办法一：写规则</a:t>
            </a:r>
            <a:endParaRPr lang="en-US" sz="2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什么样子才算 3？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3063240"/>
            <a:ext cx="3596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dirty="0">
                <a:solidFill>
                  <a:schemeClr val="accent6"/>
                </a:solidFill>
              </a:rPr>
              <a:t>上下两个弯？那写歪了、连笔了、开口大了呢？规则怎么也写不完。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chemeClr val="accent6"/>
                </a:solidFill>
              </a:rPr>
              <a:t>办法二：让电脑看例子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846320"/>
            <a:ext cx="320040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给它看很多写好答案的 3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3822192" y="5234940"/>
            <a:ext cx="600304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95648" y="4846320"/>
            <a:ext cx="320040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/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电脑自己从例子里找规律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7769200" y="5234940"/>
            <a:ext cx="600304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8442655" y="4846320"/>
            <a:ext cx="320040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  <p:txBody>
          <a:bodyPr wrap="square" lIns="76200" tIns="127000" rIns="1270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拿规律去认新图片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电脑从例子里找到的这套规律，就叫“模型”。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学习：看很多带答案的图片，自己找规律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懂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弄懂 · AI 怎样学会本领</a:t>
            </a:r>
            <a:endParaRPr lang="en-US" sz="1500" dirty="0"/>
          </a:p>
        </p:txBody>
      </p:sp>
      <p:pic>
        <p:nvPicPr>
          <p:cNvPr id="6" name="Image 0" descr="手写数字3的样例图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383280"/>
            <a:ext cx="914400" cy="347472"/>
          </a:xfrm>
          <a:prstGeom prst="roundRect">
            <a:avLst>
              <a:gd name="adj" fmla="val 31579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答案：3</a:t>
            </a:r>
            <a:endParaRPr lang="en-US" sz="1400" dirty="0"/>
          </a:p>
        </p:txBody>
      </p:sp>
      <p:pic>
        <p:nvPicPr>
          <p:cNvPr id="8" name="Image 1" descr="手写数字7的样例图片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194560"/>
            <a:ext cx="1097280" cy="10972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920240" y="3383280"/>
            <a:ext cx="914400" cy="347472"/>
          </a:xfrm>
          <a:prstGeom prst="roundRect">
            <a:avLst>
              <a:gd name="adj" fmla="val 31579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答案：7</a:t>
            </a:r>
            <a:endParaRPr lang="en-US" sz="1400" dirty="0"/>
          </a:p>
        </p:txBody>
      </p:sp>
      <p:pic>
        <p:nvPicPr>
          <p:cNvPr id="10" name="Image 2" descr="手写数字1的样例图片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2194560"/>
            <a:ext cx="1097280" cy="10972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200400" y="3383280"/>
            <a:ext cx="914400" cy="347472"/>
          </a:xfrm>
          <a:prstGeom prst="roundRect">
            <a:avLst>
              <a:gd name="adj" fmla="val 31579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答案：1</a:t>
            </a:r>
            <a:endParaRPr lang="en-US" sz="1400" dirty="0"/>
          </a:p>
        </p:txBody>
      </p:sp>
      <p:pic>
        <p:nvPicPr>
          <p:cNvPr id="12" name="Image 3" descr="手写数字9的样例图片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194560"/>
            <a:ext cx="1097280" cy="109728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480560" y="3383280"/>
            <a:ext cx="914400" cy="347472"/>
          </a:xfrm>
          <a:prstGeom prst="roundRect">
            <a:avLst>
              <a:gd name="adj" fmla="val 31579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答案：9</a:t>
            </a:r>
            <a:endParaRPr lang="en-US" sz="1400" dirty="0"/>
          </a:p>
        </p:txBody>
      </p:sp>
      <p:sp>
        <p:nvSpPr>
          <p:cNvPr id="14" name="Shape 7"/>
          <p:cNvSpPr/>
          <p:nvPr/>
        </p:nvSpPr>
        <p:spPr>
          <a:xfrm>
            <a:off x="5623560" y="2743200"/>
            <a:ext cx="50292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5" name="Shape 8"/>
          <p:cNvSpPr/>
          <p:nvPr/>
        </p:nvSpPr>
        <p:spPr>
          <a:xfrm>
            <a:off x="6217920" y="2194560"/>
            <a:ext cx="2560320" cy="109728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pic>
        <p:nvPicPr>
          <p:cNvPr id="16" name="Image 4" descr="反复调整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2542032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995160" y="219456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猜一猜，</a:t>
            </a:r>
            <a:endParaRPr lang="en-US" sz="2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对答案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8869680" y="2743200"/>
            <a:ext cx="50292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9" name="Shape 11"/>
          <p:cNvSpPr/>
          <p:nvPr/>
        </p:nvSpPr>
        <p:spPr>
          <a:xfrm>
            <a:off x="9464040" y="2194560"/>
            <a:ext cx="21790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pic>
        <p:nvPicPr>
          <p:cNvPr id="20" name="Image 5" descr="保存的模型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5208" y="2542032"/>
            <a:ext cx="411480" cy="41148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213848" y="219456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数字识别</a:t>
            </a:r>
            <a:endParaRPr lang="en-US" sz="2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模型</a:t>
            </a:r>
            <a:endParaRPr lang="en-US" sz="2000" dirty="0"/>
          </a:p>
        </p:txBody>
      </p:sp>
      <p:sp>
        <p:nvSpPr>
          <p:cNvPr id="22" name="Text 13"/>
          <p:cNvSpPr txBox="1"/>
          <p:nvPr/>
        </p:nvSpPr>
        <p:spPr>
          <a:xfrm>
            <a:off x="548640" y="38404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带答案的例子图片</a:t>
            </a:r>
            <a:endParaRPr lang="en-US" sz="1600" dirty="0"/>
          </a:p>
        </p:txBody>
      </p:sp>
      <p:sp>
        <p:nvSpPr>
          <p:cNvPr id="23" name="Text 14"/>
          <p:cNvSpPr txBox="1"/>
          <p:nvPr/>
        </p:nvSpPr>
        <p:spPr>
          <a:xfrm>
            <a:off x="5989320" y="3429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猜错就调整，反复很多次</a:t>
            </a:r>
            <a:endParaRPr lang="en-US" sz="1600" dirty="0"/>
          </a:p>
        </p:txBody>
      </p:sp>
      <p:sp>
        <p:nvSpPr>
          <p:cNvPr id="24" name="Text 15"/>
          <p:cNvSpPr txBox="1"/>
          <p:nvPr/>
        </p:nvSpPr>
        <p:spPr>
          <a:xfrm>
            <a:off x="9464040" y="3429000"/>
            <a:ext cx="2179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保存下来，之后使用</a:t>
            </a:r>
            <a:endParaRPr lang="en-US" sz="1600" dirty="0"/>
          </a:p>
        </p:txBody>
      </p:sp>
      <p:sp>
        <p:nvSpPr>
          <p:cNvPr id="25" name="Shape 16"/>
          <p:cNvSpPr/>
          <p:nvPr/>
        </p:nvSpPr>
        <p:spPr>
          <a:xfrm>
            <a:off x="548640" y="4526280"/>
            <a:ext cx="11094415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pic>
        <p:nvPicPr>
          <p:cNvPr id="26" name="Image 6" descr="提示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937760"/>
            <a:ext cx="594360" cy="59436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828800" y="4709160"/>
            <a:ext cx="94484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tx1"/>
                </a:solidFill>
              </a:rPr>
              <a:t>例子里没见过的写法，它之后可能认不出来。</a:t>
            </a:r>
            <a:endParaRPr lang="en-US" sz="2600" dirty="0"/>
          </a:p>
        </p:txBody>
      </p:sp>
      <p:sp>
        <p:nvSpPr>
          <p:cNvPr id="28" name="Text 18"/>
          <p:cNvSpPr txBox="1"/>
          <p:nvPr/>
        </p:nvSpPr>
        <p:spPr>
          <a:xfrm>
            <a:off x="1828800" y="5303520"/>
            <a:ext cx="94484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给它看什么样的例子，决定了它以后认得好不好。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使用：给模型一张新图片，它说出是几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懂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弄懂 · AI 怎样学会本领</a:t>
            </a:r>
            <a:endParaRPr lang="en-US" sz="1500" dirty="0"/>
          </a:p>
        </p:txBody>
      </p:sp>
      <p:pic>
        <p:nvPicPr>
          <p:cNvPr id="3" name="神经网络预测动画（视频）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783080"/>
            <a:ext cx="7477760" cy="42062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392160" y="1783080"/>
            <a:ext cx="3250895" cy="1188720"/>
          </a:xfrm>
          <a:prstGeom prst="roundRect">
            <a:avLst>
              <a:gd name="adj" fmla="val 9231"/>
            </a:avLst>
          </a:prstGeom>
          <a:solidFill>
            <a:schemeClr val="accent6">
              <a:alpha val="22000"/>
            </a:schemeClr>
          </a:solidFill>
          <a:ln/>
        </p:spPr>
      </p:sp>
      <p:pic>
        <p:nvPicPr>
          <p:cNvPr id="8" name="Image 0" descr="手写数字7的样例图片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5040" y="1920240"/>
            <a:ext cx="914400" cy="9144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72320" y="1783080"/>
            <a:ext cx="17878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一张它没见过的手写数字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10017608" y="3008376"/>
            <a:ext cx="0" cy="246888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Shape 6"/>
          <p:cNvSpPr/>
          <p:nvPr/>
        </p:nvSpPr>
        <p:spPr>
          <a:xfrm>
            <a:off x="8392160" y="3291840"/>
            <a:ext cx="3250895" cy="1188720"/>
          </a:xfrm>
          <a:prstGeom prst="roundRect">
            <a:avLst>
              <a:gd name="adj" fmla="val 9231"/>
            </a:avLst>
          </a:prstGeom>
          <a:solidFill>
            <a:schemeClr val="accent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8666480" y="3291840"/>
            <a:ext cx="27022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模型</a:t>
            </a:r>
            <a:endParaRPr lang="en-US" sz="2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按学到的规律算一算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10017608" y="4517136"/>
            <a:ext cx="0" cy="246888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Shape 9"/>
          <p:cNvSpPr/>
          <p:nvPr/>
        </p:nvSpPr>
        <p:spPr>
          <a:xfrm>
            <a:off x="8392160" y="4800600"/>
            <a:ext cx="3250895" cy="1188720"/>
          </a:xfrm>
          <a:prstGeom prst="roundRect">
            <a:avLst>
              <a:gd name="adj" fmla="val 9231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8666480" y="4800600"/>
            <a:ext cx="27022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给 0～9 每个数字打分，分最高的就是它的答案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8CC"/>
                </a:solidFill>
              </a:rPr>
              <a:t>动画来源：3Blue1Brown 神经网络科普 · 这段只演示“使用”，模型这时不再学习 · 点击画面播放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聊天 AI 的回答，是一个字一个字写出来的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懂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弄懂 · AI 怎样学会本领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聊天 AI 背后是“语言模型”。它读过海量文字，学会了一句话接下来最可能写什么。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39319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pic>
        <p:nvPicPr>
          <p:cNvPr id="8" name="Image 0" descr="资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411480" cy="411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331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chemeClr val="accent6"/>
                </a:solidFill>
              </a:rPr>
              <a:t>你给它的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9260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社团资料：星河天文社每周五 16:30 在科学楼 302 活动。</a:t>
            </a:r>
            <a:endParaRPr lang="en-US" sz="1800" dirty="0"/>
          </a:p>
          <a:p>
            <a:pPr indent="0" marL="0">
              <a:lnSpc>
                <a:spcPct val="108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要求：向新同学介绍活动。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4544568" y="3246120"/>
            <a:ext cx="45720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5120640" y="2423160"/>
            <a:ext cx="1645920" cy="1645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Image 1" descr="语言模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6974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1206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语言模型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858000" y="3246120"/>
            <a:ext cx="411480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360920" y="2103120"/>
            <a:ext cx="4282135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7589520" y="2331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b="1" dirty="0">
                <a:solidFill>
                  <a:srgbClr val="A9B8CC"/>
                </a:solidFill>
              </a:rPr>
              <a:t>它一个字一个字往下写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7589520" y="2926080"/>
            <a:ext cx="3779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chemeClr val="bg1"/>
                </a:solidFill>
              </a:rPr>
              <a:t>每周五 16:30，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chemeClr val="bg1"/>
                </a:solidFill>
              </a:rPr>
              <a:t>在科学楼 302 活动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……</a:t>
            </a:r>
            <a:endParaRPr lang="en-US" sz="2400" dirty="0"/>
          </a:p>
        </p:txBody>
      </p:sp>
      <p:sp>
        <p:nvSpPr>
          <p:cNvPr id="19" name="Shape 14"/>
          <p:cNvSpPr/>
          <p:nvPr/>
        </p:nvSpPr>
        <p:spPr>
          <a:xfrm>
            <a:off x="548640" y="4663440"/>
            <a:ext cx="5410048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22960" y="466344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它写的每个字，都靠以前学到的语言规律来选。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233008" y="4663440"/>
            <a:ext cx="5410048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6507328" y="466344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你给的资料只用在这一次，它没有重新学习。</a:t>
            </a:r>
            <a:endParaRPr lang="en-US" sz="19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它是在“写”，不是在“查”。写得通顺，不代表每句都有根据。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一个完整作品里，AI 模型只负责其中一步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懂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弄懂 · AI 怎样学会本领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拿我们要做的两件作品来看：哪一步是 AI，哪一步是普通程序和设备？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tx1"/>
                </a:solidFill>
              </a:rPr>
              <a:t>物品识别提示器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834640" y="224028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pic>
        <p:nvPicPr>
          <p:cNvPr id="9" name="Image 0" descr="摄像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441448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063240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摄像头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3063240" y="3355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拍下物品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791456" y="3017520"/>
            <a:ext cx="246888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5074920" y="224028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accent2"/>
          </a:solidFill>
          <a:ln/>
        </p:spPr>
      </p:sp>
      <p:pic>
        <p:nvPicPr>
          <p:cNvPr id="14" name="Image 1" descr="识别模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441448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03520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识别模型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5303520" y="3355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认出是什么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7031736" y="3017520"/>
            <a:ext cx="246888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7315200" y="224028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pic>
        <p:nvPicPr>
          <p:cNvPr id="19" name="Image 2" descr="程序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441448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543800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程序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7543800" y="3355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把结果换成图案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9272016" y="3017520"/>
            <a:ext cx="246888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555480" y="224028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pic>
        <p:nvPicPr>
          <p:cNvPr id="24" name="Image 3" descr="micro:b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2441448"/>
            <a:ext cx="411480" cy="411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784080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micro:bit</a:t>
            </a:r>
            <a:endParaRPr lang="en-US" sz="2000" dirty="0"/>
          </a:p>
        </p:txBody>
      </p:sp>
      <p:sp>
        <p:nvSpPr>
          <p:cNvPr id="26" name="Text 19"/>
          <p:cNvSpPr txBox="1"/>
          <p:nvPr/>
        </p:nvSpPr>
        <p:spPr>
          <a:xfrm>
            <a:off x="9784080" y="3355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灯板亮出图案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02336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tx1"/>
                </a:solidFill>
              </a:rPr>
              <a:t>展览讲解助手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2834640" y="402336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pic>
        <p:nvPicPr>
          <p:cNvPr id="29" name="Image 4" descr="展品资料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4224528"/>
            <a:ext cx="411480" cy="4114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063240" y="4754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展品资料</a:t>
            </a:r>
            <a:endParaRPr lang="en-US" sz="2000" dirty="0"/>
          </a:p>
        </p:txBody>
      </p:sp>
      <p:sp>
        <p:nvSpPr>
          <p:cNvPr id="31" name="Text 23"/>
          <p:cNvSpPr txBox="1"/>
          <p:nvPr/>
        </p:nvSpPr>
        <p:spPr>
          <a:xfrm>
            <a:off x="3063240" y="5138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整理好的文字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4791456" y="4800600"/>
            <a:ext cx="246888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3" name="Shape 25"/>
          <p:cNvSpPr/>
          <p:nvPr/>
        </p:nvSpPr>
        <p:spPr>
          <a:xfrm>
            <a:off x="5074920" y="402336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pic>
        <p:nvPicPr>
          <p:cNvPr id="34" name="Image 5" descr="查找程序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0" y="4224528"/>
            <a:ext cx="411480" cy="41148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303520" y="4754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查找程序</a:t>
            </a:r>
            <a:endParaRPr lang="en-US" sz="2000" dirty="0"/>
          </a:p>
        </p:txBody>
      </p:sp>
      <p:sp>
        <p:nvSpPr>
          <p:cNvPr id="36" name="Text 27"/>
          <p:cNvSpPr txBox="1"/>
          <p:nvPr/>
        </p:nvSpPr>
        <p:spPr>
          <a:xfrm>
            <a:off x="5303520" y="5138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找出相关段落</a:t>
            </a:r>
            <a:endParaRPr lang="en-US" sz="1600" dirty="0"/>
          </a:p>
        </p:txBody>
      </p:sp>
      <p:sp>
        <p:nvSpPr>
          <p:cNvPr id="37" name="Shape 28"/>
          <p:cNvSpPr/>
          <p:nvPr/>
        </p:nvSpPr>
        <p:spPr>
          <a:xfrm>
            <a:off x="7031736" y="4800600"/>
            <a:ext cx="246888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7315200" y="402336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accent2"/>
          </a:solidFill>
          <a:ln/>
        </p:spPr>
      </p:sp>
      <p:pic>
        <p:nvPicPr>
          <p:cNvPr id="39" name="Image 6" descr="语言模型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0" y="4224528"/>
            <a:ext cx="411480" cy="41148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7543800" y="4754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语言模型</a:t>
            </a:r>
            <a:endParaRPr lang="en-US" sz="2000" dirty="0"/>
          </a:p>
        </p:txBody>
      </p:sp>
      <p:sp>
        <p:nvSpPr>
          <p:cNvPr id="41" name="Text 31"/>
          <p:cNvSpPr txBox="1"/>
          <p:nvPr/>
        </p:nvSpPr>
        <p:spPr>
          <a:xfrm>
            <a:off x="7543800" y="5138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写出回答</a:t>
            </a:r>
            <a:endParaRPr lang="en-US" sz="1600" dirty="0"/>
          </a:p>
        </p:txBody>
      </p:sp>
      <p:sp>
        <p:nvSpPr>
          <p:cNvPr id="42" name="Shape 32"/>
          <p:cNvSpPr/>
          <p:nvPr/>
        </p:nvSpPr>
        <p:spPr>
          <a:xfrm>
            <a:off x="9272016" y="4800600"/>
            <a:ext cx="246888" cy="0"/>
          </a:xfrm>
          <a:prstGeom prst="line">
            <a:avLst/>
          </a:prstGeom>
          <a:noFill/>
          <a:ln w="317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3" name="Shape 33"/>
          <p:cNvSpPr/>
          <p:nvPr/>
        </p:nvSpPr>
        <p:spPr>
          <a:xfrm>
            <a:off x="9555480" y="4023360"/>
            <a:ext cx="19202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pic>
        <p:nvPicPr>
          <p:cNvPr id="44" name="Image 7" descr="回答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84080" y="4224528"/>
            <a:ext cx="411480" cy="41148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784080" y="4754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回答</a:t>
            </a:r>
            <a:endParaRPr lang="en-US" sz="2000" dirty="0"/>
          </a:p>
        </p:txBody>
      </p:sp>
      <p:sp>
        <p:nvSpPr>
          <p:cNvPr id="46" name="Text 35"/>
          <p:cNvSpPr txBox="1"/>
          <p:nvPr/>
        </p:nvSpPr>
        <p:spPr>
          <a:xfrm>
            <a:off x="9784080" y="5138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显示给参观者</a:t>
            </a:r>
            <a:endParaRPr lang="en-US" sz="1600" dirty="0"/>
          </a:p>
        </p:txBody>
      </p:sp>
      <p:sp>
        <p:nvSpPr>
          <p:cNvPr id="47" name="Text 36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AI 模型负责“认”和“写”；拍照、查找、显示，交给程序和设备。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0" y="25146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测试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1371600"/>
            <a:ext cx="4114800" cy="41148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chemeClr val="tx1"/>
                </a:solidFill>
              </a:rPr>
              <a:t>测</a:t>
            </a:r>
            <a:endParaRPr lang="en-US" sz="190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20116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rgbClr val="A9B8CC"/>
                </a:solidFill>
              </a:rPr>
              <a:t>第 3 站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37947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chemeClr val="accent3"/>
                </a:solidFill>
              </a:rPr>
              <a:t>亲手试一试：AI 会出错吗？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50749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A9B8CC"/>
                </a:solidFill>
              </a:rPr>
              <a:t>任务一：考一考数字识别</a:t>
            </a:r>
            <a:endParaRPr lang="en-US" sz="2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A9B8CC"/>
                </a:solidFill>
              </a:rPr>
              <a:t>任务二：让 AI 写一个贪吃蛇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考一考 AI：换个写法，它还认得出吗？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测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测试 · 亲手试一试</a:t>
            </a:r>
            <a:endParaRPr lang="en-US" sz="1500" dirty="0"/>
          </a:p>
        </p:txBody>
      </p:sp>
      <p:pic>
        <p:nvPicPr>
          <p:cNvPr id="3" name="手写数字识别真实操作（视频）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783080"/>
            <a:ext cx="6729984" cy="42062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644384" y="1783080"/>
            <a:ext cx="3998671" cy="1234440"/>
          </a:xfrm>
          <a:prstGeom prst="roundRect">
            <a:avLst>
              <a:gd name="adj" fmla="val 8889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72984" y="205740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95944" y="1965960"/>
            <a:ext cx="2764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bg1"/>
                </a:solidFill>
              </a:rPr>
              <a:t>先猜一猜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695944" y="2377440"/>
            <a:ext cx="276423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A9B8CC"/>
                </a:solidFill>
              </a:rPr>
              <a:t>我写的这个，它会认成几？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644384" y="3268980"/>
            <a:ext cx="3998671" cy="1234440"/>
          </a:xfrm>
          <a:prstGeom prst="roundRect">
            <a:avLst>
              <a:gd name="adj" fmla="val 8889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72984" y="354330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8695944" y="3451860"/>
            <a:ext cx="2764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bg1"/>
                </a:solidFill>
              </a:rPr>
              <a:t>只改一处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695944" y="3863340"/>
            <a:ext cx="276423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A9B8CC"/>
                </a:solidFill>
              </a:rPr>
              <a:t>写斜、加一笔，或擦掉一段。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644384" y="4754880"/>
            <a:ext cx="3998671" cy="1234440"/>
          </a:xfrm>
          <a:prstGeom prst="roundRect">
            <a:avLst>
              <a:gd name="adj" fmla="val 8889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72984" y="502920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8695944" y="4937760"/>
            <a:ext cx="27642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bg1"/>
                </a:solidFill>
              </a:rPr>
              <a:t>看结果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8695944" y="5349240"/>
            <a:ext cx="276423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A9B8CC"/>
                </a:solidFill>
              </a:rPr>
              <a:t>认对、认错，都记下来。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8CC"/>
                </a:solidFill>
              </a:rPr>
              <a:t>录像：课堂上的“手写数字识别”页面，不用联网 · 现场操作时直接打开这个页面 · 点击画面播放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每次测试都记下来，它认错的那次最有用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测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测试 · 亲手试一试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03120"/>
                <a:gridCol w="2103120"/>
                <a:gridCol w="2956255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改变的条件</a:t>
                      </a:r>
                      <a:endParaRPr lang="en-US" sz="20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原先预测</a:t>
                      </a:r>
                      <a:endParaRPr lang="en-US" sz="20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实际结果</a:t>
                      </a:r>
                      <a:endParaRPr lang="en-US" sz="20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</a:rPr>
                        <a:t>发现或疑问</a:t>
                      </a:r>
                      <a:endParaRPr lang="en-US" sz="20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8A97A8"/>
                          </a:solidFill>
                        </a:rPr>
                        <a:t>示例：擦去 8 的一段笔画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8A97A8"/>
                          </a:solidFill>
                        </a:rPr>
                        <a:t>还是 8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8A97A8"/>
                          </a:solidFill>
                        </a:rPr>
                        <a:t>认成了 6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8A97A8"/>
                          </a:solidFill>
                        </a:rPr>
                        <a:t>缺了一段，就像 6 了？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5B6B80"/>
                          </a:solidFill>
                        </a:rPr>
                        <a:t>第一次：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5B6B80"/>
                          </a:solidFill>
                        </a:rPr>
                        <a:t>第二次：</a:t>
                      </a: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846320"/>
            <a:ext cx="541004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868680" y="5029200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tx1"/>
                </a:solidFill>
              </a:rPr>
              <a:t>写清楚改了什么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5532120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一次只改一处，才知道结果为什么变。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33008" y="4846320"/>
            <a:ext cx="5410048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553048" y="5029200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tx1"/>
                </a:solidFill>
              </a:rPr>
              <a:t>猜没猜中，都要写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53048" y="5532120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没变、变了、认错了，都是有用的发现。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看到的是事实，想到的原因还要再试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测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测试 · 亲手试一试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拿上一页的示例来分析：擦去 8 的一段，被认成了 6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11094415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2446020"/>
            <a:ext cx="2194560" cy="5486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我看到的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2194560"/>
            <a:ext cx="79854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我擦去 8 右上角的一段笔画，它认成了 6。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548640" y="3383280"/>
            <a:ext cx="11094415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3634740"/>
            <a:ext cx="219456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我猜的原因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383280" y="3383280"/>
            <a:ext cx="79854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缺了这一段，图片可能真的更像 6；也可能它学过的 8 都是完整的。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48640" y="4572000"/>
            <a:ext cx="11094415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4823460"/>
            <a:ext cx="219456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下一次怎么试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4572000"/>
            <a:ext cx="79854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chemeClr val="tx1"/>
                </a:solidFill>
              </a:rPr>
              <a:t>先只擦一小段，再一点点擦多，看它从哪一步开始变成 6。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一次结果只是线索。再改一处试一试，才知道原因猜得对不对。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第二个任务：让 AI 写一个贪吃蛇游戏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测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测试 · 亲手试一试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先一起说清楚游戏规则，老师再把这些要求发给 AI（DeepSeek）。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4937760" cy="3246120"/>
          </a:xfrm>
          <a:prstGeom prst="roundRect">
            <a:avLst>
              <a:gd name="adj" fmla="val 4507"/>
            </a:avLst>
          </a:prstGeom>
          <a:solidFill>
            <a:schemeClr val="tx2"/>
          </a:solidFill>
          <a:ln/>
        </p:spPr>
      </p:sp>
      <p:sp>
        <p:nvSpPr>
          <p:cNvPr id="8" name="Shape 5"/>
          <p:cNvSpPr/>
          <p:nvPr/>
        </p:nvSpPr>
        <p:spPr>
          <a:xfrm>
            <a:off x="1572768" y="4498848"/>
            <a:ext cx="329184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9" name="Shape 6"/>
          <p:cNvSpPr/>
          <p:nvPr/>
        </p:nvSpPr>
        <p:spPr>
          <a:xfrm>
            <a:off x="1938528" y="4498848"/>
            <a:ext cx="329184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0" name="Shape 7"/>
          <p:cNvSpPr/>
          <p:nvPr/>
        </p:nvSpPr>
        <p:spPr>
          <a:xfrm>
            <a:off x="2304288" y="4498848"/>
            <a:ext cx="329184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1" name="Shape 8"/>
          <p:cNvSpPr/>
          <p:nvPr/>
        </p:nvSpPr>
        <p:spPr>
          <a:xfrm>
            <a:off x="2670048" y="4498848"/>
            <a:ext cx="329184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2" name="Shape 9"/>
          <p:cNvSpPr/>
          <p:nvPr/>
        </p:nvSpPr>
        <p:spPr>
          <a:xfrm>
            <a:off x="2670048" y="4133088"/>
            <a:ext cx="329184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3767328"/>
            <a:ext cx="329184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4" name="Shape 11"/>
          <p:cNvSpPr/>
          <p:nvPr/>
        </p:nvSpPr>
        <p:spPr>
          <a:xfrm>
            <a:off x="3035808" y="3767328"/>
            <a:ext cx="329184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568" y="3767328"/>
            <a:ext cx="329184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6" name="Shape 13"/>
          <p:cNvSpPr/>
          <p:nvPr/>
        </p:nvSpPr>
        <p:spPr>
          <a:xfrm>
            <a:off x="3749040" y="3749040"/>
            <a:ext cx="365760" cy="36576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/>
        </p:spPr>
      </p:sp>
      <p:sp>
        <p:nvSpPr>
          <p:cNvPr id="17" name="Shape 14"/>
          <p:cNvSpPr/>
          <p:nvPr/>
        </p:nvSpPr>
        <p:spPr>
          <a:xfrm>
            <a:off x="4901184" y="3072384"/>
            <a:ext cx="256032" cy="25603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023360" y="23774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分数  3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806440" y="2286000"/>
            <a:ext cx="5836615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080760" y="22860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accent6"/>
                </a:solidFill>
              </a:rPr>
              <a:t>玩法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7178040" y="2286000"/>
            <a:ext cx="4282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方向键控制蛇，不能直接掉头</a:t>
            </a:r>
            <a:endParaRPr lang="en-US" sz="1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吃到食物变长，加 1 分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806440" y="3108960"/>
            <a:ext cx="5836615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080760" y="310896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accent6"/>
                </a:solidFill>
              </a:rPr>
              <a:t>结束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7178040" y="3108960"/>
            <a:ext cx="4282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撞到墙或撞到自己，这一局结束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806440" y="3931920"/>
            <a:ext cx="5836615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080760" y="39319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accent6"/>
                </a:solidFill>
              </a:rPr>
              <a:t>界面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7178040" y="3931920"/>
            <a:ext cx="4282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显示得分和最高得分</a:t>
            </a:r>
            <a:endParaRPr lang="en-US" sz="1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有开始、暂停、继续、重新开始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5806440" y="4754880"/>
            <a:ext cx="5836615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080760" y="47548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accent6"/>
                </a:solidFill>
              </a:rPr>
              <a:t>速度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7178040" y="4754880"/>
            <a:ext cx="4282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每秒走 5 格</a:t>
            </a:r>
            <a:endParaRPr lang="en-US" sz="1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做好后玩一玩，看是不是这样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5715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b="1" u="sng" dirty="0">
                <a:solidFill>
                  <a:schemeClr val="accent3"/>
                </a:solidFill>
                <a:hlinkClick r:id="rId1" invalidUrl="" action="" tgtFrame="" tooltip="课堂演示入口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打开课堂演示入口 ↗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改了一处，别的功能还在吗？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测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测试 · 亲手试一试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玩了一下，蛇跑得太快了。我们这样告诉 AI：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6035040" cy="315468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2331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第二次要求（原文节选）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65176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“请把速度从每秒 5 格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降低为每秒 2.5 格……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保持原有玩法、界面、计分、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bg1"/>
                </a:solidFill>
              </a:rPr>
              <a:t>身体变长、暂停和重新开始功能。”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14400" y="4206240"/>
            <a:ext cx="530352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43434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A9B8CC"/>
                </a:solidFill>
              </a:rPr>
              <a:t>好要求说清两件事：改成什么样，哪些功能要保留。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949440" y="2103120"/>
            <a:ext cx="4693615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15200" y="2286000"/>
            <a:ext cx="3962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chemeClr val="tx1"/>
                </a:solidFill>
              </a:rPr>
              <a:t>改完后玩一遍，逐项检查</a:t>
            </a:r>
            <a:endParaRPr lang="en-US" sz="2200" dirty="0"/>
          </a:p>
        </p:txBody>
      </p:sp>
      <p:pic>
        <p:nvPicPr>
          <p:cNvPr id="14" name="Image 0" descr="检查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2971800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863840" y="2926080"/>
            <a:ext cx="35048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蛇真的变慢了吗？</a:t>
            </a:r>
            <a:endParaRPr lang="en-US" sz="2000" dirty="0"/>
          </a:p>
        </p:txBody>
      </p:sp>
      <p:pic>
        <p:nvPicPr>
          <p:cNvPr id="16" name="Image 1" descr="检查项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2044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863840" y="3474720"/>
            <a:ext cx="35048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吃到食物，还会加分吗？</a:t>
            </a:r>
            <a:endParaRPr lang="en-US" sz="2000" dirty="0"/>
          </a:p>
        </p:txBody>
      </p:sp>
      <p:pic>
        <p:nvPicPr>
          <p:cNvPr id="18" name="Image 2" descr="检查项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069080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863840" y="4023360"/>
            <a:ext cx="35048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还能暂停、继续吗？</a:t>
            </a:r>
            <a:endParaRPr lang="en-US" sz="2000" dirty="0"/>
          </a:p>
        </p:txBody>
      </p:sp>
      <p:pic>
        <p:nvPicPr>
          <p:cNvPr id="20" name="Image 3" descr="检查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617720"/>
            <a:ext cx="347472" cy="34747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863840" y="4572000"/>
            <a:ext cx="35048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还能重新开始吗？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AI 改了你要的地方，也可能顺手弄坏别的地方。改完一定要再玩一遍。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原版和慢速版，对比着玩一遍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测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测试 · 亲手试一试</a:t>
            </a:r>
            <a:endParaRPr lang="en-US" sz="1500" dirty="0"/>
          </a:p>
        </p:txBody>
      </p:sp>
      <p:pic>
        <p:nvPicPr>
          <p:cNvPr id="3" name="贪吃蛇两版运行比较（视频）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783080"/>
            <a:ext cx="6729984" cy="4206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44384" y="1764792"/>
            <a:ext cx="3998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边玩边检查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7644384" y="2148840"/>
            <a:ext cx="3998671" cy="1097280"/>
          </a:xfrm>
          <a:prstGeom prst="roundRect">
            <a:avLst>
              <a:gd name="adj" fmla="val 10000"/>
            </a:avLst>
          </a:prstGeom>
          <a:solidFill>
            <a:schemeClr val="accent6">
              <a:alpha val="22000"/>
            </a:schemeClr>
          </a:solidFill>
          <a:ln/>
        </p:spPr>
      </p:sp>
      <p:pic>
        <p:nvPicPr>
          <p:cNvPr id="9" name="Image 0" descr="检查项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984" y="2496312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467344" y="2148840"/>
            <a:ext cx="299283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蛇真的变慢了吗？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7644384" y="3520440"/>
            <a:ext cx="3998671" cy="1097280"/>
          </a:xfrm>
          <a:prstGeom prst="roundRect">
            <a:avLst>
              <a:gd name="adj" fmla="val 10000"/>
            </a:avLst>
          </a:prstGeom>
          <a:solidFill>
            <a:schemeClr val="accent6">
              <a:alpha val="22000"/>
            </a:schemeClr>
          </a:solidFill>
          <a:ln/>
        </p:spPr>
      </p:sp>
      <p:pic>
        <p:nvPicPr>
          <p:cNvPr id="12" name="Image 1" descr="检查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3867912"/>
            <a:ext cx="411480" cy="411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467344" y="3520440"/>
            <a:ext cx="299283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吃到食物，还会加分吗？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7644384" y="4892040"/>
            <a:ext cx="3998671" cy="1097280"/>
          </a:xfrm>
          <a:prstGeom prst="roundRect">
            <a:avLst>
              <a:gd name="adj" fmla="val 10000"/>
            </a:avLst>
          </a:prstGeom>
          <a:solidFill>
            <a:schemeClr val="accent6">
              <a:alpha val="22000"/>
            </a:schemeClr>
          </a:solidFill>
          <a:ln/>
        </p:spPr>
      </p:sp>
      <p:pic>
        <p:nvPicPr>
          <p:cNvPr id="15" name="Image 2" descr="检查项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2984" y="5239512"/>
            <a:ext cx="411480" cy="4114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467344" y="4892040"/>
            <a:ext cx="299283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暂停、继续、重新开始，都还在吗？</a:t>
            </a:r>
            <a:endParaRPr lang="en-US" sz="20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9B8CC"/>
                </a:solidFill>
              </a:rPr>
              <a:t>录屏：先放原版（每秒 5 格），再放慢速版（每秒 2.5 格）· 点击画面播放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AI 能写程序，但这三件事要靠你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测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测试 · 亲手试一试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回想刚才做贪吃蛇：哪些事是 AI 替不了我们的？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352044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/>
        </p:spPr>
      </p:sp>
      <p:sp>
        <p:nvSpPr>
          <p:cNvPr id="8" name="Shape 5"/>
          <p:cNvSpPr/>
          <p:nvPr/>
        </p:nvSpPr>
        <p:spPr>
          <a:xfrm>
            <a:off x="868680" y="26517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0" descr="想清楚做什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852928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68680" y="37033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tx1"/>
                </a:solidFill>
              </a:rPr>
              <a:t>想清楚做什么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251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做给谁用？要有哪些功能？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4335628" y="2331720"/>
            <a:ext cx="352044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/>
        </p:spPr>
      </p:sp>
      <p:sp>
        <p:nvSpPr>
          <p:cNvPr id="13" name="Shape 9"/>
          <p:cNvSpPr/>
          <p:nvPr/>
        </p:nvSpPr>
        <p:spPr>
          <a:xfrm>
            <a:off x="4655668" y="265176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mage 1" descr="把要求说具体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836" y="2852928"/>
            <a:ext cx="420624" cy="4206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55668" y="37033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tx1"/>
                </a:solidFill>
              </a:rPr>
              <a:t>把要求说具体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4655668" y="4251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要说“每秒 5 格”，不要只说“别太快”。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8122615" y="2331720"/>
            <a:ext cx="352044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/>
        </p:spPr>
      </p:sp>
      <p:sp>
        <p:nvSpPr>
          <p:cNvPr id="18" name="Shape 13"/>
          <p:cNvSpPr/>
          <p:nvPr/>
        </p:nvSpPr>
        <p:spPr>
          <a:xfrm>
            <a:off x="8442655" y="265176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Image 2" descr="亲手检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3823" y="2852928"/>
            <a:ext cx="420624" cy="42062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442655" y="37033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tx1"/>
                </a:solidFill>
              </a:rPr>
              <a:t>亲手检查</a:t>
            </a:r>
            <a:endParaRPr lang="en-US" sz="2600" dirty="0"/>
          </a:p>
        </p:txBody>
      </p:sp>
      <p:sp>
        <p:nvSpPr>
          <p:cNvPr id="21" name="Text 15"/>
          <p:cNvSpPr txBox="1"/>
          <p:nvPr/>
        </p:nvSpPr>
        <p:spPr>
          <a:xfrm>
            <a:off x="8442655" y="425196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chemeClr val="accent6"/>
                </a:solidFill>
              </a:rPr>
              <a:t>自己玩一遍，看合不合要求，再决定改哪里。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AI 能帮很多忙；最后判断“能不能用”的，是你。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943600" y="25146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核对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1371600"/>
            <a:ext cx="4114800" cy="41148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chemeClr val="tx1"/>
                </a:solidFill>
              </a:rPr>
              <a:t>核</a:t>
            </a:r>
            <a:endParaRPr lang="en-US" sz="190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20116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rgbClr val="A9B8CC"/>
                </a:solidFill>
              </a:rPr>
              <a:t>第 4 站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37947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chemeClr val="accent4"/>
                </a:solidFill>
              </a:rPr>
              <a:t>AI 说得头头是道，就一定对吗？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50749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rgbClr val="A9B8CC"/>
                </a:solidFill>
              </a:rPr>
              <a:t>一句一句检查一段 AI 的回答。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这段回答，每句话都有依据吗？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核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核对 · AI 说的都对吗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有同学问 AI：“星河天文社什么时候活动？要交钱吗？”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12064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/>
        </p:spPr>
      </p:sp>
      <p:pic>
        <p:nvPicPr>
          <p:cNvPr id="8" name="Image 0" descr="资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31720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331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chemeClr val="accent6"/>
                </a:solidFill>
              </a:rPr>
              <a:t>社团公布的资料（课堂示例）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292608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每周五 16:30，科学楼 302。</a:t>
            </a:r>
            <a:endParaRPr lang="en-US" sz="2200" dirty="0"/>
          </a:p>
          <a:p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活动：星空观察、模型制作。</a:t>
            </a:r>
            <a:endParaRPr lang="en-US" sz="2200" dirty="0"/>
          </a:p>
          <a:p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报名：联系社团老师。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46177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资料里只有这三条。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72200" y="2103120"/>
            <a:ext cx="5470855" cy="30632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pic>
        <p:nvPicPr>
          <p:cNvPr id="13" name="Image 1" descr="A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3172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040880" y="2331720"/>
            <a:ext cx="4373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A9B8CC"/>
                </a:solidFill>
              </a:rPr>
              <a:t>AI 的回答（课堂示例）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537960" y="3017520"/>
            <a:ext cx="4739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chemeClr val="accent1"/>
                </a:solidFill>
              </a:rPr>
              <a:t>“每周五 16:30 活动，</a:t>
            </a:r>
            <a:endParaRPr lang="en-US" sz="2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chemeClr val="accent1"/>
                </a:solidFill>
              </a:rPr>
              <a:t>每学期收取 50 元材料费。”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6537960" y="4617720"/>
            <a:ext cx="4739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A9B8CC"/>
                </a:solidFill>
              </a:rPr>
              <a:t>读起来很通顺，也很像真的。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一句一句对照左边的资料：时间找得到吗？费用找得到吗？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时间有出处，费用找不到出处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核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核对 · AI 说的都对吗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541004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246888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8" name="Image 0" descr="有依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65176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2468880"/>
            <a:ext cx="3764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tx1"/>
                </a:solidFill>
              </a:rPr>
              <a:t>每周五 16:30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3520440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资料里写着这个时间。这句话有依据。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233008" y="2103120"/>
            <a:ext cx="5410048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12" name="Shape 8"/>
          <p:cNvSpPr/>
          <p:nvPr/>
        </p:nvSpPr>
        <p:spPr>
          <a:xfrm>
            <a:off x="6598768" y="24688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需要核实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648" y="265176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650328" y="2468880"/>
            <a:ext cx="37641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tx1"/>
                </a:solidFill>
              </a:rPr>
              <a:t>每学期 50 元材料费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6598768" y="3520440"/>
            <a:ext cx="4678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资料里一个字都没提收费。这句话现在还不能信。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548640" y="4617720"/>
            <a:ext cx="11094415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pic>
        <p:nvPicPr>
          <p:cNvPr id="17" name="Image 2" descr="下一步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93776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08760" y="475488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下一步：</a:t>
            </a:r>
            <a:pPr indent="0" marL="0">
              <a:lnSpc>
                <a:spcPct val="1080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查社团的正式通知，或直接问社团老师。</a:t>
            </a:r>
            <a:endParaRPr lang="en-US" sz="2100" dirty="0"/>
          </a:p>
        </p:txBody>
      </p:sp>
      <p:sp>
        <p:nvSpPr>
          <p:cNvPr id="19" name="Text 13"/>
          <p:cNvSpPr txBox="1"/>
          <p:nvPr/>
        </p:nvSpPr>
        <p:spPr>
          <a:xfrm>
            <a:off x="1508760" y="5193792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资料没写，不等于这句话一定是错的。只能说：现在还没有依据。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再问一遍 AI，它还说 50 元，这算依据吗？不算。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今天的三个任务里，AI 都可能出错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核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核对 · AI 说的都对吗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3520440" cy="3383280"/>
          </a:xfrm>
          <a:prstGeom prst="roundRect">
            <a:avLst>
              <a:gd name="adj" fmla="val 3243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2331720"/>
            <a:ext cx="1554480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手写数字</a:t>
            </a:r>
            <a:endParaRPr lang="en-US" sz="1600" dirty="0"/>
          </a:p>
        </p:txBody>
      </p:sp>
      <p:pic>
        <p:nvPicPr>
          <p:cNvPr id="8" name="Image 0" descr="手写数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" y="29718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bg1"/>
                </a:solidFill>
              </a:rPr>
              <a:t>没见过的写法，可能被认成别的数字。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43891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怎样发现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7091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换个写法，自己测一测。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335628" y="2011680"/>
            <a:ext cx="3520440" cy="3383280"/>
          </a:xfrm>
          <a:prstGeom prst="roundRect">
            <a:avLst>
              <a:gd name="adj" fmla="val 3243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655668" y="2331720"/>
            <a:ext cx="155448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贪吃蛇</a:t>
            </a:r>
            <a:endParaRPr lang="en-US" sz="1600" dirty="0"/>
          </a:p>
        </p:txBody>
      </p:sp>
      <p:pic>
        <p:nvPicPr>
          <p:cNvPr id="14" name="Image 1" descr="贪吃蛇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828" y="230428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55668" y="29718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bg1"/>
                </a:solidFill>
              </a:rPr>
              <a:t>改了一处，可能弄坏另一处。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4655668" y="43891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怎样发现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655668" y="47091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改完再玩一遍，逐项检查。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8122615" y="2011680"/>
            <a:ext cx="3520440" cy="3383280"/>
          </a:xfrm>
          <a:prstGeom prst="roundRect">
            <a:avLst>
              <a:gd name="adj" fmla="val 3243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442655" y="2331720"/>
            <a:ext cx="1554480" cy="40233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社团问答</a:t>
            </a:r>
            <a:endParaRPr lang="en-US" sz="1600" dirty="0"/>
          </a:p>
        </p:txBody>
      </p:sp>
      <p:pic>
        <p:nvPicPr>
          <p:cNvPr id="20" name="Image 2" descr="社团问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2304288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442655" y="29718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bg1"/>
                </a:solidFill>
              </a:rPr>
              <a:t>说得很通顺，却可能编出资料里没有的事。</a:t>
            </a:r>
            <a:endParaRPr lang="en-US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8442655" y="43891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怎样发现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42655" y="47091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一句一句对照资料。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accent1"/>
                </a:solidFill>
              </a:rPr>
              <a:t>AI 很厉害，但不是每次都对。用它之前先检查，这就是 AI 侦探。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用 AI 时，记住三条规矩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65760"/>
            <a:ext cx="420624" cy="42062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核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核对 · AI 说的都对吗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7" name="Shape 4"/>
          <p:cNvSpPr/>
          <p:nvPr/>
        </p:nvSpPr>
        <p:spPr>
          <a:xfrm>
            <a:off x="868680" y="242316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0" descr="把资料交给 AI 前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642616"/>
            <a:ext cx="429768" cy="4297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46120" y="23317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chemeClr val="accent6"/>
                </a:solidFill>
              </a:rPr>
              <a:t>1</a:t>
            </a:r>
            <a:endParaRPr lang="en-US" sz="48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3566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把资料交给 AI 前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chemeClr val="accent6"/>
                </a:solidFill>
              </a:rPr>
              <a:t>先删掉姓名、电话、住址、密码这些私人信息。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335628" y="2103120"/>
            <a:ext cx="352044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13" name="Shape 9"/>
          <p:cNvSpPr/>
          <p:nvPr/>
        </p:nvSpPr>
        <p:spPr>
          <a:xfrm>
            <a:off x="4655668" y="242316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Image 1" descr="相信 AI 的回答前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124" y="2642616"/>
            <a:ext cx="429768" cy="42976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033108" y="23317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chemeClr val="accent6"/>
                </a:solidFill>
              </a:rPr>
              <a:t>2</a:t>
            </a:r>
            <a:endParaRPr lang="en-US" sz="4800" dirty="0"/>
          </a:p>
        </p:txBody>
      </p:sp>
      <p:sp>
        <p:nvSpPr>
          <p:cNvPr id="16" name="Text 11"/>
          <p:cNvSpPr txBox="1"/>
          <p:nvPr/>
        </p:nvSpPr>
        <p:spPr>
          <a:xfrm>
            <a:off x="4655668" y="3566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相信 AI 的回答前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4655668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chemeClr val="accent6"/>
                </a:solidFill>
              </a:rPr>
              <a:t>日期、费用这些关键信息，要找到出处。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8122615" y="2103120"/>
            <a:ext cx="352044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8442655" y="24231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mage 2" descr="把作品交给别人前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2111" y="2642616"/>
            <a:ext cx="429768" cy="42976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820095" y="23317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4800" b="1" dirty="0">
                <a:solidFill>
                  <a:schemeClr val="accent6"/>
                </a:solidFill>
              </a:rPr>
              <a:t>3</a:t>
            </a:r>
            <a:endParaRPr lang="en-US" sz="4800" dirty="0"/>
          </a:p>
        </p:txBody>
      </p:sp>
      <p:sp>
        <p:nvSpPr>
          <p:cNvPr id="22" name="Text 16"/>
          <p:cNvSpPr txBox="1"/>
          <p:nvPr/>
        </p:nvSpPr>
        <p:spPr>
          <a:xfrm>
            <a:off x="8442655" y="35661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把作品交给别人前</a:t>
            </a:r>
            <a:endParaRPr lang="en-US" sz="2400" dirty="0"/>
          </a:p>
        </p:txBody>
      </p:sp>
      <p:sp>
        <p:nvSpPr>
          <p:cNvPr id="23" name="Text 17"/>
          <p:cNvSpPr txBox="1"/>
          <p:nvPr/>
        </p:nvSpPr>
        <p:spPr>
          <a:xfrm>
            <a:off x="8442655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chemeClr val="accent6"/>
                </a:solidFill>
              </a:rPr>
              <a:t>自己先试一遍，再请同学来试用。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接下来十次课，做每一件作品都用得上这三条。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今天，你学会了 AI 侦探的四招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A9B8CC"/>
                </a:solidFill>
              </a:rPr>
              <a:t>今天的收获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11094415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辨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0116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accent1"/>
                </a:solidFill>
              </a:rPr>
              <a:t>辨认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3474720" y="2011680"/>
            <a:ext cx="7894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chemeClr val="bg1"/>
                </a:solidFill>
              </a:rPr>
              <a:t>不看名字，看它是怎么做的。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548640" y="3063240"/>
            <a:ext cx="11094415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31546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懂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30632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accent2"/>
                </a:solidFill>
              </a:rPr>
              <a:t>弄懂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3063240"/>
            <a:ext cx="7894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chemeClr val="bg1"/>
                </a:solidFill>
              </a:rPr>
              <a:t>AI 先从例子里学规律，再用规律处理新问题。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548640" y="4114800"/>
            <a:ext cx="11094415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42062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测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828800" y="41148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accent3"/>
                </a:solidFill>
              </a:rPr>
              <a:t>测试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114800"/>
            <a:ext cx="7894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chemeClr val="bg1"/>
                </a:solidFill>
              </a:rPr>
              <a:t>先猜，只改一处，再看真实结果。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48640" y="5166360"/>
            <a:ext cx="11094415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22000"/>
            </a:scheme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5257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核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828800" y="516636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chemeClr val="accent4"/>
                </a:solidFill>
              </a:rPr>
              <a:t>核对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474720" y="5166360"/>
            <a:ext cx="7894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dirty="0">
                <a:solidFill>
                  <a:schemeClr val="bg1"/>
                </a:solidFill>
              </a:rPr>
              <a:t>找不到出处的话，先别信。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A9B8C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轮到你了：你想用 AI 做个什么小工具？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今天的收获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先看一个例子。想清楚下面四件事，想法就具体了。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722376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2441448"/>
            <a:ext cx="1920240" cy="49377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给谁用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2971800" y="228600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第一次来参观展览的同学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722376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7240" y="3355848"/>
            <a:ext cx="1920240" cy="49377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做什么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320040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介绍展品，回答他们的问题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14800"/>
            <a:ext cx="722376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77240" y="4270248"/>
            <a:ext cx="1920240" cy="49377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要给 AI 什么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411480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准确的展品资料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722376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5184648"/>
            <a:ext cx="1920240" cy="49377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怎样检查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2971800" y="502920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请同学来提问，一句一句核对回答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092440" y="2286000"/>
            <a:ext cx="3550615" cy="3547872"/>
          </a:xfrm>
          <a:prstGeom prst="roundRect">
            <a:avLst>
              <a:gd name="adj" fmla="val 3093"/>
            </a:avLst>
          </a:prstGeom>
          <a:solidFill>
            <a:schemeClr val="tx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412480" y="2514600"/>
            <a:ext cx="2910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</a:rPr>
              <a:t>还可以做这些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412480" y="3108960"/>
            <a:ext cx="2910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社团物品整理提示器</a:t>
            </a:r>
            <a:endParaRPr lang="en-US" sz="2000" dirty="0"/>
          </a:p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校园植物识别卡</a:t>
            </a:r>
            <a:endParaRPr lang="en-US" sz="2000" dirty="0"/>
          </a:p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兴趣知识问答助手</a:t>
            </a:r>
            <a:endParaRPr lang="en-US" sz="2000" dirty="0"/>
          </a:p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错题分类小帮手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4846320"/>
            <a:ext cx="2910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A9B8CC"/>
                </a:solidFill>
              </a:rPr>
              <a:t>题目随你定，但要说清楚：给谁用，做什么。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最后，写下你今天的收获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今天的收获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991295" y="1005840"/>
            <a:ext cx="26517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自己写 · 4 分钟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11094415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2048256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920240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300" b="1" dirty="0">
                <a:solidFill>
                  <a:schemeClr val="tx1"/>
                </a:solidFill>
              </a:rPr>
              <a:t>你还想尝试哪项 AI 能力？为什么？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7498080" y="1920240"/>
            <a:ext cx="38706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可以选今天视频里的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2852928"/>
            <a:ext cx="11094415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2980944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852928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300" b="1" dirty="0">
                <a:solidFill>
                  <a:schemeClr val="tx1"/>
                </a:solidFill>
              </a:rPr>
              <a:t>选一个例子，说明输入、处理和输出。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852928"/>
            <a:ext cx="38706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给它什么、它怎么做、得到什么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3785616"/>
            <a:ext cx="11094415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3913632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645920" y="3785616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300" b="1" dirty="0">
                <a:solidFill>
                  <a:schemeClr val="tx1"/>
                </a:solidFill>
              </a:rPr>
              <a:t>怎样核实示例回答中的“50 元材料费”？</a:t>
            </a:r>
            <a:endParaRPr lang="en-US" sz="23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3785616"/>
            <a:ext cx="38706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去哪里找出处？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4718304"/>
            <a:ext cx="11094415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484632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718304"/>
            <a:ext cx="5760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300" b="1" dirty="0">
                <a:solidFill>
                  <a:schemeClr val="tx1"/>
                </a:solidFill>
              </a:rPr>
              <a:t>你想给谁做什么工具？准备怎样检查？</a:t>
            </a:r>
            <a:endParaRPr lang="en-US" sz="23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4718304"/>
            <a:ext cx="387065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可以接着刚才的例子想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答案没有标准写法，写你自己的想法和理由。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下一课：教 AI 认出你带来的物品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课后准备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6420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dirty="0">
                <a:solidFill>
                  <a:schemeClr val="accent6"/>
                </a:solidFill>
              </a:rPr>
              <a:t>就像今天的数字识别，只是这一次，例子由你们自己拍。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1920240" cy="24688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8" name="Shape 5"/>
          <p:cNvSpPr/>
          <p:nvPr/>
        </p:nvSpPr>
        <p:spPr>
          <a:xfrm>
            <a:off x="1325880" y="2487168"/>
            <a:ext cx="365760" cy="27432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9" name="Shape 6"/>
          <p:cNvSpPr/>
          <p:nvPr/>
        </p:nvSpPr>
        <p:spPr>
          <a:xfrm>
            <a:off x="1325880" y="2788920"/>
            <a:ext cx="365760" cy="566928"/>
          </a:xfrm>
          <a:prstGeom prst="roundRect">
            <a:avLst>
              <a:gd name="adj" fmla="val 15000"/>
            </a:avLst>
          </a:prstGeom>
          <a:solidFill>
            <a:schemeClr val="accent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3566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胶棒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2651760" y="2194560"/>
            <a:ext cx="1920240" cy="24688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pic>
        <p:nvPicPr>
          <p:cNvPr id="12" name="Image 0" descr="橡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2514600"/>
            <a:ext cx="822960" cy="8229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651760" y="3566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橡皮</a:t>
            </a:r>
            <a:endParaRPr lang="en-US" sz="2800" dirty="0"/>
          </a:p>
        </p:txBody>
      </p:sp>
      <p:sp>
        <p:nvSpPr>
          <p:cNvPr id="14" name="Shape 10"/>
          <p:cNvSpPr/>
          <p:nvPr/>
        </p:nvSpPr>
        <p:spPr>
          <a:xfrm>
            <a:off x="4754880" y="2194560"/>
            <a:ext cx="1920240" cy="246888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pic>
        <p:nvPicPr>
          <p:cNvPr id="15" name="Image 1" descr="空背景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514600"/>
            <a:ext cx="822960" cy="8229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54880" y="3566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空背景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846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空背景：什么都不放，让 AI 也学会“这里没东西”。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223760" y="2194560"/>
            <a:ext cx="4419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请准备两类小物品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7223760" y="2880360"/>
            <a:ext cx="44192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干净、轻便、好拍照。</a:t>
            </a:r>
            <a:endParaRPr lang="en-US" sz="1800" dirty="0"/>
          </a:p>
          <a:p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比如胶棒和橡皮，每类最好有几种款式。</a:t>
            </a:r>
            <a:endParaRPr lang="en-US" sz="1800" dirty="0"/>
          </a:p>
          <a:p>
            <a:pPr indent="0" marL="0">
              <a:lnSpc>
                <a:spcPct val="108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不拍人脸，不带证件或写有私人信息的东西。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914400" y="534924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课后任务：</a:t>
            </a:r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chemeClr val="tx1"/>
                </a:solidFill>
              </a:rPr>
              <a:t>找一个你常用的 AI 功能，记下：你给了它什么？它给了你什么？哪句话需要核实？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演示来源与延伸阅读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67512" y="484632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97280" y="36576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chemeClr val="accent6"/>
                </a:solidFill>
              </a:rPr>
              <a:t>资料来源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u="sng" dirty="0">
                <a:solidFill>
                  <a:schemeClr val="accent3"/>
                </a:solidFill>
                <a:hlinkClick r:id="rId1" invalidUrl="" action="" tgtFrame="" tooltip="https://openai.com/index/gpt-6-for-everyone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GPT-6 交互式工具 ↗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192024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2026.10.07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414016"/>
            <a:ext cx="11094415" cy="0"/>
          </a:xfrm>
          <a:prstGeom prst="line">
            <a:avLst/>
          </a:prstGeom>
          <a:noFill/>
          <a:ln w="9525">
            <a:solidFill>
              <a:schemeClr val="accent6">
                <a:alpha val="30000"/>
              </a:scheme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450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u="sng" dirty="0">
                <a:solidFill>
                  <a:schemeClr val="accent3"/>
                </a:solidFill>
                <a:hlinkClick r:id="rId2" invalidUrl="" action="" tgtFrame="" tooltip="https://openai.com/index/gpt-6-astra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GPT-6 Astra 软件操作 ↗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2450592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2026.09.03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2944368"/>
            <a:ext cx="11094415" cy="0"/>
          </a:xfrm>
          <a:prstGeom prst="line">
            <a:avLst/>
          </a:prstGeom>
          <a:noFill/>
          <a:ln w="9525">
            <a:solidFill>
              <a:schemeClr val="accent6">
                <a:alpha val="3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98094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u="sng" dirty="0">
                <a:solidFill>
                  <a:schemeClr val="accent3"/>
                </a:solidFill>
                <a:hlinkClick r:id="rId3" invalidUrl="" action="" tgtFrame="" tooltip="https://www.kimi.ai/blog/kimi-k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Kimi K3 可交互作品 ↗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2980944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2026.07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3474720"/>
            <a:ext cx="11094415" cy="0"/>
          </a:xfrm>
          <a:prstGeom prst="line">
            <a:avLst/>
          </a:prstGeom>
          <a:noFill/>
          <a:ln w="9525">
            <a:solidFill>
              <a:schemeClr val="accent6">
                <a:alpha val="30000"/>
              </a:scheme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351129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u="sng" dirty="0">
                <a:solidFill>
                  <a:schemeClr val="accent3"/>
                </a:solidFill>
                <a:hlinkClick r:id="rId4" invalidUrl="" action="" tgtFrame="" tooltip="https://seed.bytedance.com/en/seedrealti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SeedRealtime 音视频交流 ↗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3511296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2026.08.05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4005072"/>
            <a:ext cx="11094415" cy="0"/>
          </a:xfrm>
          <a:prstGeom prst="line">
            <a:avLst/>
          </a:prstGeom>
          <a:noFill/>
          <a:ln w="9525">
            <a:solidFill>
              <a:schemeClr val="accent6">
                <a:alpha val="30000"/>
              </a:scheme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04164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u="sng" dirty="0">
                <a:solidFill>
                  <a:schemeClr val="accent3"/>
                </a:solidFill>
                <a:hlinkClick r:id="rId5" invalidUrl="" action="" tgtFrame="" tooltip="https://seed.bytedance.com/en/blog/one-take-creation-flexible-referencing-introducing-seedance-2-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Seedance 2.5 视听生成 ↗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4041648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2026.07.31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4535424"/>
            <a:ext cx="11094415" cy="0"/>
          </a:xfrm>
          <a:prstGeom prst="line">
            <a:avLst/>
          </a:prstGeom>
          <a:noFill/>
          <a:ln w="9525">
            <a:solidFill>
              <a:schemeClr val="accent6">
                <a:alpha val="30000"/>
              </a:scheme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u="sng" dirty="0">
                <a:solidFill>
                  <a:schemeClr val="accent3"/>
                </a:solidFill>
                <a:hlinkClick r:id="rId6" invalidUrl="" action="" tgtFrame="" tooltip="https://qwen.ai/blog?id=qwen3.8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Qwen3.8-Max 视觉与设计 ↗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57200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2026.08.03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48640" y="5065776"/>
            <a:ext cx="11094415" cy="0"/>
          </a:xfrm>
          <a:prstGeom prst="line">
            <a:avLst/>
          </a:prstGeom>
          <a:noFill/>
          <a:ln w="9525">
            <a:solidFill>
              <a:schemeClr val="accent6">
                <a:alpha val="30000"/>
              </a:scheme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102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u="sng" dirty="0">
                <a:solidFill>
                  <a:schemeClr val="accent3"/>
                </a:solidFill>
                <a:hlinkClick r:id="rId7" invalidUrl="" action="" tgtFrame="" tooltip="https://www.3blue1brown.com/lessons/neural-networks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3Blue1Brown 神经网络科普 ↗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5102352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经典原理讲解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548640" y="5596128"/>
            <a:ext cx="11094415" cy="0"/>
          </a:xfrm>
          <a:prstGeom prst="line">
            <a:avLst/>
          </a:prstGeom>
          <a:noFill/>
          <a:ln w="9525">
            <a:solidFill>
              <a:schemeClr val="accent6">
                <a:alpha val="30000"/>
              </a:scheme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563270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000" u="sng" dirty="0">
                <a:solidFill>
                  <a:schemeClr val="accent3"/>
                </a:solidFill>
                <a:hlinkClick r:id="rId8" invalidUrl="" action="" tgtFrame="" tooltip="https://github.com/onnx/models/tree/main/validated/vision/classification/mni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ONNX Model Zoo 数字识别模型 ↗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0" y="5632704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chemeClr val="accent6"/>
                </a:solidFill>
              </a:rPr>
              <a:t>离线分类演示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侦探">
  <a:themeElements>
    <a:clrScheme name="AI侦探">
      <a:dk1>
        <a:srgbClr val="14233A"/>
      </a:dk1>
      <a:lt1>
        <a:srgbClr val="FFFFFF"/>
      </a:lt1>
      <a:dk2>
        <a:srgbClr val="0E1A2B"/>
      </a:dk2>
      <a:lt2>
        <a:srgbClr val="F1F4F8"/>
      </a:lt2>
      <a:accent1>
        <a:srgbClr val="F2A93B"/>
      </a:accent1>
      <a:accent2>
        <a:srgbClr val="2BB3A3"/>
      </a:accent2>
      <a:accent3>
        <a:srgbClr val="4C9BF5"/>
      </a:accent3>
      <a:accent4>
        <a:srgbClr val="F0644F"/>
      </a:accent4>
      <a:accent5>
        <a:srgbClr val="2E9E6B"/>
      </a:accent5>
      <a:accent6>
        <a:srgbClr val="5B6B80"/>
      </a:accent6>
      <a:hlink>
        <a:srgbClr val="F2A93B"/>
      </a:hlink>
      <a:folHlink>
        <a:srgbClr val="B8730A"/>
      </a:folHlink>
    </a:clrScheme>
    <a:fontScheme name="AI侦探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第一课 AI侦探</dc:title>
  <dc:subject>AI创想工坊 第一课授课课件</dc:subject>
  <dc:creator>AI 创想工坊</dc:creator>
  <cp:lastModifiedBy>AI 创想工坊</cp:lastModifiedBy>
  <cp:revision>1</cp:revision>
  <dcterms:created xsi:type="dcterms:W3CDTF">2026-10-18T08:41:20Z</dcterms:created>
  <dcterms:modified xsi:type="dcterms:W3CDTF">2026-10-18T08:41:20Z</dcterms:modified>
</cp:coreProperties>
</file>